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307" r:id="rId3"/>
    <p:sldId id="326" r:id="rId4"/>
    <p:sldId id="315" r:id="rId5"/>
    <p:sldId id="337" r:id="rId6"/>
    <p:sldId id="328" r:id="rId7"/>
    <p:sldId id="335" r:id="rId8"/>
    <p:sldId id="308" r:id="rId9"/>
    <p:sldId id="338" r:id="rId10"/>
    <p:sldId id="340" r:id="rId11"/>
    <p:sldId id="339" r:id="rId12"/>
    <p:sldId id="309" r:id="rId13"/>
    <p:sldId id="319" r:id="rId14"/>
    <p:sldId id="341" r:id="rId15"/>
    <p:sldId id="331" r:id="rId16"/>
    <p:sldId id="317" r:id="rId17"/>
    <p:sldId id="342" r:id="rId18"/>
    <p:sldId id="329" r:id="rId19"/>
    <p:sldId id="343" r:id="rId20"/>
    <p:sldId id="344" r:id="rId21"/>
    <p:sldId id="345" r:id="rId22"/>
    <p:sldId id="327" r:id="rId23"/>
    <p:sldId id="330" r:id="rId24"/>
    <p:sldId id="323" r:id="rId25"/>
    <p:sldId id="346" r:id="rId26"/>
    <p:sldId id="347" r:id="rId27"/>
    <p:sldId id="348" r:id="rId28"/>
    <p:sldId id="349" r:id="rId29"/>
    <p:sldId id="350" r:id="rId30"/>
    <p:sldId id="318" r:id="rId31"/>
    <p:sldId id="320" r:id="rId32"/>
    <p:sldId id="310" r:id="rId33"/>
    <p:sldId id="312" r:id="rId34"/>
    <p:sldId id="293" r:id="rId35"/>
    <p:sldId id="314" r:id="rId36"/>
    <p:sldId id="306" r:id="rId37"/>
    <p:sldId id="336" r:id="rId38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E7B"/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15" autoAdjust="0"/>
    <p:restoredTop sz="79405" autoAdjust="0"/>
  </p:normalViewPr>
  <p:slideViewPr>
    <p:cSldViewPr snapToGrid="0">
      <p:cViewPr>
        <p:scale>
          <a:sx n="120" d="100"/>
          <a:sy n="120" d="100"/>
        </p:scale>
        <p:origin x="2408" y="20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31/08/26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‹n.º›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611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665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0421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153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912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264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798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31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379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92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857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75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757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027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5430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2550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935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=""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=""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-30-2.svg"/><Relationship Id="rId6" Type="http://schemas.openxmlformats.org/officeDocument/2006/relationships/image" Target="../media/image-30-2.svg"/><Relationship Id="rId7" Type="http://schemas.openxmlformats.org/officeDocument/2006/relationships/image" Target="../media/image-30-2.svg"/><Relationship Id="rId8" Type="http://schemas.openxmlformats.org/officeDocument/2006/relationships/image" Target="../media/image26.png"/><Relationship Id="rId9" Type="http://schemas.openxmlformats.org/officeDocument/2006/relationships/image" Target="../media/image-30-8.svg"/><Relationship Id="rId10" Type="http://schemas.openxmlformats.org/officeDocument/2006/relationships/image" Target="../media/image-30-8.sv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TNNLS.2021.3084827" TargetMode="External"/><Relationship Id="rId4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48550/arXiv.1704.04861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dy75thx6_oe_FtgGiD68gvmlCmo0wno_9L9VvTWsi9Z1LKjg/viewform" TargetMode="External"/><Relationship Id="rId4" Type="http://schemas.openxmlformats.org/officeDocument/2006/relationships/hyperlink" Target="https://docs.google.com/forms/d/e/1FAIpQLScoUFAq9P2XRNeDUS47GWcy19Mtv8dtMc98BkeVA_h-oIVwgg/viewform?usp=header" TargetMode="External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TP558 - Tópicos avançados em Machine Learning: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 err="1" smtClean="0"/>
              <a:t>MobileNets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=""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Fábio Augusto Pereira</a:t>
            </a:r>
            <a:endParaRPr lang="pt-BR" sz="2000" dirty="0"/>
          </a:p>
          <a:p>
            <a:r>
              <a:rPr lang="pt-BR" dirty="0" err="1" smtClean="0"/>
              <a:t>fabio.pereira@mtel.inatel.br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=""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8038" y="365125"/>
            <a:ext cx="2335924" cy="1325563"/>
          </a:xfrm>
        </p:spPr>
        <p:txBody>
          <a:bodyPr/>
          <a:lstStyle/>
          <a:p>
            <a:pPr algn="ctr"/>
            <a:r>
              <a:rPr lang="pt-BR" dirty="0"/>
              <a:t>Abertura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56582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/>
              <a:t>apresenta uma arquitetura de redes neurais </a:t>
            </a:r>
            <a:r>
              <a:rPr lang="pt-BR" dirty="0" err="1"/>
              <a:t>convolucionais</a:t>
            </a:r>
            <a:r>
              <a:rPr lang="pt-BR" dirty="0"/>
              <a:t> desenvolvida especificamente para aplicações de visão computacional em dispositivos móveis e sistemas </a:t>
            </a:r>
            <a:r>
              <a:rPr lang="pt-BR" dirty="0" smtClean="0"/>
              <a:t>embarcados</a:t>
            </a:r>
          </a:p>
          <a:p>
            <a:pPr fontAlgn="base"/>
            <a:r>
              <a:rPr lang="pt-BR" dirty="0"/>
              <a:t>propõe uma estratégia para reduzir </a:t>
            </a:r>
            <a:r>
              <a:rPr lang="pt-BR" dirty="0" smtClean="0"/>
              <a:t>número </a:t>
            </a:r>
            <a:r>
              <a:rPr lang="pt-BR" dirty="0"/>
              <a:t>de parâmetros, operações computacionais, memória e latência, mantendo uma precisão competitiva</a:t>
            </a:r>
            <a:r>
              <a:rPr lang="pt-BR" dirty="0" smtClean="0"/>
              <a:t>.</a:t>
            </a:r>
          </a:p>
          <a:p>
            <a:pPr fontAlgn="base"/>
            <a:r>
              <a:rPr lang="pt-BR" dirty="0"/>
              <a:t>trabalho </a:t>
            </a:r>
            <a:r>
              <a:rPr lang="pt-BR" dirty="0" smtClean="0"/>
              <a:t>aponta uma </a:t>
            </a:r>
            <a:r>
              <a:rPr lang="pt-BR" dirty="0"/>
              <a:t>contradição importante na evolução das </a:t>
            </a:r>
            <a:r>
              <a:rPr lang="pt-BR" dirty="0" err="1"/>
              <a:t>CNNs</a:t>
            </a:r>
            <a:endParaRPr lang="pt-BR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862123" y="795611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Arquiteturas profundas </a:t>
            </a:r>
            <a:r>
              <a:rPr lang="pt-BR" dirty="0"/>
              <a:t>apresentavam ganhos significativos de precisão, mas esses ganhos normalmente vinham </a:t>
            </a:r>
            <a:r>
              <a:rPr lang="pt-BR" dirty="0" smtClean="0"/>
              <a:t>acompanhados:</a:t>
            </a:r>
          </a:p>
          <a:p>
            <a:pPr marL="0" indent="0" algn="ctr">
              <a:buNone/>
            </a:pPr>
            <a:endParaRPr lang="pt-BR" dirty="0" smtClean="0"/>
          </a:p>
          <a:p>
            <a:r>
              <a:rPr lang="pt-BR" dirty="0"/>
              <a:t>maior número de parâmetros</a:t>
            </a:r>
            <a:r>
              <a:rPr lang="pt-BR" dirty="0" smtClean="0"/>
              <a:t>;</a:t>
            </a:r>
          </a:p>
          <a:p>
            <a:r>
              <a:rPr lang="pt-BR" dirty="0" smtClean="0"/>
              <a:t>maior </a:t>
            </a:r>
            <a:r>
              <a:rPr lang="pt-BR" dirty="0"/>
              <a:t>quantidade de operações</a:t>
            </a:r>
            <a:r>
              <a:rPr lang="pt-BR" dirty="0" smtClean="0"/>
              <a:t>;</a:t>
            </a:r>
          </a:p>
          <a:p>
            <a:r>
              <a:rPr lang="pt-BR" dirty="0" smtClean="0"/>
              <a:t>maior </a:t>
            </a:r>
            <a:r>
              <a:rPr lang="pt-BR" dirty="0"/>
              <a:t>consumo de memória</a:t>
            </a:r>
            <a:r>
              <a:rPr lang="pt-BR" dirty="0" smtClean="0"/>
              <a:t>;</a:t>
            </a:r>
          </a:p>
          <a:p>
            <a:r>
              <a:rPr lang="pt-BR" dirty="0" smtClean="0"/>
              <a:t>maior </a:t>
            </a:r>
            <a:r>
              <a:rPr lang="pt-BR" dirty="0"/>
              <a:t>latência</a:t>
            </a:r>
            <a:r>
              <a:rPr lang="pt-BR" dirty="0" smtClean="0"/>
              <a:t>;</a:t>
            </a:r>
          </a:p>
          <a:p>
            <a:r>
              <a:rPr lang="pt-BR" dirty="0" smtClean="0"/>
              <a:t>maior </a:t>
            </a:r>
            <a:r>
              <a:rPr lang="pt-BR" dirty="0"/>
              <a:t>necessidade de processamento</a:t>
            </a:r>
          </a:p>
        </p:txBody>
      </p:sp>
    </p:spTree>
    <p:extLst>
      <p:ext uri="{BB962C8B-B14F-4D97-AF65-F5344CB8AC3E}">
        <p14:creationId xmlns:p14="http://schemas.microsoft.com/office/powerpoint/2010/main" val="98556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662" y="1005817"/>
            <a:ext cx="10681138" cy="3295892"/>
          </a:xfrm>
        </p:spPr>
        <p:txBody>
          <a:bodyPr>
            <a:normAutofit fontScale="92500" lnSpcReduction="20000"/>
          </a:bodyPr>
          <a:lstStyle/>
          <a:p>
            <a:pPr marL="0" indent="0" algn="ctr" fontAlgn="base">
              <a:buNone/>
            </a:pPr>
            <a:r>
              <a:rPr lang="pt-BR" dirty="0"/>
              <a:t>Isso representa um problema quando a rede precisa executar diretamente em dispositivos com recursos </a:t>
            </a:r>
            <a:r>
              <a:rPr lang="pt-BR" dirty="0" smtClean="0"/>
              <a:t>limitados</a:t>
            </a:r>
          </a:p>
          <a:p>
            <a:pPr marL="0" indent="0" algn="ctr" fontAlgn="base">
              <a:buNone/>
            </a:pPr>
            <a:endParaRPr lang="pt-BR" b="1" dirty="0"/>
          </a:p>
          <a:p>
            <a:pPr fontAlgn="base"/>
            <a:r>
              <a:rPr lang="pt-BR" dirty="0" smtClean="0"/>
              <a:t>smartphones;</a:t>
            </a:r>
          </a:p>
          <a:p>
            <a:pPr fontAlgn="base"/>
            <a:r>
              <a:rPr lang="pt-BR" dirty="0" smtClean="0"/>
              <a:t>sistemas embarcados;</a:t>
            </a:r>
          </a:p>
          <a:p>
            <a:pPr fontAlgn="base"/>
            <a:r>
              <a:rPr lang="pt-BR" dirty="0" smtClean="0"/>
              <a:t>robôs;</a:t>
            </a:r>
          </a:p>
          <a:p>
            <a:pPr fontAlgn="base"/>
            <a:r>
              <a:rPr lang="pt-BR" dirty="0" smtClean="0"/>
              <a:t>veículos autônomos;</a:t>
            </a:r>
          </a:p>
          <a:p>
            <a:pPr fontAlgn="base"/>
            <a:r>
              <a:rPr lang="pt-BR" dirty="0" smtClean="0"/>
              <a:t>sistemas </a:t>
            </a:r>
            <a:r>
              <a:rPr lang="pt-BR" dirty="0"/>
              <a:t>de realidade aumentada.</a:t>
            </a: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 txBox="1">
            <a:spLocks/>
          </p:cNvSpPr>
          <p:nvPr/>
        </p:nvSpPr>
        <p:spPr>
          <a:xfrm>
            <a:off x="838200" y="4600975"/>
            <a:ext cx="10515600" cy="1137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/>
              <a:t>N</a:t>
            </a:r>
            <a:r>
              <a:rPr lang="pt-BR" smtClean="0"/>
              <a:t>ão </a:t>
            </a:r>
            <a:r>
              <a:rPr lang="pt-BR" dirty="0"/>
              <a:t>basta construir uma rede pequena em termos de armazenamento: é necessário também considerar </a:t>
            </a:r>
            <a:r>
              <a:rPr lang="pt-BR" b="1" dirty="0"/>
              <a:t>velocidade e custo computacional</a:t>
            </a:r>
            <a:r>
              <a:rPr lang="pt-BR" dirty="0"/>
              <a:t>. 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 txBox="1">
            <a:spLocks/>
          </p:cNvSpPr>
          <p:nvPr/>
        </p:nvSpPr>
        <p:spPr>
          <a:xfrm>
            <a:off x="862123" y="5547526"/>
            <a:ext cx="10515600" cy="769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2000" dirty="0"/>
              <a:t>Modelos como VGG16 possuem 138 milhões de parâmetros e 15,3 bilhões de </a:t>
            </a:r>
            <a:r>
              <a:rPr lang="pt-BR" sz="2000" dirty="0" err="1"/>
              <a:t>Mult-Adds</a:t>
            </a:r>
            <a:r>
              <a:rPr lang="pt-BR" sz="2000" dirty="0"/>
              <a:t> </a:t>
            </a:r>
            <a:r>
              <a:rPr lang="pt-BR" sz="2000" dirty="0" smtClean="0"/>
              <a:t>(medida de processamento computacional) — </a:t>
            </a:r>
            <a:r>
              <a:rPr lang="pt-BR" sz="2000" dirty="0"/>
              <a:t>completamente inviáveis para dispositivos móveis.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1" descr="preencoded.png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30940" y="371355"/>
            <a:ext cx="8822053" cy="494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5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072" y="207471"/>
            <a:ext cx="4805855" cy="948668"/>
          </a:xfrm>
        </p:spPr>
        <p:txBody>
          <a:bodyPr/>
          <a:lstStyle/>
          <a:p>
            <a:r>
              <a:rPr lang="pt-BR" dirty="0"/>
              <a:t>Introdução do artigo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6139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proposta dos autores é, portanto, construir uma arquitetura que permita escolher explicitamente o compromisso </a:t>
            </a:r>
            <a:r>
              <a:rPr lang="pt-BR" dirty="0" smtClean="0"/>
              <a:t>entre:</a:t>
            </a:r>
          </a:p>
          <a:p>
            <a:pPr marL="0" indent="0" algn="ctr" fontAlgn="base">
              <a:buNone/>
            </a:pPr>
            <a:r>
              <a:rPr lang="pt-BR" b="1" dirty="0"/>
              <a:t>precisão × tamanho × quantidade de computação × </a:t>
            </a:r>
            <a:r>
              <a:rPr lang="pt-BR" b="1" dirty="0" smtClean="0"/>
              <a:t>latência</a:t>
            </a:r>
          </a:p>
          <a:p>
            <a:pPr fontAlgn="base"/>
            <a:r>
              <a:rPr lang="pt-BR" dirty="0"/>
              <a:t>principal contribuição do artigo é a arquitetura denominada </a:t>
            </a:r>
            <a:r>
              <a:rPr lang="pt-BR" dirty="0" err="1" smtClean="0"/>
              <a:t>MobileNet</a:t>
            </a:r>
            <a:endParaRPr lang="pt-BR" dirty="0" smtClean="0"/>
          </a:p>
          <a:p>
            <a:pPr fontAlgn="base"/>
            <a:r>
              <a:rPr lang="pt-BR" dirty="0"/>
              <a:t>ideia fundamental consiste em substituir as </a:t>
            </a:r>
            <a:r>
              <a:rPr lang="pt-BR" dirty="0" err="1"/>
              <a:t>convoluções</a:t>
            </a:r>
            <a:r>
              <a:rPr lang="pt-BR" dirty="0"/>
              <a:t> convencionais por </a:t>
            </a:r>
            <a:r>
              <a:rPr lang="pt-BR" dirty="0" err="1"/>
              <a:t>depthwise</a:t>
            </a:r>
            <a:r>
              <a:rPr lang="pt-BR" dirty="0"/>
              <a:t> </a:t>
            </a:r>
            <a:r>
              <a:rPr lang="pt-BR" dirty="0" err="1"/>
              <a:t>separable</a:t>
            </a:r>
            <a:r>
              <a:rPr lang="pt-BR" dirty="0"/>
              <a:t> </a:t>
            </a:r>
            <a:r>
              <a:rPr lang="pt-BR" dirty="0" err="1"/>
              <a:t>convolutions</a:t>
            </a:r>
            <a:r>
              <a:rPr lang="pt-BR" dirty="0"/>
              <a:t> — </a:t>
            </a:r>
            <a:r>
              <a:rPr lang="pt-BR" dirty="0" err="1"/>
              <a:t>convoluções</a:t>
            </a:r>
            <a:r>
              <a:rPr lang="pt-BR" dirty="0"/>
              <a:t> separáveis em profundidade</a:t>
            </a:r>
            <a:endParaRPr lang="pt-BR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58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911" y="598277"/>
            <a:ext cx="2257754" cy="894483"/>
          </a:xfrm>
        </p:spPr>
        <p:txBody>
          <a:bodyPr/>
          <a:lstStyle/>
          <a:p>
            <a:r>
              <a:rPr lang="pt-BR" smtClean="0"/>
              <a:t>Conceito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529" y="1977485"/>
            <a:ext cx="10515600" cy="1886992"/>
          </a:xfrm>
        </p:spPr>
        <p:txBody>
          <a:bodyPr>
            <a:normAutofit fontScale="92500" lnSpcReduction="10000"/>
          </a:bodyPr>
          <a:lstStyle/>
          <a:p>
            <a:pPr marL="0" indent="0" algn="ctr" fontAlgn="base">
              <a:buNone/>
            </a:pPr>
            <a:r>
              <a:rPr lang="pt-BR" dirty="0" smtClean="0"/>
              <a:t>Operação </a:t>
            </a:r>
            <a:r>
              <a:rPr lang="pt-BR" dirty="0"/>
              <a:t>convencional </a:t>
            </a:r>
            <a:r>
              <a:rPr lang="pt-BR" dirty="0" smtClean="0"/>
              <a:t>de </a:t>
            </a:r>
            <a:r>
              <a:rPr lang="pt-BR" dirty="0" err="1" smtClean="0"/>
              <a:t>convolução</a:t>
            </a:r>
            <a:r>
              <a:rPr lang="pt-BR" dirty="0" smtClean="0"/>
              <a:t> é </a:t>
            </a:r>
            <a:r>
              <a:rPr lang="pt-BR" dirty="0"/>
              <a:t>dividida em duas etapas</a:t>
            </a:r>
            <a:r>
              <a:rPr lang="pt-BR" dirty="0" smtClean="0"/>
              <a:t>:</a:t>
            </a:r>
          </a:p>
          <a:p>
            <a:pPr marL="0" indent="0" algn="ctr" fontAlgn="base">
              <a:buNone/>
            </a:pPr>
            <a:endParaRPr lang="pt-BR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pt-BR" dirty="0" err="1" smtClean="0"/>
              <a:t>Depthwise</a:t>
            </a:r>
            <a:r>
              <a:rPr lang="pt-BR" dirty="0" smtClean="0"/>
              <a:t> </a:t>
            </a:r>
            <a:r>
              <a:rPr lang="pt-BR" dirty="0" err="1" smtClean="0"/>
              <a:t>convolution</a:t>
            </a:r>
            <a:endParaRPr lang="pt-BR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pt-BR" dirty="0" err="1" smtClean="0"/>
              <a:t>Pointwise</a:t>
            </a:r>
            <a:r>
              <a:rPr lang="pt-BR" dirty="0" smtClean="0"/>
              <a:t> </a:t>
            </a:r>
            <a:r>
              <a:rPr lang="pt-BR" dirty="0" err="1"/>
              <a:t>convolution</a:t>
            </a:r>
            <a:r>
              <a:rPr lang="pt-BR" dirty="0"/>
              <a:t> 1×1.</a:t>
            </a:r>
            <a:endParaRPr lang="pt-BR" b="1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 txBox="1">
            <a:spLocks/>
          </p:cNvSpPr>
          <p:nvPr/>
        </p:nvSpPr>
        <p:spPr>
          <a:xfrm>
            <a:off x="1655377" y="4466065"/>
            <a:ext cx="8326821" cy="7996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None/>
            </a:pPr>
            <a:r>
              <a:rPr lang="pt-BR" dirty="0"/>
              <a:t>Essa </a:t>
            </a:r>
            <a:r>
              <a:rPr lang="pt-BR" dirty="0" smtClean="0"/>
              <a:t>é ideia por traz do artigo, onde a fatoração </a:t>
            </a:r>
            <a:r>
              <a:rPr lang="pt-BR" dirty="0"/>
              <a:t>reduz drasticamente o custo computacional da </a:t>
            </a:r>
            <a:r>
              <a:rPr lang="pt-BR" dirty="0" smtClean="0"/>
              <a:t>CNN</a:t>
            </a:r>
          </a:p>
          <a:p>
            <a:pPr marL="0" indent="0" fontAlgn="base">
              <a:buNone/>
            </a:pPr>
            <a:endParaRPr lang="pt-BR" b="1" dirty="0"/>
          </a:p>
          <a:p>
            <a:pPr marL="0" indent="0" fontAlgn="base">
              <a:buNone/>
            </a:pPr>
            <a:endParaRPr lang="pt-BR" b="1" dirty="0"/>
          </a:p>
        </p:txBody>
      </p:sp>
      <p:pic>
        <p:nvPicPr>
          <p:cNvPr id="7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29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169" y="365125"/>
            <a:ext cx="5625662" cy="1325563"/>
          </a:xfrm>
        </p:spPr>
        <p:txBody>
          <a:bodyPr/>
          <a:lstStyle/>
          <a:p>
            <a:r>
              <a:rPr lang="pt-BR" dirty="0" smtClean="0"/>
              <a:t>Fundamentação </a:t>
            </a:r>
            <a:r>
              <a:rPr lang="pt-BR" dirty="0"/>
              <a:t>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335"/>
            <a:ext cx="10515600" cy="106472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pt-BR" dirty="0"/>
              <a:t>Uma camada </a:t>
            </a:r>
            <a:r>
              <a:rPr lang="pt-BR" dirty="0" err="1"/>
              <a:t>convolucional</a:t>
            </a:r>
            <a:r>
              <a:rPr lang="pt-BR" dirty="0"/>
              <a:t> padrão recebe um mapa de características de entrada </a:t>
            </a:r>
            <a:r>
              <a:rPr lang="pt-BR" dirty="0" err="1" smtClean="0"/>
              <a:t>F</a:t>
            </a:r>
            <a:r>
              <a:rPr lang="pt-BR" dirty="0" smtClean="0"/>
              <a:t> </a:t>
            </a:r>
            <a:r>
              <a:rPr lang="pt-BR" dirty="0"/>
              <a:t>com dimensões </a:t>
            </a:r>
            <a:r>
              <a:rPr lang="pt-BR" dirty="0" smtClean="0"/>
              <a:t>D</a:t>
            </a:r>
            <a:r>
              <a:rPr lang="pt-BR" baseline="-25000" dirty="0" smtClean="0"/>
              <a:t>F</a:t>
            </a:r>
            <a:r>
              <a:rPr lang="pt-BR" dirty="0" smtClean="0"/>
              <a:t> </a:t>
            </a:r>
            <a:r>
              <a:rPr lang="pt-BR" dirty="0" err="1"/>
              <a:t>x</a:t>
            </a:r>
            <a:r>
              <a:rPr lang="pt-BR" dirty="0" smtClean="0"/>
              <a:t> </a:t>
            </a:r>
            <a:r>
              <a:rPr lang="pt-BR" dirty="0"/>
              <a:t>D</a:t>
            </a:r>
            <a:r>
              <a:rPr lang="pt-BR" baseline="-25000" dirty="0"/>
              <a:t>F </a:t>
            </a:r>
            <a:r>
              <a:rPr lang="pt-BR" dirty="0" err="1" smtClean="0"/>
              <a:t>x</a:t>
            </a:r>
            <a:r>
              <a:rPr lang="pt-BR" dirty="0" smtClean="0"/>
              <a:t> M e </a:t>
            </a:r>
            <a:r>
              <a:rPr lang="pt-BR" dirty="0"/>
              <a:t>produz um mapa de saída </a:t>
            </a:r>
            <a:r>
              <a:rPr lang="pt-BR" dirty="0" err="1" smtClean="0"/>
              <a:t>G</a:t>
            </a:r>
            <a:r>
              <a:rPr lang="pt-BR" dirty="0" smtClean="0"/>
              <a:t> com </a:t>
            </a:r>
            <a:r>
              <a:rPr lang="pt-BR" dirty="0"/>
              <a:t>dimensões D</a:t>
            </a:r>
            <a:r>
              <a:rPr lang="pt-BR" baseline="-25000" dirty="0"/>
              <a:t>F</a:t>
            </a:r>
            <a:r>
              <a:rPr lang="pt-BR" dirty="0"/>
              <a:t> </a:t>
            </a:r>
            <a:r>
              <a:rPr lang="pt-BR" dirty="0" err="1"/>
              <a:t>x</a:t>
            </a:r>
            <a:r>
              <a:rPr lang="pt-BR" dirty="0"/>
              <a:t> D</a:t>
            </a:r>
            <a:r>
              <a:rPr lang="pt-BR" baseline="-25000" dirty="0"/>
              <a:t>F </a:t>
            </a:r>
            <a:r>
              <a:rPr lang="pt-BR" dirty="0" err="1"/>
              <a:t>x</a:t>
            </a:r>
            <a:r>
              <a:rPr lang="pt-BR" dirty="0"/>
              <a:t> </a:t>
            </a:r>
            <a:r>
              <a:rPr lang="pt-BR" dirty="0" smtClean="0"/>
              <a:t>N. </a:t>
            </a:r>
            <a:endParaRPr lang="pt-BR" b="1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2385848" y="6010056"/>
            <a:ext cx="7571389" cy="56506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dirty="0"/>
              <a:t>Filtra e combina canais em uma única operação </a:t>
            </a:r>
            <a:r>
              <a:rPr lang="pt-BR" dirty="0" smtClean="0"/>
              <a:t>acoplada </a:t>
            </a:r>
            <a:endParaRPr lang="pt-BR" b="1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3199086" y="5348943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(1)</a:t>
            </a:r>
            <a:endParaRPr lang="pt-BR" sz="1600" b="1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254562" y="5348943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(2)</a:t>
            </a:r>
            <a:endParaRPr lang="pt-BR" sz="1600" b="1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19475" y="2569476"/>
            <a:ext cx="6558180" cy="157981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pt-BR" dirty="0"/>
              <a:t>o</a:t>
            </a:r>
            <a:r>
              <a:rPr lang="pt-BR" dirty="0" smtClean="0"/>
              <a:t>nde:</a:t>
            </a:r>
          </a:p>
          <a:p>
            <a:pPr fontAlgn="base"/>
            <a:r>
              <a:rPr lang="pt-BR" dirty="0"/>
              <a:t>D</a:t>
            </a:r>
            <a:r>
              <a:rPr lang="pt-BR" baseline="-25000" dirty="0"/>
              <a:t>F </a:t>
            </a:r>
            <a:r>
              <a:rPr lang="pt-BR" dirty="0" smtClean="0"/>
              <a:t>é </a:t>
            </a:r>
            <a:r>
              <a:rPr lang="pt-BR" dirty="0"/>
              <a:t>a largura e altura espacial do mapa de </a:t>
            </a:r>
            <a:r>
              <a:rPr lang="pt-BR" dirty="0" smtClean="0"/>
              <a:t>características. </a:t>
            </a:r>
          </a:p>
          <a:p>
            <a:pPr fontAlgn="base"/>
            <a:r>
              <a:rPr lang="pt-BR" dirty="0" smtClean="0"/>
              <a:t>M </a:t>
            </a:r>
            <a:r>
              <a:rPr lang="pt-BR" dirty="0"/>
              <a:t>é o número de canais de entrada (profundidade de entrada). </a:t>
            </a:r>
            <a:endParaRPr lang="pt-BR" dirty="0" smtClean="0"/>
          </a:p>
          <a:p>
            <a:pPr fontAlgn="base"/>
            <a:r>
              <a:rPr lang="pt-BR" dirty="0" smtClean="0"/>
              <a:t>N </a:t>
            </a:r>
            <a:r>
              <a:rPr lang="pt-BR" dirty="0"/>
              <a:t>é o número de canais de saída (profundidade de saída</a:t>
            </a:r>
            <a:r>
              <a:rPr lang="pt-BR" dirty="0" smtClean="0"/>
              <a:t>).</a:t>
            </a:r>
          </a:p>
          <a:p>
            <a:pPr fontAlgn="base"/>
            <a:r>
              <a:rPr lang="pt-BR" dirty="0" err="1" smtClean="0"/>
              <a:t>D</a:t>
            </a:r>
            <a:r>
              <a:rPr lang="pt-BR" baseline="-25000" dirty="0" err="1"/>
              <a:t>k</a:t>
            </a:r>
            <a:r>
              <a:rPr lang="pt-BR" baseline="-25000" dirty="0" smtClean="0"/>
              <a:t> </a:t>
            </a:r>
            <a:r>
              <a:rPr lang="pt-BR" dirty="0"/>
              <a:t>é a dimensão espacial do </a:t>
            </a:r>
            <a:r>
              <a:rPr lang="pt-BR" dirty="0" err="1"/>
              <a:t>kernel</a:t>
            </a:r>
            <a:endParaRPr lang="pt-BR" b="1" dirty="0"/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17" y="4446797"/>
            <a:ext cx="4942490" cy="940955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854" y="4480209"/>
            <a:ext cx="4074291" cy="87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169" y="365125"/>
            <a:ext cx="5625662" cy="1325563"/>
          </a:xfrm>
        </p:spPr>
        <p:txBody>
          <a:bodyPr/>
          <a:lstStyle/>
          <a:p>
            <a:r>
              <a:rPr lang="pt-BR" dirty="0" smtClean="0"/>
              <a:t>Fundamentação </a:t>
            </a:r>
            <a:r>
              <a:rPr lang="pt-BR" dirty="0"/>
              <a:t>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335"/>
            <a:ext cx="10515600" cy="106472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pt-BR" dirty="0" err="1"/>
              <a:t>Convoluções</a:t>
            </a:r>
            <a:r>
              <a:rPr lang="pt-BR" dirty="0"/>
              <a:t> Separáveis em </a:t>
            </a:r>
            <a:r>
              <a:rPr lang="pt-BR" dirty="0" smtClean="0"/>
              <a:t>Profundidade para </a:t>
            </a:r>
            <a:r>
              <a:rPr lang="pt-BR" dirty="0"/>
              <a:t>quebrar a interação direta entre o tamanho do </a:t>
            </a:r>
            <a:r>
              <a:rPr lang="pt-BR" dirty="0" err="1"/>
              <a:t>kernel</a:t>
            </a:r>
            <a:r>
              <a:rPr lang="pt-BR" dirty="0"/>
              <a:t> e o número de canais de saída, os autores dividem o processo em duas partes matemáticas</a:t>
            </a:r>
            <a:r>
              <a:rPr lang="pt-BR" dirty="0" smtClean="0"/>
              <a:t>: </a:t>
            </a:r>
            <a:endParaRPr lang="pt-BR" b="1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2944867" y="6010056"/>
            <a:ext cx="6302266" cy="447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/>
              <a:t>O custo dessa etapa é significativamente menor</a:t>
            </a:r>
            <a:endParaRPr lang="pt-BR" sz="2400" b="1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3199086" y="5348943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(3)</a:t>
            </a:r>
            <a:endParaRPr lang="pt-BR" sz="1600" b="1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254562" y="5348943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(4)</a:t>
            </a:r>
            <a:endParaRPr lang="pt-BR" sz="1600" b="1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38200" y="2771776"/>
            <a:ext cx="8845496" cy="693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 err="1"/>
              <a:t>Convolução</a:t>
            </a:r>
            <a:r>
              <a:rPr lang="pt-BR" sz="2400" dirty="0"/>
              <a:t> </a:t>
            </a:r>
            <a:r>
              <a:rPr lang="pt-BR" sz="2400" dirty="0" err="1"/>
              <a:t>Depthwise</a:t>
            </a:r>
            <a:r>
              <a:rPr lang="pt-BR" sz="2400" dirty="0"/>
              <a:t> (Filtragem): Aplica um único filtro espacial para cada canal de entrada de forma independente.</a:t>
            </a:r>
            <a:endParaRPr lang="pt-BR" sz="2400" b="1" dirty="0"/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10" y="4447939"/>
            <a:ext cx="4942490" cy="939917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854" y="4480209"/>
            <a:ext cx="4074291" cy="875378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968" y="4518932"/>
            <a:ext cx="4074291" cy="7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5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03" y="360766"/>
            <a:ext cx="8607973" cy="1325563"/>
          </a:xfrm>
        </p:spPr>
        <p:txBody>
          <a:bodyPr>
            <a:normAutofit/>
          </a:bodyPr>
          <a:lstStyle/>
          <a:p>
            <a:r>
              <a:rPr lang="pt-BR" sz="3600" dirty="0" err="1"/>
              <a:t>Convolução</a:t>
            </a:r>
            <a:r>
              <a:rPr lang="pt-BR" sz="3600" dirty="0"/>
              <a:t> </a:t>
            </a:r>
            <a:r>
              <a:rPr lang="pt-BR" sz="3600" dirty="0" err="1"/>
              <a:t>Pointwise</a:t>
            </a:r>
            <a:r>
              <a:rPr lang="pt-BR" sz="3600" dirty="0"/>
              <a:t>: Combinação de Canais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281" y="3108971"/>
            <a:ext cx="11329877" cy="1309349"/>
          </a:xfrm>
        </p:spPr>
        <p:txBody>
          <a:bodyPr>
            <a:normAutofit/>
          </a:bodyPr>
          <a:lstStyle/>
          <a:p>
            <a:pPr fontAlgn="base"/>
            <a:r>
              <a:rPr lang="pt-BR" sz="2400" dirty="0"/>
              <a:t>Aplica um único filtro por canal de entrada — não combina canais entre si</a:t>
            </a:r>
          </a:p>
          <a:p>
            <a:pPr marL="264160" indent="-264160">
              <a:lnSpc>
                <a:spcPct val="133000"/>
              </a:lnSpc>
              <a:buSzPct val="100000"/>
            </a:pPr>
            <a:r>
              <a:rPr lang="en-US" sz="2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Kernel de </a:t>
            </a:r>
            <a:r>
              <a:rPr lang="en-US" sz="24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tamanho</a:t>
            </a:r>
            <a:r>
              <a:rPr lang="en-US" sz="2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24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</a:t>
            </a:r>
            <a:r>
              <a:rPr lang="en-US" sz="2400" baseline="-250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</a:t>
            </a:r>
            <a:r>
              <a:rPr lang="en-US" sz="24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2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× </a:t>
            </a:r>
            <a:r>
              <a:rPr lang="en-US" sz="24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</a:t>
            </a:r>
            <a:r>
              <a:rPr lang="en-US" sz="2400" baseline="-250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</a:t>
            </a:r>
            <a:r>
              <a:rPr lang="en-US" sz="24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2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× M (um </a:t>
            </a:r>
            <a:r>
              <a:rPr lang="en-US" sz="24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filtro</a:t>
            </a:r>
            <a:r>
              <a:rPr lang="en-US" sz="2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24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</a:t>
            </a:r>
            <a:r>
              <a:rPr lang="en-US" sz="2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canal</a:t>
            </a:r>
            <a:r>
              <a:rPr lang="en-US" sz="24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</a:t>
            </a:r>
            <a:endParaRPr lang="en-US" sz="2400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590097" y="2710110"/>
            <a:ext cx="1481685" cy="428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000" smtClean="0"/>
              <a:t>Mecanismo</a:t>
            </a:r>
            <a:endParaRPr lang="pt-BR" sz="2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23" y="1513285"/>
            <a:ext cx="4128171" cy="996480"/>
          </a:xfrm>
          <a:prstGeom prst="rect">
            <a:avLst/>
          </a:prstGeom>
        </p:spPr>
      </p:pic>
      <p:sp>
        <p:nvSpPr>
          <p:cNvPr id="11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515281" y="5047548"/>
            <a:ext cx="11329877" cy="10064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pt-BR" sz="2400" dirty="0"/>
              <a:t>A camada </a:t>
            </a:r>
            <a:r>
              <a:rPr lang="pt-BR" sz="2400" dirty="0" err="1"/>
              <a:t>depthwise</a:t>
            </a:r>
            <a:r>
              <a:rPr lang="pt-BR" sz="2400" dirty="0"/>
              <a:t> apenas filtra — não gera novas representações entre canais</a:t>
            </a:r>
          </a:p>
          <a:p>
            <a:pPr marL="264160" indent="-264160">
              <a:lnSpc>
                <a:spcPct val="133000"/>
              </a:lnSpc>
              <a:buSzPct val="100000"/>
            </a:pPr>
            <a:r>
              <a:rPr lang="pt-BR" sz="24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Necessita obrigatoriamente da etapa </a:t>
            </a:r>
            <a:r>
              <a:rPr lang="pt-BR" sz="2400" dirty="0" err="1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pointwise</a:t>
            </a:r>
            <a:r>
              <a:rPr lang="pt-BR" sz="24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subsequente</a:t>
            </a:r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590097" y="4648687"/>
            <a:ext cx="5148551" cy="428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000" dirty="0" smtClean="0"/>
              <a:t>Limitação e Complemento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83210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1638" y="323260"/>
            <a:ext cx="5625662" cy="1325563"/>
          </a:xfrm>
        </p:spPr>
        <p:txBody>
          <a:bodyPr/>
          <a:lstStyle/>
          <a:p>
            <a:r>
              <a:rPr lang="pt-BR" dirty="0" smtClean="0"/>
              <a:t>Fundamentação </a:t>
            </a:r>
            <a:r>
              <a:rPr lang="pt-BR" dirty="0"/>
              <a:t>teórica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922067" y="4667611"/>
            <a:ext cx="2436430" cy="3276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800" dirty="0" smtClean="0"/>
              <a:t>Função custo </a:t>
            </a:r>
            <a:r>
              <a:rPr lang="pt-BR" sz="1800" dirty="0" err="1" smtClean="0"/>
              <a:t>Pointwise</a:t>
            </a:r>
            <a:endParaRPr lang="pt-BR" sz="1800" b="1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870076" y="4313099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(5)</a:t>
            </a:r>
            <a:endParaRPr lang="pt-BR" sz="1600" b="1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006255" y="4313099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(6)</a:t>
            </a:r>
            <a:endParaRPr lang="pt-BR" sz="1600" b="1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11541" y="1914363"/>
            <a:ext cx="10216437" cy="1418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 err="1"/>
              <a:t>Convolução</a:t>
            </a:r>
            <a:r>
              <a:rPr lang="pt-BR" sz="2400" dirty="0"/>
              <a:t> </a:t>
            </a:r>
            <a:r>
              <a:rPr lang="pt-BR" sz="2400" dirty="0" err="1"/>
              <a:t>Pointwise</a:t>
            </a:r>
            <a:r>
              <a:rPr lang="pt-BR" sz="2400" dirty="0"/>
              <a:t> (Combinação): Como a etapa anterior não combina os canais para gerar novas representações, utiliza-se uma </a:t>
            </a:r>
            <a:r>
              <a:rPr lang="pt-BR" sz="2400" dirty="0" err="1"/>
              <a:t>convolução</a:t>
            </a:r>
            <a:r>
              <a:rPr lang="pt-BR" sz="2400" dirty="0"/>
              <a:t> simples de </a:t>
            </a:r>
            <a:r>
              <a:rPr lang="pt-BR" sz="2400" dirty="0" smtClean="0"/>
              <a:t>1x1 </a:t>
            </a:r>
            <a:r>
              <a:rPr lang="pt-BR" sz="2400" dirty="0"/>
              <a:t>para criar uma combinação linear das saídas da camada </a:t>
            </a:r>
            <a:r>
              <a:rPr lang="pt-BR" sz="2400" dirty="0" err="1"/>
              <a:t>depthwise</a:t>
            </a:r>
            <a:r>
              <a:rPr lang="pt-BR" sz="2400" dirty="0" smtClean="0"/>
              <a:t>.</a:t>
            </a:r>
            <a:endParaRPr lang="pt-BR" sz="2400" b="1" dirty="0"/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67" y="3647813"/>
            <a:ext cx="2329571" cy="643528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485" y="3647813"/>
            <a:ext cx="5315092" cy="729001"/>
          </a:xfrm>
          <a:prstGeom prst="rect">
            <a:avLst/>
          </a:prstGeom>
        </p:spPr>
      </p:pic>
      <p:sp>
        <p:nvSpPr>
          <p:cNvPr id="16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7242777" y="4633299"/>
            <a:ext cx="1960508" cy="3276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800" dirty="0" smtClean="0"/>
              <a:t>Função custo total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102186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03" y="360766"/>
            <a:ext cx="8607973" cy="1325563"/>
          </a:xfrm>
        </p:spPr>
        <p:txBody>
          <a:bodyPr>
            <a:normAutofit/>
          </a:bodyPr>
          <a:lstStyle/>
          <a:p>
            <a:r>
              <a:rPr lang="pt-BR" sz="3600" dirty="0" err="1"/>
              <a:t>Convolução</a:t>
            </a:r>
            <a:r>
              <a:rPr lang="pt-BR" sz="3600" dirty="0"/>
              <a:t> </a:t>
            </a:r>
            <a:r>
              <a:rPr lang="pt-BR" sz="3600" dirty="0" err="1"/>
              <a:t>Pointwise</a:t>
            </a:r>
            <a:r>
              <a:rPr lang="pt-BR" sz="3600" dirty="0"/>
              <a:t>: Combinação de Canais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281" y="3529118"/>
            <a:ext cx="11329877" cy="1309349"/>
          </a:xfrm>
        </p:spPr>
        <p:txBody>
          <a:bodyPr>
            <a:normAutofit fontScale="92500"/>
          </a:bodyPr>
          <a:lstStyle/>
          <a:p>
            <a:pPr fontAlgn="base"/>
            <a:r>
              <a:rPr lang="pt-BR" sz="2400" dirty="0" err="1"/>
              <a:t>Convolução</a:t>
            </a:r>
            <a:r>
              <a:rPr lang="pt-BR" sz="2400" dirty="0"/>
              <a:t> 1×1 que combina linearmente as saídas da camada </a:t>
            </a:r>
            <a:r>
              <a:rPr lang="pt-BR" sz="2400" dirty="0" err="1"/>
              <a:t>depthwise</a:t>
            </a:r>
            <a:endParaRPr lang="pt-BR" sz="2400" dirty="0"/>
          </a:p>
          <a:p>
            <a:pPr fontAlgn="base"/>
            <a:r>
              <a:rPr lang="pt-BR" sz="2400" dirty="0"/>
              <a:t>Gera N novos mapas de características a partir dos M canais </a:t>
            </a:r>
            <a:r>
              <a:rPr lang="pt-BR" sz="2400" dirty="0" smtClean="0"/>
              <a:t>filtrados</a:t>
            </a:r>
          </a:p>
          <a:p>
            <a:pPr fontAlgn="base"/>
            <a:r>
              <a:rPr lang="pt-BR" sz="2400" dirty="0"/>
              <a:t>Implementável diretamente via GEMM (General Matrix </a:t>
            </a:r>
            <a:r>
              <a:rPr lang="pt-BR" sz="2400" dirty="0" err="1"/>
              <a:t>Multiply</a:t>
            </a:r>
            <a:r>
              <a:rPr lang="pt-BR" sz="2400" dirty="0"/>
              <a:t>) — sem necessidade de im2col</a:t>
            </a:r>
          </a:p>
          <a:p>
            <a:pPr fontAlgn="base"/>
            <a:endParaRPr lang="pt-BR" sz="2400" dirty="0" smtClean="0"/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515281" y="3101084"/>
            <a:ext cx="3803447" cy="428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000" dirty="0"/>
              <a:t>Mecanismo da Camada 1×1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2186152" y="6167116"/>
            <a:ext cx="7493874" cy="581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000" dirty="0"/>
              <a:t>Juntas, formam o bloco fundamental que torna o </a:t>
            </a:r>
            <a:r>
              <a:rPr lang="pt-BR" sz="2000" dirty="0" err="1"/>
              <a:t>MobileNet</a:t>
            </a:r>
            <a:r>
              <a:rPr lang="pt-BR" sz="2000" dirty="0"/>
              <a:t> possível</a:t>
            </a: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57" y="1562007"/>
            <a:ext cx="4004096" cy="131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0" y="417677"/>
            <a:ext cx="10857186" cy="1325563"/>
          </a:xfrm>
        </p:spPr>
        <p:txBody>
          <a:bodyPr>
            <a:normAutofit/>
          </a:bodyPr>
          <a:lstStyle/>
          <a:p>
            <a:pPr algn="ctr" fontAlgn="base"/>
            <a:r>
              <a:rPr lang="pt-BR" sz="2800" dirty="0" err="1" smtClean="0"/>
              <a:t>Convolução</a:t>
            </a:r>
            <a:r>
              <a:rPr lang="pt-BR" sz="2800" dirty="0" smtClean="0"/>
              <a:t> Padrão </a:t>
            </a:r>
            <a:r>
              <a:rPr lang="pt-BR" sz="2800" dirty="0" err="1" smtClean="0"/>
              <a:t>vs</a:t>
            </a:r>
            <a:r>
              <a:rPr lang="pt-BR" sz="2800" dirty="0" smtClean="0"/>
              <a:t> </a:t>
            </a:r>
            <a:r>
              <a:rPr lang="pt-BR" sz="2800" dirty="0" err="1" smtClean="0"/>
              <a:t>Depthwise</a:t>
            </a:r>
            <a:r>
              <a:rPr lang="pt-BR" sz="2800" dirty="0" smtClean="0"/>
              <a:t> </a:t>
            </a:r>
            <a:r>
              <a:rPr lang="pt-BR" sz="2800" dirty="0" err="1" smtClean="0"/>
              <a:t>Convolution</a:t>
            </a:r>
            <a:endParaRPr lang="pt-BR" sz="2800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0" descr="preencoded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09394" y="1617935"/>
            <a:ext cx="8138743" cy="455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8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736" y="360844"/>
            <a:ext cx="6400527" cy="1325563"/>
          </a:xfrm>
        </p:spPr>
        <p:txBody>
          <a:bodyPr>
            <a:normAutofit/>
          </a:bodyPr>
          <a:lstStyle/>
          <a:p>
            <a:r>
              <a:rPr lang="pt-BR" sz="4000" dirty="0" smtClean="0"/>
              <a:t>Fator de Redução Matemática</a:t>
            </a:r>
            <a:endParaRPr lang="pt-BR" sz="4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335"/>
            <a:ext cx="10515600" cy="106472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pt-BR" dirty="0" smtClean="0"/>
              <a:t>Ao expressar </a:t>
            </a:r>
            <a:r>
              <a:rPr lang="pt-BR" dirty="0"/>
              <a:t>a </a:t>
            </a:r>
            <a:r>
              <a:rPr lang="pt-BR" dirty="0" err="1"/>
              <a:t>convolução</a:t>
            </a:r>
            <a:r>
              <a:rPr lang="pt-BR" dirty="0"/>
              <a:t> como um processo de duas etapas, a matemática demonstra uma redução direta na computação, calculada pela razão entre os custos</a:t>
            </a:r>
            <a:endParaRPr lang="pt-BR" b="1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987642" y="4649485"/>
            <a:ext cx="10366158" cy="1272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/>
              <a:t>Como o </a:t>
            </a:r>
            <a:r>
              <a:rPr lang="pt-BR" sz="2400" dirty="0" err="1"/>
              <a:t>MobileNet</a:t>
            </a:r>
            <a:r>
              <a:rPr lang="pt-BR" sz="2400" dirty="0"/>
              <a:t> utiliza </a:t>
            </a:r>
            <a:r>
              <a:rPr lang="pt-BR" sz="2400" dirty="0" err="1"/>
              <a:t>kernels</a:t>
            </a:r>
            <a:r>
              <a:rPr lang="pt-BR" sz="2400" dirty="0"/>
              <a:t> de dimensão </a:t>
            </a:r>
            <a:r>
              <a:rPr lang="pt-BR" sz="2400" dirty="0" smtClean="0"/>
              <a:t>3x3 (D</a:t>
            </a:r>
            <a:r>
              <a:rPr lang="pt-BR" sz="2400" baseline="-25000" dirty="0" smtClean="0"/>
              <a:t>K</a:t>
            </a:r>
            <a:r>
              <a:rPr lang="pt-BR" sz="2400" dirty="0" smtClean="0"/>
              <a:t>=3), </a:t>
            </a:r>
            <a:r>
              <a:rPr lang="pt-BR" sz="2400" dirty="0"/>
              <a:t>a redução matemática chega a ser 8 a 9 vezes menor em comparação com a </a:t>
            </a:r>
            <a:r>
              <a:rPr lang="pt-BR" sz="2400" dirty="0" err="1"/>
              <a:t>convolução</a:t>
            </a:r>
            <a:r>
              <a:rPr lang="pt-BR" sz="2400" dirty="0"/>
              <a:t> padrão, custando apenas uma pequena fração da precisão</a:t>
            </a:r>
            <a:endParaRPr lang="pt-BR" sz="2400" b="1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5727616" y="4286821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(7)</a:t>
            </a:r>
            <a:endParaRPr lang="pt-BR" sz="1600" b="1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931" y="3242112"/>
            <a:ext cx="7934922" cy="104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0"/>
          <p:cNvSpPr/>
          <p:nvPr/>
        </p:nvSpPr>
        <p:spPr>
          <a:xfrm>
            <a:off x="957260" y="100072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ea typeface="MuseoModerno Medium" pitchFamily="34" charset="-122"/>
                <a:cs typeface="MuseoModerno Medium" pitchFamily="34" charset="-120"/>
              </a:rPr>
              <a:t>Comparação Visual: Camada Padrão vs. Separável</a:t>
            </a:r>
            <a:endParaRPr lang="en-US" sz="3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756" y="1851466"/>
            <a:ext cx="2794933" cy="1700935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838200" y="3886415"/>
            <a:ext cx="5470785" cy="1945184"/>
          </a:xfrm>
          <a:prstGeom prst="roundRect">
            <a:avLst>
              <a:gd name="adj" fmla="val 1275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2"/>
          <p:cNvSpPr/>
          <p:nvPr/>
        </p:nvSpPr>
        <p:spPr>
          <a:xfrm>
            <a:off x="1003495" y="405171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Camada Padrão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1003495" y="4475477"/>
            <a:ext cx="5140196" cy="94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Conv 3×3 → BatchNorm → ReLU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Uma única operação acoplada que realiza filtragem e combinação de canais simultaneamente.</a:t>
            </a:r>
            <a:endParaRPr lang="en-US" sz="1300" dirty="0"/>
          </a:p>
        </p:txBody>
      </p:sp>
      <p:sp>
        <p:nvSpPr>
          <p:cNvPr id="10" name="Text 4"/>
          <p:cNvSpPr/>
          <p:nvPr/>
        </p:nvSpPr>
        <p:spPr>
          <a:xfrm>
            <a:off x="6599689" y="405171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ea typeface="MuseoModerno Medium" pitchFamily="34" charset="-122"/>
                <a:cs typeface="MuseoModerno Medium" pitchFamily="34" charset="-120"/>
              </a:rPr>
              <a:t>Camada Separável em Profundidade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6599689" y="4475477"/>
            <a:ext cx="5232666" cy="1207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Depthwise 3×3 → BN → ReLU → Pointwise 1×1 → BN → ReLU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Ambas as sub-camadas aplicam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BatchNorm e ReLU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após cada convolução. A separação em duas etapas permite otimização independente de filtragem e combinação, sem perda de capacidade representacional significativa.</a:t>
            </a:r>
            <a:endParaRPr lang="en-US" sz="1300" dirty="0"/>
          </a:p>
        </p:txBody>
      </p:sp>
      <p:cxnSp>
        <p:nvCxnSpPr>
          <p:cNvPr id="13" name="Conector Reto 12"/>
          <p:cNvCxnSpPr/>
          <p:nvPr/>
        </p:nvCxnSpPr>
        <p:spPr>
          <a:xfrm>
            <a:off x="7304689" y="1851466"/>
            <a:ext cx="0" cy="20875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7304689" y="2136863"/>
            <a:ext cx="0" cy="20875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7304689" y="2438761"/>
            <a:ext cx="0" cy="20875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>
            <a:off x="7304689" y="2730508"/>
            <a:ext cx="0" cy="20875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>
            <a:off x="7304689" y="3029311"/>
            <a:ext cx="0" cy="20875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7304689" y="3324233"/>
            <a:ext cx="0" cy="20875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36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0"/>
          <p:cNvSpPr/>
          <p:nvPr/>
        </p:nvSpPr>
        <p:spPr>
          <a:xfrm>
            <a:off x="661475" y="93712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Estrutura Completa da Rede MobileNet</a:t>
            </a:r>
            <a:endParaRPr lang="en-US" sz="3250" dirty="0"/>
          </a:p>
        </p:txBody>
      </p:sp>
      <p:sp>
        <p:nvSpPr>
          <p:cNvPr id="9" name="Text 1"/>
          <p:cNvSpPr/>
          <p:nvPr/>
        </p:nvSpPr>
        <p:spPr>
          <a:xfrm>
            <a:off x="661475" y="186719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Arquitetura Camada a Camada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661475" y="2290961"/>
            <a:ext cx="5232666" cy="234830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28 camadas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no total (depthwise e pointwise contadas separadamente)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Primeira camada: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convolução completa 3×3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com stride 2 (entrada 224×224×3)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Bloco principal: pares depthwise + pointwise com canais crescendo de 32 → 64 → 128 → 256 → 512 → 1024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Downsampling via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strided convolutions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(não pooling) nas camadas depthwise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Final: Average Pooling 7×7 → Fully Connected 1024×1000 → Softmax</a:t>
            </a:r>
            <a:endParaRPr lang="en-US" sz="1300" dirty="0"/>
          </a:p>
        </p:txBody>
      </p:sp>
      <p:sp>
        <p:nvSpPr>
          <p:cNvPr id="11" name="Shape 3"/>
          <p:cNvSpPr/>
          <p:nvPr/>
        </p:nvSpPr>
        <p:spPr>
          <a:xfrm>
            <a:off x="661475" y="4825305"/>
            <a:ext cx="5232666" cy="909439"/>
          </a:xfrm>
          <a:prstGeom prst="roundRect">
            <a:avLst>
              <a:gd name="adj" fmla="val 2728"/>
            </a:avLst>
          </a:prstGeom>
          <a:solidFill>
            <a:srgbClr val="DBE8F0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071368"/>
            <a:ext cx="206667" cy="165298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198731" y="5015409"/>
            <a:ext cx="45301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ea typeface="Source Sans 3 Bold" pitchFamily="34" charset="-122"/>
                <a:cs typeface="Source Sans 3 Bold" pitchFamily="34" charset="-120"/>
              </a:rPr>
              <a:t>95%</a:t>
            </a:r>
            <a:r>
              <a:rPr lang="en-US" sz="1300" dirty="0">
                <a:solidFill>
                  <a:srgbClr val="000000"/>
                </a:solidFill>
                <a:ea typeface="Source Sans 3" pitchFamily="34" charset="-122"/>
                <a:cs typeface="Source Sans 3" pitchFamily="34" charset="-120"/>
              </a:rPr>
              <a:t> do tempo de computação é gasto em convoluções 1×1 — altamente otimizáveis via GEMM.</a:t>
            </a:r>
            <a:endParaRPr lang="en-US" sz="1300" dirty="0"/>
          </a:p>
        </p:txBody>
      </p:sp>
      <p:sp>
        <p:nvSpPr>
          <p:cNvPr id="14" name="Text 5"/>
          <p:cNvSpPr/>
          <p:nvPr/>
        </p:nvSpPr>
        <p:spPr>
          <a:xfrm>
            <a:off x="6303904" y="186719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Distribuição de Recursos por Tipo de Camada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018227"/>
              </p:ext>
            </p:extLst>
          </p:nvPr>
        </p:nvGraphicFramePr>
        <p:xfrm>
          <a:off x="6303904" y="2311698"/>
          <a:ext cx="5232666" cy="2404110"/>
        </p:xfrm>
        <a:graphic>
          <a:graphicData uri="http://schemas.openxmlformats.org/drawingml/2006/table">
            <a:tbl>
              <a:tblPr/>
              <a:tblGrid>
                <a:gridCol w="1744222"/>
                <a:gridCol w="1744222"/>
                <a:gridCol w="1744222"/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Tipo de Camada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Mult-Adds (%)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Parâmetros (%)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Conv 1×1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94.86%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74.59%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Conv DW 3×3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3.06%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1.06%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Conv 3×3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1.19%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0.02%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Fully Connected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0.18%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24.33%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4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601" y="332315"/>
            <a:ext cx="4244315" cy="1325563"/>
          </a:xfrm>
        </p:spPr>
        <p:txBody>
          <a:bodyPr>
            <a:normAutofit/>
          </a:bodyPr>
          <a:lstStyle/>
          <a:p>
            <a:r>
              <a:rPr lang="pt-BR" sz="4000" dirty="0" err="1" smtClean="0"/>
              <a:t>Hiperparâmetros</a:t>
            </a:r>
            <a:endParaRPr lang="pt-BR" sz="4000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1638473"/>
            <a:ext cx="9385082" cy="55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smtClean="0"/>
              <a:t>Introduziram </a:t>
            </a:r>
            <a:r>
              <a:rPr lang="pt-BR" sz="2400" dirty="0"/>
              <a:t>dois parâmetros que permitem controlar o tamanho da rede</a:t>
            </a:r>
            <a:endParaRPr lang="pt-BR" sz="2400" b="1" dirty="0"/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5500304" y="2068887"/>
            <a:ext cx="391534" cy="55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3600" dirty="0"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α</a:t>
            </a:r>
            <a:endParaRPr lang="pt-BR" sz="3600" b="1" dirty="0"/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2699289"/>
            <a:ext cx="9385082" cy="692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 smtClean="0"/>
              <a:t>Nomeado como </a:t>
            </a:r>
            <a:r>
              <a:rPr lang="pt-BR" sz="2400" dirty="0" err="1" smtClean="0"/>
              <a:t>width</a:t>
            </a:r>
            <a:r>
              <a:rPr lang="pt-BR" sz="2400" dirty="0" smtClean="0"/>
              <a:t> </a:t>
            </a:r>
            <a:r>
              <a:rPr lang="pt-BR" sz="2400" dirty="0" err="1" smtClean="0"/>
              <a:t>multiplier</a:t>
            </a:r>
            <a:r>
              <a:rPr lang="pt-BR" sz="2400" dirty="0" smtClean="0"/>
              <a:t>, ele </a:t>
            </a:r>
            <a:r>
              <a:rPr lang="pt-BR" sz="2400" dirty="0"/>
              <a:t>controla a quantidade de canais da rede.</a:t>
            </a:r>
            <a:endParaRPr lang="pt-BR" sz="2400" b="1" dirty="0"/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3725270"/>
            <a:ext cx="9385082" cy="1058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/>
              <a:t>Quanto menor α, </a:t>
            </a:r>
            <a:r>
              <a:rPr lang="pt-BR" sz="2400" dirty="0" smtClean="0"/>
              <a:t>menor o número </a:t>
            </a:r>
            <a:r>
              <a:rPr lang="pt-BR" sz="2400" dirty="0"/>
              <a:t>de </a:t>
            </a:r>
            <a:r>
              <a:rPr lang="pt-BR" sz="2400" dirty="0" smtClean="0"/>
              <a:t>parâmetros</a:t>
            </a:r>
            <a:r>
              <a:rPr lang="pt-BR" sz="2400" dirty="0"/>
              <a:t>,</a:t>
            </a:r>
            <a:r>
              <a:rPr lang="pt-BR" sz="2400" dirty="0" smtClean="0"/>
              <a:t> quantidade </a:t>
            </a:r>
            <a:r>
              <a:rPr lang="pt-BR" sz="2400" dirty="0"/>
              <a:t>de </a:t>
            </a:r>
            <a:r>
              <a:rPr lang="pt-BR" sz="2400" dirty="0" smtClean="0"/>
              <a:t>operações</a:t>
            </a:r>
            <a:r>
              <a:rPr lang="pt-BR" sz="2400" dirty="0"/>
              <a:t>,</a:t>
            </a:r>
            <a:r>
              <a:rPr lang="pt-BR" sz="2400" dirty="0" smtClean="0"/>
              <a:t> tamanho </a:t>
            </a:r>
            <a:r>
              <a:rPr lang="pt-BR" sz="2400" dirty="0"/>
              <a:t>do </a:t>
            </a:r>
            <a:r>
              <a:rPr lang="pt-BR" sz="2400" dirty="0" smtClean="0"/>
              <a:t>modelo</a:t>
            </a:r>
            <a:r>
              <a:rPr lang="pt-BR" sz="2400" dirty="0"/>
              <a:t>,</a:t>
            </a:r>
            <a:r>
              <a:rPr lang="pt-BR" sz="2400" dirty="0" smtClean="0"/>
              <a:t> latência. Mas também </a:t>
            </a:r>
            <a:r>
              <a:rPr lang="pt-BR" sz="2400" dirty="0"/>
              <a:t>também existe redução da precisão.</a:t>
            </a:r>
            <a:endParaRPr lang="pt-BR" sz="2400" b="1" dirty="0"/>
          </a:p>
        </p:txBody>
      </p:sp>
      <p:sp>
        <p:nvSpPr>
          <p:cNvPr id="19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5118086"/>
            <a:ext cx="9586095" cy="8826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/>
              <a:t>O artigo observa que a redução de custo e parâmetros é aproximadamente quadrática com α.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105496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0"/>
          <p:cNvSpPr/>
          <p:nvPr/>
        </p:nvSpPr>
        <p:spPr>
          <a:xfrm>
            <a:off x="661475" y="61962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Width Multiplier (α): Modelos Mais Finos</a:t>
            </a:r>
            <a:endParaRPr lang="en-US" sz="3250" dirty="0"/>
          </a:p>
        </p:txBody>
      </p:sp>
      <p:sp>
        <p:nvSpPr>
          <p:cNvPr id="9" name="Shape 1"/>
          <p:cNvSpPr/>
          <p:nvPr/>
        </p:nvSpPr>
        <p:spPr>
          <a:xfrm>
            <a:off x="574313" y="2043618"/>
            <a:ext cx="5470785" cy="2953685"/>
          </a:xfrm>
          <a:prstGeom prst="roundRect">
            <a:avLst>
              <a:gd name="adj" fmla="val 599"/>
            </a:avLst>
          </a:prstGeom>
          <a:solidFill>
            <a:srgbClr val="325F7B"/>
          </a:solidFill>
          <a:ln/>
        </p:spPr>
      </p:sp>
      <p:sp>
        <p:nvSpPr>
          <p:cNvPr id="10" name="Text 2"/>
          <p:cNvSpPr/>
          <p:nvPr/>
        </p:nvSpPr>
        <p:spPr>
          <a:xfrm>
            <a:off x="739608" y="220891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Como Funciona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739608" y="2632680"/>
            <a:ext cx="5140196" cy="1885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Parâmetro α ∈ (0, 1] que reduz uniformemente o número de canais em cada camada. Para uma dada camada, o número de canais de entrada M torna-se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αM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e os canais de saída N tornam-se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αN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Reduz custo computacional e parâmetros </a:t>
            </a:r>
            <a:r>
              <a:rPr lang="en-US" sz="1300" b="1" dirty="0" err="1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quadraticamente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 </a:t>
            </a:r>
            <a:r>
              <a:rPr lang="en-US" sz="1300" b="1" dirty="0" smtClean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(α²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)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. Pode ser aplicado a qualquer arquitetura, mas requer treinamento do zero.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Valores típicos: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α = 1, 0.75, 0.5, 0.25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904" y="1570434"/>
            <a:ext cx="5232666" cy="3766542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667825" y="550227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Reduzir o width multiplier diminui drasticamente os Mult-Adds com queda moderada de acurácia até α=0.5 — abaixo disso, a queda se torna mais abrupta, sugerindo um limite prático de compressão.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3657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601" y="332315"/>
            <a:ext cx="4244315" cy="1325563"/>
          </a:xfrm>
        </p:spPr>
        <p:txBody>
          <a:bodyPr>
            <a:normAutofit/>
          </a:bodyPr>
          <a:lstStyle/>
          <a:p>
            <a:r>
              <a:rPr lang="pt-BR" sz="4000" dirty="0" err="1" smtClean="0"/>
              <a:t>Hiperparâmetros</a:t>
            </a:r>
            <a:endParaRPr lang="pt-BR" sz="4000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332608" y="5752947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(6)</a:t>
            </a:r>
            <a:endParaRPr lang="pt-BR" sz="1600" b="1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1638473"/>
            <a:ext cx="9385082" cy="55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 smtClean="0"/>
              <a:t>Outro parâmetro </a:t>
            </a:r>
            <a:r>
              <a:rPr lang="pt-BR" sz="2400" dirty="0"/>
              <a:t>que </a:t>
            </a:r>
            <a:r>
              <a:rPr lang="pt-BR" sz="2400" dirty="0" smtClean="0"/>
              <a:t>permite </a:t>
            </a:r>
            <a:r>
              <a:rPr lang="pt-BR" sz="2400" dirty="0"/>
              <a:t>controlar o tamanho da rede</a:t>
            </a:r>
            <a:endParaRPr lang="pt-BR" sz="2400" b="1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838" y="5087661"/>
            <a:ext cx="5315092" cy="729001"/>
          </a:xfrm>
          <a:prstGeom prst="rect">
            <a:avLst/>
          </a:prstGeom>
        </p:spPr>
      </p:pic>
      <p:sp>
        <p:nvSpPr>
          <p:cNvPr id="16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7569130" y="6073147"/>
            <a:ext cx="1960508" cy="3276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800" dirty="0" smtClean="0"/>
              <a:t>Função custo total</a:t>
            </a:r>
            <a:endParaRPr lang="pt-BR" sz="1800" b="1" dirty="0"/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5500304" y="2068887"/>
            <a:ext cx="391534" cy="55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l-GR" sz="3600" dirty="0"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ρ</a:t>
            </a:r>
            <a:endParaRPr lang="pt-BR" sz="3600" b="1" dirty="0"/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2699288"/>
            <a:ext cx="9385082" cy="10433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 smtClean="0"/>
              <a:t>Nomeado como </a:t>
            </a:r>
            <a:r>
              <a:rPr lang="pt-BR" sz="2400" dirty="0" err="1" smtClean="0"/>
              <a:t>resolution</a:t>
            </a:r>
            <a:r>
              <a:rPr lang="pt-BR" sz="2400" dirty="0" smtClean="0"/>
              <a:t> </a:t>
            </a:r>
            <a:r>
              <a:rPr lang="pt-BR" sz="2400" dirty="0" err="1" smtClean="0"/>
              <a:t>multiplier</a:t>
            </a:r>
            <a:r>
              <a:rPr lang="pt-BR" sz="2400" dirty="0" smtClean="0"/>
              <a:t>,  </a:t>
            </a:r>
            <a:r>
              <a:rPr lang="pt-BR" sz="2400" dirty="0"/>
              <a:t>controla a resolução espacial da entrada e, consequentemente, das representações </a:t>
            </a:r>
            <a:r>
              <a:rPr lang="pt-BR" sz="2400" dirty="0" smtClean="0"/>
              <a:t>internas, assim a ideia </a:t>
            </a:r>
            <a:r>
              <a:rPr lang="pt-BR" sz="2400" dirty="0"/>
              <a:t>é reduzir a resolução da imagem</a:t>
            </a:r>
            <a:endParaRPr lang="pt-BR" sz="2400" b="1" dirty="0"/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3831992"/>
            <a:ext cx="9385082" cy="1058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/>
              <a:t>A grande vantagem da proposta é que os dois parâmetros podem ser combinados</a:t>
            </a:r>
            <a:r>
              <a:rPr lang="pt-BR" sz="2400" dirty="0" smtClean="0"/>
              <a:t>: α controla </a:t>
            </a:r>
            <a:r>
              <a:rPr lang="pt-BR" sz="2400" dirty="0"/>
              <a:t>a largura da rede, </a:t>
            </a:r>
            <a:r>
              <a:rPr lang="pt-BR" sz="2400" dirty="0" err="1" smtClean="0"/>
              <a:t>ρ</a:t>
            </a:r>
            <a:r>
              <a:rPr lang="pt-BR" sz="2400" dirty="0" smtClean="0"/>
              <a:t> controla </a:t>
            </a:r>
            <a:r>
              <a:rPr lang="pt-BR" sz="2400" dirty="0"/>
              <a:t>a resolução </a:t>
            </a:r>
            <a:r>
              <a:rPr lang="pt-BR" sz="2400" dirty="0" smtClean="0"/>
              <a:t>espacial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101197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0"/>
          <p:cNvSpPr/>
          <p:nvPr/>
        </p:nvSpPr>
        <p:spPr>
          <a:xfrm>
            <a:off x="661475" y="61962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ea typeface="MuseoModerno Medium" pitchFamily="34" charset="-122"/>
                <a:cs typeface="MuseoModerno Medium" pitchFamily="34" charset="-120"/>
              </a:rPr>
              <a:t>Resolution Multiplier (ρ): Representação Reduzida</a:t>
            </a:r>
            <a:endParaRPr lang="en-US" sz="3250" dirty="0"/>
          </a:p>
        </p:txBody>
      </p:sp>
      <p:sp>
        <p:nvSpPr>
          <p:cNvPr id="21" name="Shape 1"/>
          <p:cNvSpPr/>
          <p:nvPr/>
        </p:nvSpPr>
        <p:spPr>
          <a:xfrm>
            <a:off x="542415" y="1384399"/>
            <a:ext cx="5470785" cy="4138612"/>
          </a:xfrm>
          <a:prstGeom prst="roundRect">
            <a:avLst>
              <a:gd name="adj" fmla="val 599"/>
            </a:avLst>
          </a:prstGeom>
          <a:solidFill>
            <a:srgbClr val="325F7B"/>
          </a:solidFill>
          <a:ln/>
        </p:spPr>
      </p:sp>
      <p:sp>
        <p:nvSpPr>
          <p:cNvPr id="22" name="Text 2"/>
          <p:cNvSpPr/>
          <p:nvPr/>
        </p:nvSpPr>
        <p:spPr>
          <a:xfrm>
            <a:off x="707710" y="154969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Como Funciona</a:t>
            </a:r>
            <a:endParaRPr lang="en-US" sz="1600" dirty="0"/>
          </a:p>
        </p:txBody>
      </p:sp>
      <p:sp>
        <p:nvSpPr>
          <p:cNvPr id="23" name="Text 3"/>
          <p:cNvSpPr/>
          <p:nvPr/>
        </p:nvSpPr>
        <p:spPr>
          <a:xfrm>
            <a:off x="707710" y="1973461"/>
            <a:ext cx="5140196" cy="1885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Parâmetro ρ ∈ (0, 1] aplicado à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imagem de entrada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— reduz todas as representações internas proporcionalmente. Na prática, ρ é definido implicitamente pela resolução de entrada escolhida.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Reduz custo computacional por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ρ²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—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sem alterar o número de parâmetros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. A acurácia cai suavemente com a resolução.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Resoluções típicas: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224, 192, 160, 128 pixels</a:t>
            </a:r>
            <a:endParaRPr lang="en-US" sz="13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904" y="1570434"/>
            <a:ext cx="5232666" cy="3766542"/>
          </a:xfrm>
          <a:prstGeom prst="rect">
            <a:avLst/>
          </a:prstGeom>
        </p:spPr>
      </p:pic>
      <p:sp>
        <p:nvSpPr>
          <p:cNvPr id="25" name="Text 4"/>
          <p:cNvSpPr/>
          <p:nvPr/>
        </p:nvSpPr>
        <p:spPr>
          <a:xfrm>
            <a:off x="661475" y="569841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ea typeface="Source Sans 3" pitchFamily="34" charset="-122"/>
                <a:cs typeface="Source Sans 3" pitchFamily="34" charset="-120"/>
              </a:rPr>
              <a:t>A acurácia cai de forma suave e previsível com a redução da resolução — de </a:t>
            </a:r>
            <a:r>
              <a:rPr lang="en-US" sz="1300" b="1" dirty="0">
                <a:ea typeface="Source Sans 3 Bold" pitchFamily="34" charset="-122"/>
                <a:cs typeface="Source Sans 3 Bold" pitchFamily="34" charset="-120"/>
              </a:rPr>
              <a:t>70.6% em 224px para 64.4% em 128px</a:t>
            </a:r>
            <a:r>
              <a:rPr lang="en-US" sz="1300" dirty="0">
                <a:ea typeface="Source Sans 3" pitchFamily="34" charset="-122"/>
                <a:cs typeface="Source Sans 3" pitchFamily="34" charset="-120"/>
              </a:rPr>
              <a:t> — enquanto os Mult-Adds caem em mais de </a:t>
            </a:r>
            <a:r>
              <a:rPr lang="en-US" sz="1300" b="1" dirty="0">
                <a:ea typeface="Source Sans 3 Bold" pitchFamily="34" charset="-122"/>
                <a:cs typeface="Source Sans 3 Bold" pitchFamily="34" charset="-120"/>
              </a:rPr>
              <a:t>3×</a:t>
            </a:r>
            <a:r>
              <a:rPr lang="en-US" sz="1300" dirty="0">
                <a:ea typeface="Source Sans 3" pitchFamily="34" charset="-122"/>
                <a:cs typeface="Source Sans 3" pitchFamily="34" charset="-120"/>
              </a:rPr>
              <a:t>, com número de parâmetros constante em 4.2M.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399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601" y="332315"/>
            <a:ext cx="4244315" cy="1325563"/>
          </a:xfrm>
        </p:spPr>
        <p:txBody>
          <a:bodyPr>
            <a:normAutofit/>
          </a:bodyPr>
          <a:lstStyle/>
          <a:p>
            <a:r>
              <a:rPr lang="pt-BR" sz="4000" dirty="0" err="1" smtClean="0"/>
              <a:t>Hiperparâmetros</a:t>
            </a:r>
            <a:endParaRPr lang="pt-BR" sz="4000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5178863" y="3659935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(8)</a:t>
            </a:r>
            <a:endParaRPr lang="pt-BR" sz="1600" b="1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330940" y="1898938"/>
            <a:ext cx="9385082" cy="8772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/>
              <a:t>Aplicando esses multiplicadores, a equação final que define o custo computacional das camadas centrais do </a:t>
            </a:r>
            <a:r>
              <a:rPr lang="pt-BR" sz="2400" dirty="0" err="1" smtClean="0"/>
              <a:t>MobileNet</a:t>
            </a:r>
            <a:r>
              <a:rPr lang="pt-BR" sz="2400" dirty="0" smtClean="0"/>
              <a:t>:</a:t>
            </a:r>
            <a:endParaRPr lang="pt-BR" sz="2400" b="1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917" y="3142985"/>
            <a:ext cx="6355445" cy="5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4260471" y="481023"/>
            <a:ext cx="3554459" cy="5465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000" dirty="0" smtClean="0"/>
              <a:t>EXPERIMENTOS</a:t>
            </a:r>
            <a:endParaRPr lang="pt-BR" sz="4000" dirty="0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862122" y="1348855"/>
            <a:ext cx="10727365" cy="4275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pt-BR" sz="2000" dirty="0" err="1"/>
              <a:t>MobileNet</a:t>
            </a:r>
            <a:r>
              <a:rPr lang="pt-BR" sz="2000" dirty="0"/>
              <a:t> vs. </a:t>
            </a:r>
            <a:r>
              <a:rPr lang="pt-BR" sz="2000" dirty="0" err="1"/>
              <a:t>convolução</a:t>
            </a:r>
            <a:r>
              <a:rPr lang="pt-BR" sz="2000" dirty="0"/>
              <a:t> completa: usar </a:t>
            </a:r>
            <a:r>
              <a:rPr lang="pt-BR" sz="2000" dirty="0" err="1"/>
              <a:t>convoluções</a:t>
            </a:r>
            <a:r>
              <a:rPr lang="pt-BR" sz="2000" dirty="0"/>
              <a:t> separáveis reduz a acurácia em apenas ~1% (71,7% → 70,6% no </a:t>
            </a:r>
            <a:r>
              <a:rPr lang="pt-BR" sz="2000" dirty="0" err="1"/>
              <a:t>ImageNet</a:t>
            </a:r>
            <a:r>
              <a:rPr lang="pt-BR" sz="2000" dirty="0"/>
              <a:t>), mas corta </a:t>
            </a:r>
            <a:r>
              <a:rPr lang="pt-BR" sz="2000" dirty="0" err="1"/>
              <a:t>Mult-Adds</a:t>
            </a:r>
            <a:r>
              <a:rPr lang="pt-BR" sz="2000" dirty="0"/>
              <a:t> de 4866M para 569M e parâmetros de 29,3M para 4,2M</a:t>
            </a:r>
            <a:r>
              <a:rPr lang="pt-BR" sz="2000" dirty="0" smtClean="0"/>
              <a:t>.</a:t>
            </a:r>
          </a:p>
          <a:p>
            <a:pPr fontAlgn="base"/>
            <a:r>
              <a:rPr lang="pt-BR" sz="2000" dirty="0" smtClean="0"/>
              <a:t>Redes </a:t>
            </a:r>
            <a:r>
              <a:rPr lang="pt-BR" sz="2000" dirty="0"/>
              <a:t>finas vs. rasas: tornar a rede mais "fina" (</a:t>
            </a:r>
            <a:r>
              <a:rPr lang="pt-BR" sz="2000" dirty="0" err="1"/>
              <a:t>width</a:t>
            </a:r>
            <a:r>
              <a:rPr lang="pt-BR" sz="2000" dirty="0"/>
              <a:t> </a:t>
            </a:r>
            <a:r>
              <a:rPr lang="pt-BR" sz="2000" dirty="0" err="1"/>
              <a:t>multiplier</a:t>
            </a:r>
            <a:r>
              <a:rPr lang="pt-BR" sz="2000" dirty="0"/>
              <a:t>) é 3% melhor em acurácia do que torná-la mais "rasa" (menos camadas), com custo computacional equivalente</a:t>
            </a:r>
            <a:r>
              <a:rPr lang="pt-BR" sz="2000" dirty="0" smtClean="0"/>
              <a:t>.</a:t>
            </a:r>
          </a:p>
          <a:p>
            <a:pPr marL="0" indent="0" algn="ctr" fontAlgn="base">
              <a:buNone/>
            </a:pPr>
            <a:r>
              <a:rPr lang="pt-BR" sz="2000" dirty="0" smtClean="0"/>
              <a:t>Comparação </a:t>
            </a:r>
            <a:r>
              <a:rPr lang="pt-BR" sz="2000" dirty="0"/>
              <a:t>com modelos populares</a:t>
            </a:r>
            <a:r>
              <a:rPr lang="pt-BR" sz="2000" dirty="0" smtClean="0"/>
              <a:t>:</a:t>
            </a:r>
          </a:p>
          <a:p>
            <a:pPr fontAlgn="base"/>
            <a:r>
              <a:rPr lang="pt-BR" sz="2000" dirty="0" smtClean="0"/>
              <a:t>Contra </a:t>
            </a:r>
            <a:r>
              <a:rPr lang="pt-BR" sz="2000" dirty="0"/>
              <a:t>VGG16: acurácia quase equivalente (70,6% vs. 71,5%), mas 32× menor e 27× menos computação</a:t>
            </a:r>
            <a:r>
              <a:rPr lang="pt-BR" sz="2000" dirty="0" smtClean="0"/>
              <a:t>.</a:t>
            </a:r>
          </a:p>
          <a:p>
            <a:pPr fontAlgn="base"/>
            <a:r>
              <a:rPr lang="pt-BR" sz="2000" dirty="0" smtClean="0"/>
              <a:t>Contra </a:t>
            </a:r>
            <a:r>
              <a:rPr lang="pt-BR" sz="2000" dirty="0" err="1"/>
              <a:t>GoogleNet</a:t>
            </a:r>
            <a:r>
              <a:rPr lang="pt-BR" sz="2000" dirty="0"/>
              <a:t>: mais precisa (70,6% vs. 69,8%) e mais eficiente</a:t>
            </a:r>
            <a:r>
              <a:rPr lang="pt-BR" sz="2000" dirty="0" smtClean="0"/>
              <a:t>.</a:t>
            </a:r>
          </a:p>
          <a:p>
            <a:pPr fontAlgn="base"/>
            <a:r>
              <a:rPr lang="pt-BR" sz="2000" dirty="0" smtClean="0"/>
              <a:t>Versão </a:t>
            </a:r>
            <a:r>
              <a:rPr lang="pt-BR" sz="2000" dirty="0"/>
              <a:t>reduzida (0.5 MobileNet-160) supera </a:t>
            </a:r>
            <a:r>
              <a:rPr lang="pt-BR" sz="2000" dirty="0" err="1"/>
              <a:t>AlexNet</a:t>
            </a:r>
            <a:r>
              <a:rPr lang="pt-BR" sz="2000" dirty="0"/>
              <a:t> em 4% de acurácia sendo 45× menor e 9,4× menos custosa; também supera </a:t>
            </a:r>
            <a:r>
              <a:rPr lang="pt-BR" sz="2000" dirty="0" err="1"/>
              <a:t>SqueezeNet</a:t>
            </a:r>
            <a:r>
              <a:rPr lang="pt-BR" sz="2000" dirty="0"/>
              <a:t> em acurácia com 22× menos computação.</a:t>
            </a:r>
            <a:endParaRPr lang="pt-BR" sz="2000" dirty="0" smtClean="0"/>
          </a:p>
        </p:txBody>
      </p:sp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2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23" y="1244507"/>
            <a:ext cx="10515600" cy="4468849"/>
          </a:xfrm>
        </p:spPr>
        <p:txBody>
          <a:bodyPr>
            <a:normAutofit fontScale="85000" lnSpcReduction="20000"/>
          </a:bodyPr>
          <a:lstStyle/>
          <a:p>
            <a:pPr marL="0" indent="0" algn="ctr" fontAlgn="base">
              <a:buNone/>
            </a:pPr>
            <a:r>
              <a:rPr lang="pt-BR" dirty="0"/>
              <a:t>O artigo valida o </a:t>
            </a:r>
            <a:r>
              <a:rPr lang="pt-BR" dirty="0" err="1"/>
              <a:t>MobileNet</a:t>
            </a:r>
            <a:r>
              <a:rPr lang="pt-BR" dirty="0"/>
              <a:t> como extrator de </a:t>
            </a:r>
            <a:r>
              <a:rPr lang="pt-BR" dirty="0" err="1"/>
              <a:t>features</a:t>
            </a:r>
            <a:r>
              <a:rPr lang="pt-BR" dirty="0"/>
              <a:t> </a:t>
            </a:r>
            <a:r>
              <a:rPr lang="pt-BR" dirty="0" smtClean="0"/>
              <a:t>em </a:t>
            </a:r>
            <a:r>
              <a:rPr lang="pt-BR" dirty="0"/>
              <a:t>diversas tarefas</a:t>
            </a:r>
            <a:r>
              <a:rPr lang="pt-BR" dirty="0" smtClean="0"/>
              <a:t>:</a:t>
            </a:r>
          </a:p>
          <a:p>
            <a:pPr fontAlgn="base"/>
            <a:r>
              <a:rPr lang="pt-BR" dirty="0" smtClean="0"/>
              <a:t>Classificação </a:t>
            </a:r>
            <a:r>
              <a:rPr lang="pt-BR" dirty="0"/>
              <a:t>fine-</a:t>
            </a:r>
            <a:r>
              <a:rPr lang="pt-BR" dirty="0" err="1"/>
              <a:t>grained</a:t>
            </a:r>
            <a:r>
              <a:rPr lang="pt-BR" dirty="0"/>
              <a:t> (Stanford Dogs): resultados próximos ao estado da arte (</a:t>
            </a:r>
            <a:r>
              <a:rPr lang="pt-BR" dirty="0" err="1"/>
              <a:t>Inception</a:t>
            </a:r>
            <a:r>
              <a:rPr lang="pt-BR" dirty="0"/>
              <a:t> V3) com muito menos recursos</a:t>
            </a:r>
            <a:r>
              <a:rPr lang="pt-BR" dirty="0" smtClean="0"/>
              <a:t>.</a:t>
            </a:r>
          </a:p>
          <a:p>
            <a:pPr fontAlgn="base"/>
            <a:r>
              <a:rPr lang="pt-BR" dirty="0" err="1" smtClean="0"/>
              <a:t>Geolocalização</a:t>
            </a:r>
            <a:r>
              <a:rPr lang="pt-BR" dirty="0" smtClean="0"/>
              <a:t> </a:t>
            </a:r>
            <a:r>
              <a:rPr lang="pt-BR" dirty="0"/>
              <a:t>em larga escala (</a:t>
            </a:r>
            <a:r>
              <a:rPr lang="pt-BR" dirty="0" err="1"/>
              <a:t>PlaNet</a:t>
            </a:r>
            <a:r>
              <a:rPr lang="pt-BR" dirty="0"/>
              <a:t>): versão </a:t>
            </a:r>
            <a:r>
              <a:rPr lang="pt-BR" dirty="0" err="1"/>
              <a:t>MobileNet</a:t>
            </a:r>
            <a:r>
              <a:rPr lang="pt-BR" dirty="0"/>
              <a:t> do </a:t>
            </a:r>
            <a:r>
              <a:rPr lang="pt-BR" dirty="0" err="1"/>
              <a:t>PlaNet</a:t>
            </a:r>
            <a:r>
              <a:rPr lang="pt-BR" dirty="0"/>
              <a:t> usa apenas 13M parâmetros (vs. 52M do original) com desempenho ligeiramente inferior, mas ainda superando o Im2GPS</a:t>
            </a:r>
            <a:r>
              <a:rPr lang="pt-BR" dirty="0" smtClean="0"/>
              <a:t>.</a:t>
            </a:r>
          </a:p>
          <a:p>
            <a:pPr fontAlgn="base"/>
            <a:r>
              <a:rPr lang="pt-BR" dirty="0" smtClean="0"/>
              <a:t>Atributos </a:t>
            </a:r>
            <a:r>
              <a:rPr lang="pt-BR" dirty="0"/>
              <a:t>faciais: combinado com destilação de conhecimento (</a:t>
            </a:r>
            <a:r>
              <a:rPr lang="pt-BR" dirty="0" err="1"/>
              <a:t>distillation</a:t>
            </a:r>
            <a:r>
              <a:rPr lang="pt-BR" dirty="0"/>
              <a:t>), o </a:t>
            </a:r>
            <a:r>
              <a:rPr lang="pt-BR" dirty="0" err="1"/>
              <a:t>MobileNet</a:t>
            </a:r>
            <a:r>
              <a:rPr lang="pt-BR" dirty="0"/>
              <a:t> reproduz o desempenho de um classificador maior usando apenas 1% dos </a:t>
            </a:r>
            <a:r>
              <a:rPr lang="pt-BR" dirty="0" err="1"/>
              <a:t>Mult-Adds</a:t>
            </a:r>
            <a:r>
              <a:rPr lang="pt-BR" dirty="0" smtClean="0"/>
              <a:t>.</a:t>
            </a:r>
          </a:p>
          <a:p>
            <a:pPr fontAlgn="base"/>
            <a:r>
              <a:rPr lang="pt-BR" dirty="0" smtClean="0"/>
              <a:t>Detecção </a:t>
            </a:r>
            <a:r>
              <a:rPr lang="pt-BR" dirty="0"/>
              <a:t>de objetos (COCO, com frameworks SSD e </a:t>
            </a:r>
            <a:r>
              <a:rPr lang="pt-BR" dirty="0" err="1"/>
              <a:t>Faster</a:t>
            </a:r>
            <a:r>
              <a:rPr lang="pt-BR" dirty="0"/>
              <a:t>-RCNN): desempenho comparável a VGG e </a:t>
            </a:r>
            <a:r>
              <a:rPr lang="pt-BR" dirty="0" err="1"/>
              <a:t>Inception</a:t>
            </a:r>
            <a:r>
              <a:rPr lang="pt-BR" dirty="0"/>
              <a:t> V2 com fração do custo computacional</a:t>
            </a:r>
            <a:r>
              <a:rPr lang="pt-BR" dirty="0" smtClean="0"/>
              <a:t>.</a:t>
            </a:r>
          </a:p>
          <a:p>
            <a:pPr fontAlgn="base"/>
            <a:r>
              <a:rPr lang="pt-BR" dirty="0" err="1" smtClean="0"/>
              <a:t>Embeddings</a:t>
            </a:r>
            <a:r>
              <a:rPr lang="pt-BR" dirty="0" smtClean="0"/>
              <a:t> </a:t>
            </a:r>
            <a:r>
              <a:rPr lang="pt-BR" dirty="0"/>
              <a:t>faciais (destilado do </a:t>
            </a:r>
            <a:r>
              <a:rPr lang="pt-BR" dirty="0" err="1"/>
              <a:t>FaceNet</a:t>
            </a:r>
            <a:r>
              <a:rPr lang="pt-BR" dirty="0"/>
              <a:t>): reduz drasticamente o tamanho mantendo boa acurácia.</a:t>
            </a:r>
            <a:endParaRPr lang="pt-BR" dirty="0" smtClean="0"/>
          </a:p>
        </p:txBody>
      </p:sp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4225" y="322538"/>
            <a:ext cx="5603547" cy="980199"/>
          </a:xfrm>
        </p:spPr>
        <p:txBody>
          <a:bodyPr>
            <a:normAutofit fontScale="90000"/>
          </a:bodyPr>
          <a:lstStyle/>
          <a:p>
            <a:r>
              <a:rPr lang="pt-BR" smtClean="0"/>
              <a:t>Aplicações Demonstradas</a:t>
            </a:r>
            <a:endParaRPr lang="pt-BR" dirty="0"/>
          </a:p>
        </p:txBody>
      </p:sp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26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0"/>
          <p:cNvSpPr/>
          <p:nvPr/>
        </p:nvSpPr>
        <p:spPr>
          <a:xfrm>
            <a:off x="597680" y="25592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ea typeface="MuseoModerno Medium" pitchFamily="34" charset="-122"/>
                <a:cs typeface="MuseoModerno Medium" pitchFamily="34" charset="-120"/>
              </a:rPr>
              <a:t>Reconhecimento Fino: Stanford Dogs Dataset</a:t>
            </a:r>
            <a:endParaRPr lang="en-US" sz="3250" dirty="0"/>
          </a:p>
        </p:txBody>
      </p:sp>
      <p:sp>
        <p:nvSpPr>
          <p:cNvPr id="9" name="Shape 1"/>
          <p:cNvSpPr/>
          <p:nvPr/>
        </p:nvSpPr>
        <p:spPr>
          <a:xfrm>
            <a:off x="478620" y="1683462"/>
            <a:ext cx="5470785" cy="2785749"/>
          </a:xfrm>
          <a:prstGeom prst="roundRect">
            <a:avLst>
              <a:gd name="adj" fmla="val 599"/>
            </a:avLst>
          </a:prstGeom>
          <a:solidFill>
            <a:srgbClr val="325F7B"/>
          </a:solidFill>
          <a:ln/>
        </p:spPr>
      </p:sp>
      <p:sp>
        <p:nvSpPr>
          <p:cNvPr id="10" name="Text 2"/>
          <p:cNvSpPr/>
          <p:nvPr/>
        </p:nvSpPr>
        <p:spPr>
          <a:xfrm>
            <a:off x="643915" y="184876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Desafio e Estratégia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643915" y="2272523"/>
            <a:ext cx="5140196" cy="147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Tarefa: classificação de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120 raças de cães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— exige discriminação de características extremamente sutis entre classes visualmente similares.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Estratégia: pré-treino com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dados ruidosos da web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+ fine-tuning no Stanford Dogs. Os dados web introduzem variabilidade que melhora generalização mesmo contendo ruído.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109" y="1206742"/>
            <a:ext cx="5232666" cy="3766542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597680" y="5262754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325E7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4" y="5502467"/>
            <a:ext cx="206667" cy="165298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134936" y="5469328"/>
            <a:ext cx="1033783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chemeClr val="bg1"/>
                </a:solidFill>
                <a:ea typeface="Source Sans 3" pitchFamily="34" charset="-122"/>
                <a:cs typeface="Source Sans 3" pitchFamily="34" charset="-120"/>
              </a:rPr>
              <a:t>1.0 MobileNet-224 atinge </a:t>
            </a:r>
            <a:r>
              <a:rPr lang="en-US" sz="1300" b="1" dirty="0">
                <a:solidFill>
                  <a:schemeClr val="bg1"/>
                </a:solidFill>
                <a:ea typeface="Source Sans 3 Bold" pitchFamily="34" charset="-122"/>
                <a:cs typeface="Source Sans 3 Bold" pitchFamily="34" charset="-120"/>
              </a:rPr>
              <a:t>83.3% Top-1</a:t>
            </a:r>
            <a:r>
              <a:rPr lang="en-US" sz="1300" dirty="0">
                <a:solidFill>
                  <a:schemeClr val="bg1"/>
                </a:solidFill>
                <a:ea typeface="Source Sans 3" pitchFamily="34" charset="-122"/>
                <a:cs typeface="Source Sans 3" pitchFamily="34" charset="-120"/>
              </a:rPr>
              <a:t> — quase estado da arte — com </a:t>
            </a:r>
            <a:r>
              <a:rPr lang="en-US" sz="1300" b="1" dirty="0">
                <a:solidFill>
                  <a:schemeClr val="bg1"/>
                </a:solidFill>
                <a:ea typeface="Source Sans 3 Bold" pitchFamily="34" charset="-122"/>
                <a:cs typeface="Source Sans 3 Bold" pitchFamily="34" charset="-120"/>
              </a:rPr>
              <a:t>8.8× menos computação</a:t>
            </a:r>
            <a:r>
              <a:rPr lang="en-US" sz="1300" dirty="0">
                <a:solidFill>
                  <a:schemeClr val="bg1"/>
                </a:solidFill>
                <a:ea typeface="Source Sans 3" pitchFamily="34" charset="-122"/>
                <a:cs typeface="Source Sans 3" pitchFamily="34" charset="-120"/>
              </a:rPr>
              <a:t> que o Inception V3 (569M vs. 5000M Mult-Adds).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14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661475" y="694829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ea typeface="MuseoModerno Medium" pitchFamily="34" charset="-122"/>
                <a:cs typeface="MuseoModerno Medium" pitchFamily="34" charset="-120"/>
              </a:rPr>
              <a:t>Geolocalização em Larga Escala: PlaNet com MobileNet</a:t>
            </a:r>
            <a:endParaRPr lang="en-US" sz="3150" dirty="0"/>
          </a:p>
        </p:txBody>
      </p:sp>
      <p:sp>
        <p:nvSpPr>
          <p:cNvPr id="17" name="Text 1"/>
          <p:cNvSpPr/>
          <p:nvPr/>
        </p:nvSpPr>
        <p:spPr>
          <a:xfrm>
            <a:off x="661475" y="1583432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O Problema PlaNet</a:t>
            </a:r>
            <a:endParaRPr lang="en-US" sz="1550" dirty="0"/>
          </a:p>
        </p:txBody>
      </p:sp>
      <p:sp>
        <p:nvSpPr>
          <p:cNvPr id="18" name="Text 2"/>
          <p:cNvSpPr/>
          <p:nvPr/>
        </p:nvSpPr>
        <p:spPr>
          <a:xfrm>
            <a:off x="661475" y="1988939"/>
            <a:ext cx="5238917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PlaNet determina a </a:t>
            </a:r>
            <a:r>
              <a:rPr lang="en-US" sz="125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localização geográfica de fotos</a:t>
            </a:r>
            <a:r>
              <a:rPr lang="en-US" sz="125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como problema de classificação — divide o globo em células geográficas e prevê em qual célula a foto foi tirada. Um dos problemas de classificação mais desafiadores em visão computacional.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278300"/>
              </p:ext>
            </p:extLst>
          </p:nvPr>
        </p:nvGraphicFramePr>
        <p:xfrm>
          <a:off x="661475" y="3172718"/>
          <a:ext cx="5238918" cy="1366108"/>
        </p:xfrm>
        <a:graphic>
          <a:graphicData uri="http://schemas.openxmlformats.org/drawingml/2006/table">
            <a:tbl>
              <a:tblPr/>
              <a:tblGrid>
                <a:gridCol w="1746306"/>
                <a:gridCol w="1746306"/>
                <a:gridCol w="1746306"/>
              </a:tblGrid>
              <a:tr h="454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Modelo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Params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Mult-Adds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574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PlaNet (Inception V3)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52M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5.74B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54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PlaNet MobileNet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13M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0.58B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</a:tbl>
          </a:graphicData>
        </a:graphic>
      </p:graphicFrame>
      <p:sp>
        <p:nvSpPr>
          <p:cNvPr id="20" name="Shape 3"/>
          <p:cNvSpPr/>
          <p:nvPr/>
        </p:nvSpPr>
        <p:spPr>
          <a:xfrm>
            <a:off x="6182265" y="1428254"/>
            <a:ext cx="5469694" cy="4055666"/>
          </a:xfrm>
          <a:prstGeom prst="roundRect">
            <a:avLst>
              <a:gd name="adj" fmla="val 593"/>
            </a:avLst>
          </a:prstGeom>
          <a:solidFill>
            <a:srgbClr val="325F7B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400" y="1602780"/>
            <a:ext cx="5149424" cy="3706614"/>
          </a:xfrm>
          <a:prstGeom prst="rect">
            <a:avLst/>
          </a:prstGeom>
        </p:spPr>
      </p:pic>
      <p:sp>
        <p:nvSpPr>
          <p:cNvPr id="22" name="Text 4"/>
          <p:cNvSpPr/>
          <p:nvPr/>
        </p:nvSpPr>
        <p:spPr>
          <a:xfrm>
            <a:off x="661475" y="5658445"/>
            <a:ext cx="10868745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MobileNet é </a:t>
            </a:r>
            <a:r>
              <a:rPr lang="en-US" sz="125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~10× mais compacto</a:t>
            </a:r>
            <a:r>
              <a:rPr lang="en-US" sz="125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que o PlaNet original e ainda </a:t>
            </a:r>
            <a:r>
              <a:rPr lang="en-US" sz="125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supera o modelo base em nível continental</a:t>
            </a:r>
            <a:r>
              <a:rPr lang="en-US" sz="125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(79.3% vs. 77.6%). Ambos superam Im2GPS por larga margem em todas as escalas geográficas.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6109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650842" y="24529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ea typeface="MuseoModerno Medium" pitchFamily="34" charset="-122"/>
                <a:cs typeface="MuseoModerno Medium" pitchFamily="34" charset="-120"/>
              </a:rPr>
              <a:t>Atributos Faciais: MobileNet + Destilação</a:t>
            </a:r>
            <a:endParaRPr lang="en-US" sz="3250" dirty="0"/>
          </a:p>
        </p:txBody>
      </p:sp>
      <p:sp>
        <p:nvSpPr>
          <p:cNvPr id="11" name="Shape 1"/>
          <p:cNvSpPr/>
          <p:nvPr/>
        </p:nvSpPr>
        <p:spPr>
          <a:xfrm>
            <a:off x="531782" y="1010075"/>
            <a:ext cx="5470785" cy="4138612"/>
          </a:xfrm>
          <a:prstGeom prst="roundRect">
            <a:avLst>
              <a:gd name="adj" fmla="val 599"/>
            </a:avLst>
          </a:prstGeom>
          <a:solidFill>
            <a:srgbClr val="325F7B"/>
          </a:solidFill>
          <a:ln/>
        </p:spPr>
      </p:sp>
      <p:sp>
        <p:nvSpPr>
          <p:cNvPr id="12" name="Text 2"/>
          <p:cNvSpPr/>
          <p:nvPr/>
        </p:nvSpPr>
        <p:spPr>
          <a:xfrm>
            <a:off x="697077" y="117537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Configuração do Experimento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697077" y="1599136"/>
            <a:ext cx="5140196" cy="214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Objetivo: comprimir classificador de atributos faciais com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75M parâmetros e 1600M Mult-Adds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A destilação permite treinar o MobileNet para imitar as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saídas do modelo grande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em vez dos ground-truth labels — viabilizando uso de datasets não rotulados em escala.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Sem necessidade de weight decay ou early stopping — o modelo é resiliente à compressão agressiva.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271" y="1196110"/>
            <a:ext cx="5232666" cy="3766542"/>
          </a:xfrm>
          <a:prstGeom prst="rect">
            <a:avLst/>
          </a:prstGeom>
        </p:spPr>
      </p:pic>
      <p:sp>
        <p:nvSpPr>
          <p:cNvPr id="15" name="Shape 4"/>
          <p:cNvSpPr/>
          <p:nvPr/>
        </p:nvSpPr>
        <p:spPr>
          <a:xfrm>
            <a:off x="650842" y="5334722"/>
            <a:ext cx="10868745" cy="661293"/>
          </a:xfrm>
          <a:prstGeom prst="roundRect">
            <a:avLst>
              <a:gd name="adj" fmla="val 3752"/>
            </a:avLst>
          </a:prstGeom>
          <a:solidFill>
            <a:schemeClr val="tx2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36" y="5574435"/>
            <a:ext cx="206667" cy="165298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1188098" y="5541296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ea typeface="Source Sans 3 Bold" pitchFamily="34" charset="-122"/>
                <a:cs typeface="Source Sans 3 Bold" pitchFamily="34" charset="-120"/>
              </a:rPr>
              <a:t>0.25 MobileNet-128</a:t>
            </a:r>
            <a:r>
              <a:rPr lang="en-US" sz="1300" dirty="0">
                <a:solidFill>
                  <a:schemeClr val="bg1"/>
                </a:solidFill>
                <a:ea typeface="Source Sans 3" pitchFamily="34" charset="-122"/>
                <a:cs typeface="Source Sans 3" pitchFamily="34" charset="-120"/>
              </a:rPr>
              <a:t> mantém 86.4% Mean AP com apenas </a:t>
            </a:r>
            <a:r>
              <a:rPr lang="en-US" sz="1300" b="1" dirty="0">
                <a:solidFill>
                  <a:schemeClr val="bg1"/>
                </a:solidFill>
                <a:ea typeface="Source Sans 3 Bold" pitchFamily="34" charset="-122"/>
                <a:cs typeface="Source Sans 3 Bold" pitchFamily="34" charset="-120"/>
              </a:rPr>
              <a:t>15M Mult-Adds — menos de 1% do custo computacional do baseline original</a:t>
            </a:r>
            <a:r>
              <a:rPr lang="en-US" sz="1300" dirty="0">
                <a:solidFill>
                  <a:schemeClr val="bg1"/>
                </a:solidFill>
                <a:ea typeface="Source Sans 3" pitchFamily="34" charset="-122"/>
                <a:cs typeface="Source Sans 3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77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629577" y="191873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ea typeface="MuseoModerno Medium" pitchFamily="34" charset="-122"/>
                <a:cs typeface="MuseoModerno Medium" pitchFamily="34" charset="-120"/>
              </a:rPr>
              <a:t>Detecção de Objetos: MobileNet SSD e Faster-RCNN</a:t>
            </a:r>
            <a:endParaRPr lang="en-US" sz="30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758" y="676358"/>
            <a:ext cx="3852683" cy="252051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629577" y="3053937"/>
            <a:ext cx="524526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Avaliação no COCO Dataset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536149"/>
              </p:ext>
            </p:extLst>
          </p:nvPr>
        </p:nvGraphicFramePr>
        <p:xfrm>
          <a:off x="629577" y="3459642"/>
          <a:ext cx="5245266" cy="2402821"/>
        </p:xfrm>
        <a:graphic>
          <a:graphicData uri="http://schemas.openxmlformats.org/drawingml/2006/table">
            <a:tbl>
              <a:tblPr/>
              <a:tblGrid>
                <a:gridCol w="1748422"/>
                <a:gridCol w="1748422"/>
                <a:gridCol w="1748422"/>
              </a:tblGrid>
              <a:tr h="4305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Modelo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mAP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Mult-Adds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3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MobileNet SSD 300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19.3%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1.2B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3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VGG SSD 300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23.2%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34.9B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6740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MobileNet Faster-RCNN 600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19.8%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30.5B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305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VGG Faster-RCNN 600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22.9%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149.6B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</a:tbl>
          </a:graphicData>
        </a:graphic>
      </p:graphicFrame>
      <p:sp>
        <p:nvSpPr>
          <p:cNvPr id="20" name="Shape 2"/>
          <p:cNvSpPr/>
          <p:nvPr/>
        </p:nvSpPr>
        <p:spPr>
          <a:xfrm>
            <a:off x="6126522" y="3454765"/>
            <a:ext cx="5468503" cy="2407698"/>
          </a:xfrm>
          <a:prstGeom prst="roundRect">
            <a:avLst>
              <a:gd name="adj" fmla="val 743"/>
            </a:avLst>
          </a:prstGeom>
          <a:solidFill>
            <a:srgbClr val="325F7B"/>
          </a:solidFill>
          <a:ln/>
        </p:spPr>
      </p:sp>
      <p:sp>
        <p:nvSpPr>
          <p:cNvPr id="21" name="Text 3"/>
          <p:cNvSpPr/>
          <p:nvPr/>
        </p:nvSpPr>
        <p:spPr>
          <a:xfrm>
            <a:off x="6281498" y="3600120"/>
            <a:ext cx="515855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Análise de Eficiência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6281498" y="3987668"/>
            <a:ext cx="5158551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MobileNet SSD 300 atinge resultados comparáveis com </a:t>
            </a:r>
            <a:r>
              <a:rPr lang="en-US" sz="12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29× menos computação</a:t>
            </a:r>
            <a:r>
              <a:rPr lang="en-US" sz="12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que o VGG-SSD (1.2B vs. 34.9B Mult-Adds).</a:t>
            </a:r>
            <a:endParaRPr lang="en-US" sz="12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O framework SSD revela-se particularmente adequado para o MobileNet — a arquitetura leve combina bem com a estratégia de detecção em múltiplas escalas do SSD.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4171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640210" y="2793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ea typeface="MuseoModerno Medium" pitchFamily="34" charset="-122"/>
                <a:cs typeface="MuseoModerno Medium" pitchFamily="34" charset="-120"/>
              </a:rPr>
              <a:t>Reconhecimento Facial: FaceNet Destilado</a:t>
            </a:r>
            <a:endParaRPr lang="en-US" sz="3250" dirty="0"/>
          </a:p>
        </p:txBody>
      </p:sp>
      <p:sp>
        <p:nvSpPr>
          <p:cNvPr id="11" name="Shape 1"/>
          <p:cNvSpPr/>
          <p:nvPr/>
        </p:nvSpPr>
        <p:spPr>
          <a:xfrm>
            <a:off x="521150" y="1766464"/>
            <a:ext cx="5470785" cy="2847358"/>
          </a:xfrm>
          <a:prstGeom prst="roundRect">
            <a:avLst>
              <a:gd name="adj" fmla="val 599"/>
            </a:avLst>
          </a:prstGeom>
          <a:solidFill>
            <a:srgbClr val="325F7B"/>
          </a:solidFill>
          <a:ln/>
        </p:spPr>
      </p:sp>
      <p:sp>
        <p:nvSpPr>
          <p:cNvPr id="12" name="Text 2"/>
          <p:cNvSpPr/>
          <p:nvPr/>
        </p:nvSpPr>
        <p:spPr>
          <a:xfrm>
            <a:off x="686445" y="193176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FaceNet e Destilação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686445" y="2355526"/>
            <a:ext cx="5140196" cy="147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FaceNet: modelo estado da arte baseado em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triplet loss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— 1600M Mult-Adds, 7.5M parâmetros. MobileNet treinado por destilação minimizando a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diferença quadrática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das saídas do FaceNet nos dados de treino.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Objetivo: viabilizar reconhecimento facial de alta qualidade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diretamente no dispositivo móvel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, sem necessidade de chamada a servidor.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639" y="1230193"/>
            <a:ext cx="5232666" cy="3766542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640210" y="5368806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0.75 MobileNet-128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atinge 72.5% de acurácia com apenas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108M Mult-Adds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—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14.8× menos computação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que o FaceNet original, mantendo desempenho útil para aplicações on-device.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3328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0"/>
          <p:cNvSpPr/>
          <p:nvPr/>
        </p:nvSpPr>
        <p:spPr>
          <a:xfrm>
            <a:off x="693372" y="400625"/>
            <a:ext cx="153946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smtClean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Insights</a:t>
            </a:r>
            <a:endParaRPr lang="en-US" sz="32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93372" y="1248053"/>
            <a:ext cx="3512653" cy="2314079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953914" y="1432401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GEMM sem im2col</a:t>
            </a:r>
            <a:endParaRPr lang="en-US" sz="1600" dirty="0"/>
          </a:p>
        </p:txBody>
      </p:sp>
      <p:sp>
        <p:nvSpPr>
          <p:cNvPr id="18" name="Text 2"/>
          <p:cNvSpPr/>
          <p:nvPr/>
        </p:nvSpPr>
        <p:spPr>
          <a:xfrm>
            <a:off x="953914" y="1790085"/>
            <a:ext cx="306776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Convoluções 1×1 não precisam de reordenamento de memória — implementação direta com GEMM, um dos algoritmos de álgebra linear numérica mais otimizados disponíveis em hardware moderno.</a:t>
            </a:r>
            <a:endParaRPr lang="en-US" sz="13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371319" y="1248053"/>
            <a:ext cx="3512752" cy="2314079"/>
          </a:xfrm>
          <a:prstGeom prst="rect">
            <a:avLst/>
          </a:prstGeom>
        </p:spPr>
      </p:pic>
      <p:sp>
        <p:nvSpPr>
          <p:cNvPr id="20" name="Text 3"/>
          <p:cNvSpPr/>
          <p:nvPr/>
        </p:nvSpPr>
        <p:spPr>
          <a:xfrm>
            <a:off x="4631861" y="1432401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Concentração de Computação</a:t>
            </a:r>
            <a:endParaRPr lang="en-US" sz="1600" dirty="0"/>
          </a:p>
        </p:txBody>
      </p:sp>
      <p:sp>
        <p:nvSpPr>
          <p:cNvPr id="21" name="Text 4"/>
          <p:cNvSpPr/>
          <p:nvPr/>
        </p:nvSpPr>
        <p:spPr>
          <a:xfrm>
            <a:off x="4631861" y="1790085"/>
            <a:ext cx="30678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95% do tempo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em convoluções 1×1 — cria um único ponto de otimização. Ao contrário de arquiteturas heterogêneas, o esforço de otimização de hardware é altamente focado.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049365" y="1248053"/>
            <a:ext cx="3512653" cy="2314079"/>
          </a:xfrm>
          <a:prstGeom prst="rect">
            <a:avLst/>
          </a:prstGeom>
        </p:spPr>
      </p:pic>
      <p:sp>
        <p:nvSpPr>
          <p:cNvPr id="23" name="Text 5"/>
          <p:cNvSpPr/>
          <p:nvPr/>
        </p:nvSpPr>
        <p:spPr>
          <a:xfrm>
            <a:off x="8309907" y="1432401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Profundidade Preservada</a:t>
            </a:r>
            <a:endParaRPr lang="en-US" sz="1600" dirty="0"/>
          </a:p>
        </p:txBody>
      </p:sp>
      <p:sp>
        <p:nvSpPr>
          <p:cNvPr id="24" name="Text 6"/>
          <p:cNvSpPr/>
          <p:nvPr/>
        </p:nvSpPr>
        <p:spPr>
          <a:xfrm>
            <a:off x="8309907" y="1790085"/>
            <a:ext cx="306776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Manter profundidade (vs. reduzir largura) é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3% melhor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— hierarquia de features é essencial. Representações de alto nível requerem múltiplos estágios de abstração.</a:t>
            </a:r>
            <a:endParaRPr lang="en-US" sz="13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93372" y="3727430"/>
            <a:ext cx="3512653" cy="2049463"/>
          </a:xfrm>
          <a:prstGeom prst="rect">
            <a:avLst/>
          </a:prstGeom>
        </p:spPr>
      </p:pic>
      <p:sp>
        <p:nvSpPr>
          <p:cNvPr id="26" name="Text 7"/>
          <p:cNvSpPr/>
          <p:nvPr/>
        </p:nvSpPr>
        <p:spPr>
          <a:xfrm>
            <a:off x="953914" y="3911779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Regularização Mínima</a:t>
            </a:r>
            <a:endParaRPr lang="en-US" sz="1600" dirty="0"/>
          </a:p>
        </p:txBody>
      </p:sp>
      <p:sp>
        <p:nvSpPr>
          <p:cNvPr id="27" name="Text 8"/>
          <p:cNvSpPr/>
          <p:nvPr/>
        </p:nvSpPr>
        <p:spPr>
          <a:xfrm>
            <a:off x="953914" y="4269462"/>
            <a:ext cx="3067767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Modelos pequenos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não sofrem de overfitting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— menos data augmentation necessário. Isso simplifica o pipeline de treinamento e torna reprodução mais acessível.</a:t>
            </a:r>
            <a:endParaRPr lang="en-US" sz="13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371319" y="3727430"/>
            <a:ext cx="3512752" cy="2049463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4631861" y="3911779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Destilação Sinérgica</a:t>
            </a:r>
            <a:endParaRPr lang="en-US" sz="1600" dirty="0"/>
          </a:p>
        </p:txBody>
      </p:sp>
      <p:sp>
        <p:nvSpPr>
          <p:cNvPr id="30" name="Text 10"/>
          <p:cNvSpPr/>
          <p:nvPr/>
        </p:nvSpPr>
        <p:spPr>
          <a:xfrm>
            <a:off x="4631861" y="4269462"/>
            <a:ext cx="306786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Combinar MobileNet com knowledge distillation amplifica eficiência sem perda significativa. Atributos faciais: 0.25 MobileNet-128 supera baseline com 1% do custo computacional.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9944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714638" y="90033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Limitações e Considerações</a:t>
            </a:r>
            <a:endParaRPr lang="en-US" sz="3250" dirty="0"/>
          </a:p>
        </p:txBody>
      </p:sp>
      <p:sp>
        <p:nvSpPr>
          <p:cNvPr id="8" name="Shape 1"/>
          <p:cNvSpPr/>
          <p:nvPr/>
        </p:nvSpPr>
        <p:spPr>
          <a:xfrm>
            <a:off x="595578" y="1665110"/>
            <a:ext cx="5470785" cy="3144143"/>
          </a:xfrm>
          <a:prstGeom prst="roundRect">
            <a:avLst>
              <a:gd name="adj" fmla="val 789"/>
            </a:avLst>
          </a:prstGeom>
          <a:solidFill>
            <a:srgbClr val="325F7B"/>
          </a:solidFill>
          <a:ln/>
        </p:spPr>
      </p:sp>
      <p:sp>
        <p:nvSpPr>
          <p:cNvPr id="9" name="Text 2"/>
          <p:cNvSpPr/>
          <p:nvPr/>
        </p:nvSpPr>
        <p:spPr>
          <a:xfrm>
            <a:off x="760873" y="183040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Limitações Técnicas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760873" y="2254172"/>
            <a:ext cx="5140196" cy="249723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Queda abrupta em α=0.25: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modelos muito pequenos sofrem colapso de acurácia — limite prático de compressão irrecuperável pela simples redução de largura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Operações esparsas: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matrizes esparsas não são mais rápidas que densas até altíssima esparsidade — limita abordagens de pruning como complemento ao MobileNet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Treinamento do zero: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width multiplier requer retreinamento completo — não é um ajuste pós-treinamento aplicável a modelos já treinados</a:t>
            </a:r>
            <a:endParaRPr lang="en-US" sz="1300" dirty="0"/>
          </a:p>
        </p:txBody>
      </p:sp>
      <p:sp>
        <p:nvSpPr>
          <p:cNvPr id="11" name="Text 4"/>
          <p:cNvSpPr/>
          <p:nvPr/>
        </p:nvSpPr>
        <p:spPr>
          <a:xfrm>
            <a:off x="6357067" y="183040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Gaps de Desempenho por Aplicação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6357067" y="2254172"/>
            <a:ext cx="5232666" cy="1968004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Detecção de objetos: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gap de mAP em relação ao VGG/Inception em frameworks Faster-RCNN (19.8% vs. 22.9% de mAP) — custo de eficiência real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Geolocalização regional: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PlaNet MobileNet perde para o original em escalas menores — cidade (31.7% = empate) e região (45.2% vs. 51.1%)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FaceNet destilado: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gap de 3.6 pontos percentuais vs. FaceNet original mesmo no melhor modelo MobileNet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4857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650842" y="170504"/>
            <a:ext cx="5198039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ea typeface="MuseoModerno Medium" pitchFamily="34" charset="-122"/>
                <a:cs typeface="MuseoModerno Medium" pitchFamily="34" charset="-120"/>
              </a:rPr>
              <a:t>Impacto e Legado do MobileNet</a:t>
            </a:r>
            <a:endParaRPr lang="en-US" sz="3100" dirty="0"/>
          </a:p>
        </p:txBody>
      </p:sp>
      <p:sp>
        <p:nvSpPr>
          <p:cNvPr id="8" name="Shape 1"/>
          <p:cNvSpPr/>
          <p:nvPr/>
        </p:nvSpPr>
        <p:spPr>
          <a:xfrm>
            <a:off x="650842" y="2422968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9D4C9"/>
          </a:solidFill>
          <a:ln/>
        </p:spPr>
      </p:sp>
      <p:sp>
        <p:nvSpPr>
          <p:cNvPr id="9" name="Shape 2"/>
          <p:cNvSpPr/>
          <p:nvPr/>
        </p:nvSpPr>
        <p:spPr>
          <a:xfrm>
            <a:off x="2758691" y="1950091"/>
            <a:ext cx="19050" cy="472877"/>
          </a:xfrm>
          <a:prstGeom prst="roundRect">
            <a:avLst>
              <a:gd name="adj" fmla="val 49999"/>
            </a:avLst>
          </a:prstGeom>
          <a:solidFill>
            <a:srgbClr val="D9D4C9"/>
          </a:solidFill>
          <a:ln/>
        </p:spPr>
      </p:sp>
      <p:sp>
        <p:nvSpPr>
          <p:cNvPr id="10" name="Shape 3"/>
          <p:cNvSpPr/>
          <p:nvPr/>
        </p:nvSpPr>
        <p:spPr>
          <a:xfrm>
            <a:off x="2590917" y="2245664"/>
            <a:ext cx="354599" cy="354608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11" name="Text 4"/>
          <p:cNvSpPr/>
          <p:nvPr/>
        </p:nvSpPr>
        <p:spPr>
          <a:xfrm>
            <a:off x="2650000" y="2275182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1850" dirty="0"/>
          </a:p>
        </p:txBody>
      </p:sp>
      <p:sp>
        <p:nvSpPr>
          <p:cNvPr id="12" name="Text 5"/>
          <p:cNvSpPr/>
          <p:nvPr/>
        </p:nvSpPr>
        <p:spPr>
          <a:xfrm>
            <a:off x="808397" y="963559"/>
            <a:ext cx="39197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MobileNet V1 (2017)</a:t>
            </a:r>
            <a:endParaRPr lang="en-US" sz="1550" dirty="0"/>
          </a:p>
        </p:txBody>
      </p:sp>
      <p:sp>
        <p:nvSpPr>
          <p:cNvPr id="13" name="Text 6"/>
          <p:cNvSpPr/>
          <p:nvPr/>
        </p:nvSpPr>
        <p:spPr>
          <a:xfrm>
            <a:off x="808397" y="1299911"/>
            <a:ext cx="3919737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Estabelece convoluções separáveis em profundidade como padrão. Hiperparâmetros α e ρ como framework de design.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969924" y="2422968"/>
            <a:ext cx="19050" cy="472877"/>
          </a:xfrm>
          <a:prstGeom prst="roundRect">
            <a:avLst>
              <a:gd name="adj" fmla="val 49999"/>
            </a:avLst>
          </a:prstGeom>
          <a:solidFill>
            <a:srgbClr val="D9D4C9"/>
          </a:solidFill>
          <a:ln/>
        </p:spPr>
      </p:sp>
      <p:sp>
        <p:nvSpPr>
          <p:cNvPr id="15" name="Shape 8"/>
          <p:cNvSpPr/>
          <p:nvPr/>
        </p:nvSpPr>
        <p:spPr>
          <a:xfrm>
            <a:off x="4802150" y="2245664"/>
            <a:ext cx="354599" cy="354608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16" name="Text 9"/>
          <p:cNvSpPr/>
          <p:nvPr/>
        </p:nvSpPr>
        <p:spPr>
          <a:xfrm>
            <a:off x="4861233" y="2275182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3019630" y="3053503"/>
            <a:ext cx="39197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MobileNetV2 (2018)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3019630" y="3389855"/>
            <a:ext cx="3919737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Inverted Residuals e Linear Bottlenecks. Elimina não-linearidades nas camadas de baixa dimensão.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7181257" y="1950091"/>
            <a:ext cx="19050" cy="472877"/>
          </a:xfrm>
          <a:prstGeom prst="roundRect">
            <a:avLst>
              <a:gd name="adj" fmla="val 49999"/>
            </a:avLst>
          </a:prstGeom>
          <a:solidFill>
            <a:srgbClr val="D9D4C9"/>
          </a:solidFill>
          <a:ln/>
        </p:spPr>
      </p:sp>
      <p:sp>
        <p:nvSpPr>
          <p:cNvPr id="20" name="Shape 13"/>
          <p:cNvSpPr/>
          <p:nvPr/>
        </p:nvSpPr>
        <p:spPr>
          <a:xfrm>
            <a:off x="7013482" y="2245664"/>
            <a:ext cx="354599" cy="354608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21" name="Text 14"/>
          <p:cNvSpPr/>
          <p:nvPr/>
        </p:nvSpPr>
        <p:spPr>
          <a:xfrm>
            <a:off x="7072565" y="2275182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5230962" y="963559"/>
            <a:ext cx="39197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MobileNetV3 (2019)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5230962" y="1299911"/>
            <a:ext cx="3919737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NAS (Neural Architecture Search) + Squeeze-and-Excitation blocks. Hard-swish activation para eficiência em hardware.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9392490" y="2422968"/>
            <a:ext cx="19050" cy="472877"/>
          </a:xfrm>
          <a:prstGeom prst="roundRect">
            <a:avLst>
              <a:gd name="adj" fmla="val 49999"/>
            </a:avLst>
          </a:prstGeom>
          <a:solidFill>
            <a:srgbClr val="D9D4C9"/>
          </a:solidFill>
          <a:ln/>
        </p:spPr>
      </p:sp>
      <p:sp>
        <p:nvSpPr>
          <p:cNvPr id="25" name="Shape 18"/>
          <p:cNvSpPr/>
          <p:nvPr/>
        </p:nvSpPr>
        <p:spPr>
          <a:xfrm>
            <a:off x="9224715" y="2245664"/>
            <a:ext cx="354599" cy="354608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26" name="Text 19"/>
          <p:cNvSpPr/>
          <p:nvPr/>
        </p:nvSpPr>
        <p:spPr>
          <a:xfrm>
            <a:off x="9283798" y="2275182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7442195" y="3053503"/>
            <a:ext cx="39197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EfficientNet (2019)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7442195" y="3389855"/>
            <a:ext cx="3919737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Compound scaling de largura, profundidade e resolução — inspirado diretamente nos hiperparâmetros α e ρ do MobileNet.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37338" y="4297607"/>
            <a:ext cx="5469098" cy="1666875"/>
          </a:xfrm>
          <a:prstGeom prst="roundRect">
            <a:avLst>
              <a:gd name="adj" fmla="val 1419"/>
            </a:avLst>
          </a:prstGeom>
          <a:solidFill>
            <a:srgbClr val="325F7B"/>
          </a:solidFill>
          <a:ln/>
        </p:spPr>
      </p:sp>
      <p:sp>
        <p:nvSpPr>
          <p:cNvPr id="30" name="Text 23"/>
          <p:cNvSpPr/>
          <p:nvPr/>
        </p:nvSpPr>
        <p:spPr>
          <a:xfrm>
            <a:off x="694894" y="4447824"/>
            <a:ext cx="515398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Democratização da Visão Computacional</a:t>
            </a:r>
            <a:endParaRPr lang="en-US" sz="1550" dirty="0"/>
          </a:p>
        </p:txBody>
      </p:sp>
      <p:sp>
        <p:nvSpPr>
          <p:cNvPr id="31" name="Text 24"/>
          <p:cNvSpPr/>
          <p:nvPr/>
        </p:nvSpPr>
        <p:spPr>
          <a:xfrm>
            <a:off x="694894" y="4844302"/>
            <a:ext cx="5153987" cy="985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MobileNets democratizaram visão computacional em dispositivos de borda: </a:t>
            </a:r>
            <a:r>
              <a:rPr lang="en-US" sz="12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smartphones, câmeras IoT, drones</a:t>
            </a:r>
            <a:r>
              <a:rPr lang="en-US" sz="12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— tornando inteligência artificial acessível sem dependência de infraestrutura de nuvem. Modelos publicados no TensorFlow impulsionaram adoção massiva na comunidade.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283845" y="4447824"/>
            <a:ext cx="52420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Framework Duradouro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6283845" y="4844302"/>
            <a:ext cx="5242092" cy="985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O framework de dois hiperparâmetros (α, ρ) tornou-se </a:t>
            </a:r>
            <a:r>
              <a:rPr lang="en-US" sz="12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referência padrão</a:t>
            </a:r>
            <a:r>
              <a:rPr lang="en-US" sz="12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para design de redes eficientes. A intuição de separar filtragem e combinação de canais permanece central em arquiteturas modernas de visão computacional eficiente.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4124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979DAB9-0612-F0CD-7BB1-AF52B98B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851" y="1024345"/>
            <a:ext cx="6627567" cy="959178"/>
          </a:xfrm>
        </p:spPr>
        <p:txBody>
          <a:bodyPr/>
          <a:lstStyle/>
          <a:p>
            <a:r>
              <a:rPr lang="pt-BR" dirty="0" smtClean="0"/>
              <a:t>Reprodução do experimento</a:t>
            </a:r>
            <a:endParaRPr lang="pt-BR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4118299"/>
              </p:ext>
            </p:extLst>
          </p:nvPr>
        </p:nvGraphicFramePr>
        <p:xfrm>
          <a:off x="1688804" y="2261560"/>
          <a:ext cx="7933660" cy="2016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2740"/>
                <a:gridCol w="682942"/>
                <a:gridCol w="1518285"/>
                <a:gridCol w="2079816"/>
                <a:gridCol w="2289877"/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UTILIZANDO O CIFAR-10</a:t>
                      </a:r>
                      <a:endParaRPr lang="pt-B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ALPHA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MAC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PARAMETROS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ACURÁCIA CIFAR-10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ACURÁCIA IMAGENET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 smtClean="0"/>
                        <a:t>(PAPER)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1.00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104.3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3.22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77,2%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70,6%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0.50</a:t>
                      </a:r>
                      <a:endParaRPr lang="pt-B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27.4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0.82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72,3%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63,7%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0.25</a:t>
                      </a:r>
                      <a:endParaRPr lang="pt-B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7.5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0.22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63,6%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50,6%</a:t>
                      </a:r>
                      <a:endParaRPr lang="pt-BR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98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629577" y="656958"/>
            <a:ext cx="7950897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ea typeface="MuseoModerno Medium" pitchFamily="34" charset="-122"/>
                <a:cs typeface="MuseoModerno Medium" pitchFamily="34" charset="-120"/>
              </a:rPr>
              <a:t>Conclusão: Inteligência Eficiente no Dispositivo</a:t>
            </a:r>
            <a:endParaRPr lang="en-US" sz="3250" dirty="0"/>
          </a:p>
        </p:txBody>
      </p:sp>
      <p:sp>
        <p:nvSpPr>
          <p:cNvPr id="8" name="Text 1"/>
          <p:cNvSpPr/>
          <p:nvPr/>
        </p:nvSpPr>
        <p:spPr>
          <a:xfrm>
            <a:off x="877618" y="1690420"/>
            <a:ext cx="1062070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MobileNets provam que é possível obter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alta acurácia com baixíssimo custo computacional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via convoluções separáveis em profundidade — redefinindo o que é possível em hardware limitado.</a:t>
            </a:r>
            <a:endParaRPr lang="en-US" sz="1300" dirty="0"/>
          </a:p>
        </p:txBody>
      </p:sp>
      <p:sp>
        <p:nvSpPr>
          <p:cNvPr id="9" name="Shape 2"/>
          <p:cNvSpPr/>
          <p:nvPr/>
        </p:nvSpPr>
        <p:spPr>
          <a:xfrm>
            <a:off x="629577" y="1504385"/>
            <a:ext cx="19050" cy="901303"/>
          </a:xfrm>
          <a:prstGeom prst="roundRect">
            <a:avLst>
              <a:gd name="adj" fmla="val 49999"/>
            </a:avLst>
          </a:prstGeom>
          <a:solidFill>
            <a:srgbClr val="325F7B"/>
          </a:solidFill>
          <a:ln/>
        </p:spPr>
      </p:sp>
      <p:sp>
        <p:nvSpPr>
          <p:cNvPr id="10" name="Shape 3"/>
          <p:cNvSpPr/>
          <p:nvPr/>
        </p:nvSpPr>
        <p:spPr>
          <a:xfrm>
            <a:off x="629577" y="2591724"/>
            <a:ext cx="5351725" cy="1217513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</p:sp>
      <p:sp>
        <p:nvSpPr>
          <p:cNvPr id="11" name="Text 4"/>
          <p:cNvSpPr/>
          <p:nvPr/>
        </p:nvSpPr>
        <p:spPr>
          <a:xfrm>
            <a:off x="794871" y="2757022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Resultado Central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794871" y="3114706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8–9× menos computação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com apenas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1% de perda de acurácia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vs. convoluções padrão — a troca mais impactante documentada no paper.</a:t>
            </a:r>
            <a:endParaRPr lang="en-US" sz="1300" dirty="0"/>
          </a:p>
        </p:txBody>
      </p:sp>
      <p:sp>
        <p:nvSpPr>
          <p:cNvPr id="13" name="Shape 6"/>
          <p:cNvSpPr/>
          <p:nvPr/>
        </p:nvSpPr>
        <p:spPr>
          <a:xfrm>
            <a:off x="6146597" y="2591724"/>
            <a:ext cx="5351725" cy="1217513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</p:sp>
      <p:sp>
        <p:nvSpPr>
          <p:cNvPr id="14" name="Text 7"/>
          <p:cNvSpPr/>
          <p:nvPr/>
        </p:nvSpPr>
        <p:spPr>
          <a:xfrm>
            <a:off x="6311891" y="2757022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Dois Hiperparâmetros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6311891" y="3114706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α e ρ permitem ajuste preciso do trade-off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latência × acurácia × tamanho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em qualquer ponto do espectro de hardware.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629577" y="3974535"/>
            <a:ext cx="5351725" cy="1482130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</p:sp>
      <p:sp>
        <p:nvSpPr>
          <p:cNvPr id="17" name="Text 10"/>
          <p:cNvSpPr/>
          <p:nvPr/>
        </p:nvSpPr>
        <p:spPr>
          <a:xfrm>
            <a:off x="794871" y="4139834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5 Domínios Validados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94871" y="4497517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Classificação ImageNet, reconhecimento fino, geolocalização, atributos faciais e detecção de objetos — eficácia comprovada amplamente.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146597" y="3974535"/>
            <a:ext cx="5351725" cy="1482130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</p:sp>
      <p:sp>
        <p:nvSpPr>
          <p:cNvPr id="20" name="Text 13"/>
          <p:cNvSpPr/>
          <p:nvPr/>
        </p:nvSpPr>
        <p:spPr>
          <a:xfrm>
            <a:off x="6311891" y="4139834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Visão Realizada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311891" y="4497517"/>
            <a:ext cx="50211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Inteligência de visão computacional acessível em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qualquer dispositivo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, sem dependência de nuvem — viabilizando aplicações antes impossíveis.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82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 smtClean="0"/>
              <a:t>[1] 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Howard, A. G., Zhu, M., Chen, B., 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Kalenichenko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D., Wang, W., 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Weyand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T., ... &amp; Adam, H. (2017). 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MobileNets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Efficient Convolutional Neural Networks for Mobile Vision Applications. </a:t>
            </a:r>
            <a:r>
              <a:rPr lang="en-US" sz="1800" i="1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arXiv</a:t>
            </a:r>
            <a:r>
              <a:rPr lang="en-US" sz="1800" i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 preprint arXiv:1704.04861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Google </a:t>
            </a:r>
            <a:r>
              <a:rPr lang="en-US" sz="1800" dirty="0" err="1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</a:t>
            </a: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r>
              <a:rPr lang="pt-BR" sz="1800" dirty="0" smtClean="0"/>
              <a:t>[2</a:t>
            </a:r>
            <a:r>
              <a:rPr lang="pt-BR" sz="1800" dirty="0" smtClean="0"/>
              <a:t>] </a:t>
            </a:r>
            <a:r>
              <a:rPr lang="pt-BR" sz="1800" dirty="0" err="1"/>
              <a:t>Z</a:t>
            </a:r>
            <a:r>
              <a:rPr lang="pt-BR" sz="1800" dirty="0"/>
              <a:t>. Li, F. Liu, W. Yang, S. </a:t>
            </a:r>
            <a:r>
              <a:rPr lang="pt-BR" sz="1800" dirty="0" err="1"/>
              <a:t>Peng</a:t>
            </a:r>
            <a:r>
              <a:rPr lang="pt-BR" sz="1800" dirty="0"/>
              <a:t> </a:t>
            </a:r>
            <a:r>
              <a:rPr lang="pt-BR" sz="1800" dirty="0" err="1"/>
              <a:t>and</a:t>
            </a:r>
            <a:r>
              <a:rPr lang="pt-BR" sz="1800" dirty="0"/>
              <a:t> J. </a:t>
            </a:r>
            <a:r>
              <a:rPr lang="pt-BR" sz="1800" dirty="0" err="1"/>
              <a:t>Zhou</a:t>
            </a:r>
            <a:r>
              <a:rPr lang="pt-BR" sz="1800" dirty="0"/>
              <a:t>, "A </a:t>
            </a:r>
            <a:r>
              <a:rPr lang="pt-BR" sz="1800" dirty="0" err="1"/>
              <a:t>Survey</a:t>
            </a:r>
            <a:r>
              <a:rPr lang="pt-BR" sz="1800" dirty="0"/>
              <a:t> </a:t>
            </a:r>
            <a:r>
              <a:rPr lang="pt-BR" sz="1800" dirty="0" err="1"/>
              <a:t>of</a:t>
            </a:r>
            <a:r>
              <a:rPr lang="pt-BR" sz="1800" dirty="0"/>
              <a:t> </a:t>
            </a:r>
            <a:r>
              <a:rPr lang="pt-BR" sz="1800" dirty="0" err="1"/>
              <a:t>Convolutional</a:t>
            </a:r>
            <a:r>
              <a:rPr lang="pt-BR" sz="1800" dirty="0"/>
              <a:t> Neural Networks: </a:t>
            </a:r>
            <a:r>
              <a:rPr lang="pt-BR" sz="1800" dirty="0" err="1"/>
              <a:t>Analysis</a:t>
            </a:r>
            <a:r>
              <a:rPr lang="pt-BR" sz="1800" dirty="0"/>
              <a:t>, </a:t>
            </a:r>
            <a:r>
              <a:rPr lang="pt-BR" sz="1800" dirty="0" err="1"/>
              <a:t>Applications</a:t>
            </a:r>
            <a:r>
              <a:rPr lang="pt-BR" sz="1800" dirty="0"/>
              <a:t>,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err="1"/>
              <a:t>Prospects</a:t>
            </a:r>
            <a:r>
              <a:rPr lang="pt-BR" sz="1800" dirty="0"/>
              <a:t>," in </a:t>
            </a:r>
            <a:r>
              <a:rPr lang="pt-BR" sz="1800" i="1" dirty="0"/>
              <a:t>IEEE </a:t>
            </a:r>
            <a:r>
              <a:rPr lang="pt-BR" sz="1800" i="1" dirty="0" err="1"/>
              <a:t>Transactions</a:t>
            </a:r>
            <a:r>
              <a:rPr lang="pt-BR" sz="1800" i="1" dirty="0"/>
              <a:t> </a:t>
            </a:r>
            <a:r>
              <a:rPr lang="pt-BR" sz="1800" i="1" dirty="0" err="1"/>
              <a:t>on</a:t>
            </a:r>
            <a:r>
              <a:rPr lang="pt-BR" sz="1800" i="1" dirty="0"/>
              <a:t> Neural Networks </a:t>
            </a:r>
            <a:r>
              <a:rPr lang="pt-BR" sz="1800" i="1" dirty="0" err="1"/>
              <a:t>and</a:t>
            </a:r>
            <a:r>
              <a:rPr lang="pt-BR" sz="1800" i="1" dirty="0"/>
              <a:t> Learning Systems</a:t>
            </a:r>
            <a:r>
              <a:rPr lang="pt-BR" sz="1800" dirty="0"/>
              <a:t>, vol. 33, no. 12, pp. 6999-7019, Dec. 2022, </a:t>
            </a:r>
            <a:r>
              <a:rPr lang="pt-BR" sz="1800" dirty="0" err="1">
                <a:hlinkClick r:id="rId3"/>
              </a:rPr>
              <a:t>doi</a:t>
            </a:r>
            <a:r>
              <a:rPr lang="pt-BR" sz="1800" dirty="0">
                <a:hlinkClick r:id="rId3"/>
              </a:rPr>
              <a:t>: 10.1109/TNNLS.2021.3084827</a:t>
            </a:r>
            <a:r>
              <a:rPr lang="pt-BR" sz="1800" dirty="0"/>
              <a:t>. </a:t>
            </a:r>
            <a:r>
              <a:rPr lang="pt-BR" sz="1800" dirty="0" err="1"/>
              <a:t>keywords</a:t>
            </a:r>
            <a:r>
              <a:rPr lang="pt-BR" sz="1800" dirty="0"/>
              <a:t>: {</a:t>
            </a:r>
            <a:r>
              <a:rPr lang="pt-BR" sz="1800" dirty="0" err="1"/>
              <a:t>Convolutional</a:t>
            </a:r>
            <a:r>
              <a:rPr lang="pt-BR" sz="1800" dirty="0"/>
              <a:t> neural </a:t>
            </a:r>
            <a:r>
              <a:rPr lang="pt-BR" sz="1800" dirty="0" err="1"/>
              <a:t>networks;Feature</a:t>
            </a:r>
            <a:r>
              <a:rPr lang="pt-BR" sz="1800" dirty="0"/>
              <a:t> </a:t>
            </a:r>
            <a:r>
              <a:rPr lang="pt-BR" sz="1800" dirty="0" err="1"/>
              <a:t>extraction;Neurons;Deep</a:t>
            </a:r>
            <a:r>
              <a:rPr lang="pt-BR" sz="1800" dirty="0"/>
              <a:t> </a:t>
            </a:r>
            <a:r>
              <a:rPr lang="pt-BR" sz="1800" dirty="0" err="1"/>
              <a:t>learning;Computer</a:t>
            </a:r>
            <a:r>
              <a:rPr lang="pt-BR" sz="1800" dirty="0"/>
              <a:t> </a:t>
            </a:r>
            <a:r>
              <a:rPr lang="pt-BR" sz="1800" dirty="0" err="1"/>
              <a:t>vision;Computer</a:t>
            </a:r>
            <a:r>
              <a:rPr lang="pt-BR" sz="1800" dirty="0"/>
              <a:t> </a:t>
            </a:r>
            <a:r>
              <a:rPr lang="pt-BR" sz="1800" dirty="0" err="1"/>
              <a:t>vision;convolutional</a:t>
            </a:r>
            <a:r>
              <a:rPr lang="pt-BR" sz="1800" dirty="0"/>
              <a:t> neural networks (</a:t>
            </a:r>
            <a:r>
              <a:rPr lang="pt-BR" sz="1800" dirty="0" err="1"/>
              <a:t>CNNs</a:t>
            </a:r>
            <a:r>
              <a:rPr lang="pt-BR" sz="1800" dirty="0"/>
              <a:t>);</a:t>
            </a:r>
            <a:r>
              <a:rPr lang="pt-BR" sz="1800" dirty="0" err="1"/>
              <a:t>deep</a:t>
            </a:r>
            <a:r>
              <a:rPr lang="pt-BR" sz="1800" dirty="0"/>
              <a:t> </a:t>
            </a:r>
            <a:r>
              <a:rPr lang="pt-BR" sz="1800" dirty="0" err="1"/>
              <a:t>learning;deep</a:t>
            </a:r>
            <a:r>
              <a:rPr lang="pt-BR" sz="1800" dirty="0"/>
              <a:t> neural networks</a:t>
            </a:r>
            <a:r>
              <a:rPr lang="pt-BR" sz="1800" dirty="0" smtClean="0"/>
              <a:t>}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72952" y="365125"/>
            <a:ext cx="3846095" cy="1325563"/>
          </a:xfrm>
        </p:spPr>
        <p:txBody>
          <a:bodyPr/>
          <a:lstStyle/>
          <a:p>
            <a:r>
              <a:rPr lang="pt-BR" dirty="0" smtClean="0"/>
              <a:t>QUESTIONÁRIO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456" y="1457443"/>
            <a:ext cx="3122153" cy="3122153"/>
          </a:xfrm>
        </p:spPr>
      </p:pic>
      <p:sp>
        <p:nvSpPr>
          <p:cNvPr id="5" name="Título 1">
            <a:hlinkClick r:id="rId3"/>
          </p:cNvPr>
          <p:cNvSpPr txBox="1">
            <a:spLocks/>
          </p:cNvSpPr>
          <p:nvPr/>
        </p:nvSpPr>
        <p:spPr>
          <a:xfrm>
            <a:off x="152528" y="5091458"/>
            <a:ext cx="11548010" cy="1085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600" dirty="0" err="1">
                <a:hlinkClick r:id="rId4"/>
              </a:rPr>
              <a:t>https</a:t>
            </a:r>
            <a:r>
              <a:rPr lang="pt-BR" sz="1600" dirty="0">
                <a:hlinkClick r:id="rId4"/>
              </a:rPr>
              <a:t>://</a:t>
            </a:r>
            <a:r>
              <a:rPr lang="pt-BR" sz="1600" dirty="0" err="1">
                <a:hlinkClick r:id="rId4"/>
              </a:rPr>
              <a:t>docs.google.com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forms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d</a:t>
            </a:r>
            <a:r>
              <a:rPr lang="pt-BR" sz="1600" dirty="0">
                <a:hlinkClick r:id="rId4"/>
              </a:rPr>
              <a:t>/e/1FAIpQLScoUFAq9P2XRNeDUS47GWcy19Mtv8dtMc98BkeVA_h-oIVwgg/</a:t>
            </a:r>
            <a:r>
              <a:rPr lang="pt-BR" sz="1600" dirty="0" err="1">
                <a:hlinkClick r:id="rId4"/>
              </a:rPr>
              <a:t>viewform?usp</a:t>
            </a:r>
            <a:r>
              <a:rPr lang="pt-BR" sz="1600" dirty="0">
                <a:hlinkClick r:id="rId4"/>
              </a:rPr>
              <a:t>=header</a:t>
            </a:r>
            <a:endParaRPr lang="pt-BR" sz="1600" dirty="0"/>
          </a:p>
        </p:txBody>
      </p:sp>
      <p:pic>
        <p:nvPicPr>
          <p:cNvPr id="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9895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11998</TotalTime>
  <Words>2785</Words>
  <Application>Microsoft Macintosh PowerPoint</Application>
  <PresentationFormat>Widescreen</PresentationFormat>
  <Paragraphs>292</Paragraphs>
  <Slides>37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4" baseType="lpstr">
      <vt:lpstr>Calibri</vt:lpstr>
      <vt:lpstr>Calibri Light</vt:lpstr>
      <vt:lpstr>Arial</vt:lpstr>
      <vt:lpstr>MuseoModerno Medium</vt:lpstr>
      <vt:lpstr>Source Sans 3</vt:lpstr>
      <vt:lpstr>Source Sans 3 Bold</vt:lpstr>
      <vt:lpstr>Tema do Office</vt:lpstr>
      <vt:lpstr>TP558 - Tópicos avançados em Machine Learning: MobileNets</vt:lpstr>
      <vt:lpstr>Abertura</vt:lpstr>
      <vt:lpstr>Apresentação do PowerPoint</vt:lpstr>
      <vt:lpstr>Apresentação do PowerPoint</vt:lpstr>
      <vt:lpstr>Apresentação do PowerPoint</vt:lpstr>
      <vt:lpstr>Introdução do artigo</vt:lpstr>
      <vt:lpstr>Conceito</vt:lpstr>
      <vt:lpstr>Fundamentação teórica</vt:lpstr>
      <vt:lpstr>Fundamentação teórica</vt:lpstr>
      <vt:lpstr>Convolução Pointwise: Combinação de Canais</vt:lpstr>
      <vt:lpstr>Fundamentação teórica</vt:lpstr>
      <vt:lpstr>Convolução Pointwise: Combinação de Canais</vt:lpstr>
      <vt:lpstr>Convolução Padrão vs Depthwise Convolution</vt:lpstr>
      <vt:lpstr>Fator de Redução Matemática</vt:lpstr>
      <vt:lpstr>Apresentação do PowerPoint</vt:lpstr>
      <vt:lpstr>Apresentação do PowerPoint</vt:lpstr>
      <vt:lpstr>Hiperparâmetros</vt:lpstr>
      <vt:lpstr>Apresentação do PowerPoint</vt:lpstr>
      <vt:lpstr>Hiperparâmetros</vt:lpstr>
      <vt:lpstr>Apresentação do PowerPoint</vt:lpstr>
      <vt:lpstr>Hiperparâmetros</vt:lpstr>
      <vt:lpstr>Apresentação do PowerPoint</vt:lpstr>
      <vt:lpstr>Aplicações Demonstradas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Reprodução do experimento</vt:lpstr>
      <vt:lpstr>Apresentação do PowerPoint</vt:lpstr>
      <vt:lpstr>Apresentação do PowerPoint</vt:lpstr>
      <vt:lpstr>Referências</vt:lpstr>
      <vt:lpstr>Apresentação do PowerPoint</vt:lpstr>
      <vt:lpstr>QUESTIONÁRIO</vt:lpstr>
    </vt:vector>
  </TitlesOfParts>
  <LinksUpToDate>false</LinksUpToDate>
  <SharedDoc>false</SharedDoc>
  <HyperlinksChanged>false</HyperlinksChanged>
  <AppVersion>15.0022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Usuário do Microsoft Office</cp:lastModifiedBy>
  <cp:revision>1816</cp:revision>
  <cp:lastPrinted>2026-08-20T18:44:31Z</cp:lastPrinted>
  <dcterms:created xsi:type="dcterms:W3CDTF">2020-01-20T13:50:05Z</dcterms:created>
  <dcterms:modified xsi:type="dcterms:W3CDTF">2026-09-01T00:54:48Z</dcterms:modified>
</cp:coreProperties>
</file>