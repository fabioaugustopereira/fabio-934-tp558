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307" r:id="rId3"/>
    <p:sldId id="347" r:id="rId4"/>
    <p:sldId id="326" r:id="rId5"/>
    <p:sldId id="335" r:id="rId6"/>
    <p:sldId id="315" r:id="rId7"/>
    <p:sldId id="337" r:id="rId8"/>
    <p:sldId id="328" r:id="rId9"/>
    <p:sldId id="308" r:id="rId10"/>
    <p:sldId id="338" r:id="rId11"/>
    <p:sldId id="340" r:id="rId12"/>
    <p:sldId id="339" r:id="rId13"/>
    <p:sldId id="309" r:id="rId14"/>
    <p:sldId id="319" r:id="rId15"/>
    <p:sldId id="341" r:id="rId16"/>
    <p:sldId id="331" r:id="rId17"/>
    <p:sldId id="317" r:id="rId18"/>
    <p:sldId id="342" r:id="rId19"/>
    <p:sldId id="329" r:id="rId20"/>
    <p:sldId id="343" r:id="rId21"/>
    <p:sldId id="344" r:id="rId22"/>
    <p:sldId id="345" r:id="rId23"/>
    <p:sldId id="327" r:id="rId24"/>
    <p:sldId id="330" r:id="rId25"/>
    <p:sldId id="348" r:id="rId26"/>
    <p:sldId id="323" r:id="rId27"/>
    <p:sldId id="346" r:id="rId28"/>
    <p:sldId id="293" r:id="rId29"/>
    <p:sldId id="314" r:id="rId30"/>
    <p:sldId id="306" r:id="rId31"/>
    <p:sldId id="336" r:id="rId32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E7B"/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86" autoAdjust="0"/>
    <p:restoredTop sz="79405" autoAdjust="0"/>
  </p:normalViewPr>
  <p:slideViewPr>
    <p:cSldViewPr snapToGrid="0">
      <p:cViewPr>
        <p:scale>
          <a:sx n="120" d="100"/>
          <a:sy n="120" d="100"/>
        </p:scale>
        <p:origin x="1392" y="20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4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21/09/26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‹n.º›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7586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611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665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0421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153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0835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912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8264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798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31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9379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92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8577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75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1" Type="http://schemas.microsoft.com/office/2007/relationships/media" Target="../media/media1.mp4"/><Relationship Id="rId2" Type="http://schemas.openxmlformats.org/officeDocument/2006/relationships/video" Target="../media/media1.mp4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-7-2.svg"/><Relationship Id="rId5" Type="http://schemas.openxmlformats.org/officeDocument/2006/relationships/image" Target="../media/image-7-2.svg"/><Relationship Id="rId6" Type="http://schemas.openxmlformats.org/officeDocument/2006/relationships/image" Target="../media/image5.png"/><Relationship Id="rId7" Type="http://schemas.openxmlformats.org/officeDocument/2006/relationships/image" Target="../media/image-7-6.svg"/><Relationship Id="rId8" Type="http://schemas.openxmlformats.org/officeDocument/2006/relationships/image" Target="../media/image-7-6.sv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0.jpe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11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"1.0" encoding="UTF-8" standalone="yes"?>
<Relationships xmlns="http://schemas.openxmlformats.org/package/2006/relationships"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39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-14-2.svg"/><Relationship Id="rId20" Type="http://schemas.openxmlformats.org/officeDocument/2006/relationships/image" Target="../media/image-14-19.svg"/><Relationship Id="rId21" Type="http://schemas.openxmlformats.org/officeDocument/2006/relationships/image" Target="../media/image-14-17.svg"/><Relationship Id="rId22" Type="http://schemas.openxmlformats.org/officeDocument/2006/relationships/image" Target="../media/image60.png"/><Relationship Id="rId23" Type="http://schemas.openxmlformats.org/officeDocument/2006/relationships/image" Target="../media/image-14-23.svg"/><Relationship Id="rId10" Type="http://schemas.openxmlformats.org/officeDocument/2006/relationships/image" Target="../media/image54.png"/><Relationship Id="rId11" Type="http://schemas.openxmlformats.org/officeDocument/2006/relationships/image" Target="../media/image-14-9.svg"/><Relationship Id="rId12" Type="http://schemas.openxmlformats.org/officeDocument/2006/relationships/image" Target="../media/image55.png"/><Relationship Id="rId13" Type="http://schemas.openxmlformats.org/officeDocument/2006/relationships/image" Target="../media/image-14-2.svg"/><Relationship Id="rId14" Type="http://schemas.openxmlformats.org/officeDocument/2006/relationships/image" Target="../media/image56.png"/><Relationship Id="rId15" Type="http://schemas.openxmlformats.org/officeDocument/2006/relationships/image" Target="../media/image-14-14.svg"/><Relationship Id="rId16" Type="http://schemas.openxmlformats.org/officeDocument/2006/relationships/image" Target="../media/image57.png"/><Relationship Id="rId17" Type="http://schemas.openxmlformats.org/officeDocument/2006/relationships/image" Target="../media/image58.png"/><Relationship Id="rId18" Type="http://schemas.openxmlformats.org/officeDocument/2006/relationships/image" Target="../media/image-14-17.svg"/><Relationship Id="rId19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1.png"/><Relationship Id="rId5" Type="http://schemas.openxmlformats.org/officeDocument/2006/relationships/image" Target="../media/image-14-2.svg"/><Relationship Id="rId6" Type="http://schemas.openxmlformats.org/officeDocument/2006/relationships/image" Target="../media/image52.png"/><Relationship Id="rId7" Type="http://schemas.openxmlformats.org/officeDocument/2006/relationships/image" Target="../media/image-14-4.svg"/><Relationship Id="rId8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1.jpe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44.png"/><Relationship Id="rId10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73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74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yimagesearch.com/2020/11/30/siamese-networks-with-keras-tensorflow-and-deep-learning/" TargetMode="External"/><Relationship Id="rId4" Type="http://schemas.openxmlformats.org/officeDocument/2006/relationships/hyperlink" Target="https://medium.com/@rinkinag24/a-comprehensive-guide-to-siamese-neural-networks-3358658c0513" TargetMode="External"/><Relationship Id="rId5" Type="http://schemas.openxmlformats.org/officeDocument/2006/relationships/hyperlink" Target="https://youtu.be/T9yKyZfxUJg" TargetMode="External"/><Relationship Id="rId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cs.cmu.edu/~rsalakhu/papers/oneshot1.pdf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dy75thx6_oe_FtgGiD68gvmlCmo0wno_9L9VvTWsi9Z1LKjg/viewform" TargetMode="External"/><Relationship Id="rId4" Type="http://schemas.openxmlformats.org/officeDocument/2006/relationships/hyperlink" Target="https://docs.google.com/forms/d/e/1FAIpQLSel_lxLd8P9kd5AZn72LC7pnhS3f-LoAB8aRFRjsIt9vQlf2Q/viewform?usp=header" TargetMode="External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TP558 - Tópicos avançados em Machine Learning:</a:t>
            </a:r>
            <a:r>
              <a:rPr lang="pt-BR" dirty="0"/>
              <a:t/>
            </a:r>
            <a:br>
              <a:rPr lang="pt-BR" dirty="0"/>
            </a:br>
            <a:r>
              <a:rPr lang="pt-BR" b="1" i="1" dirty="0" err="1" smtClean="0"/>
              <a:t>One-shot</a:t>
            </a:r>
            <a:endParaRPr lang="pt-BR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Fábio Augusto Pereira</a:t>
            </a:r>
            <a:endParaRPr lang="pt-BR" sz="2000" dirty="0"/>
          </a:p>
          <a:p>
            <a:r>
              <a:rPr lang="pt-BR" dirty="0" err="1" smtClean="0"/>
              <a:t>fabio.pereira@mtel.inatel.br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xmlns="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8038" y="365125"/>
            <a:ext cx="2335924" cy="1325563"/>
          </a:xfrm>
        </p:spPr>
        <p:txBody>
          <a:bodyPr/>
          <a:lstStyle/>
          <a:p>
            <a:pPr algn="ctr"/>
            <a:r>
              <a:rPr lang="pt-BR" dirty="0"/>
              <a:t>Abertura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56582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pt-BR" dirty="0"/>
              <a:t>O aprendizado de boas representações para aplicações de </a:t>
            </a:r>
            <a:r>
              <a:rPr lang="pt-BR" dirty="0" err="1"/>
              <a:t>machine</a:t>
            </a:r>
            <a:r>
              <a:rPr lang="pt-BR" dirty="0"/>
              <a:t> </a:t>
            </a:r>
            <a:r>
              <a:rPr lang="pt-BR" dirty="0" err="1"/>
              <a:t>learning</a:t>
            </a:r>
            <a:r>
              <a:rPr lang="pt-BR" dirty="0"/>
              <a:t> pode ser computacionalmente custoso e especialmente difícil quando há poucos dados </a:t>
            </a:r>
            <a:r>
              <a:rPr lang="pt-BR" dirty="0" smtClean="0"/>
              <a:t>disponíveis</a:t>
            </a:r>
          </a:p>
          <a:p>
            <a:pPr fontAlgn="base"/>
            <a:r>
              <a:rPr lang="pt-BR" dirty="0" smtClean="0"/>
              <a:t>O </a:t>
            </a:r>
            <a:r>
              <a:rPr lang="pt-BR" dirty="0"/>
              <a:t>cenário de </a:t>
            </a:r>
            <a:r>
              <a:rPr lang="pt-BR" dirty="0" err="1"/>
              <a:t>one-shot</a:t>
            </a:r>
            <a:r>
              <a:rPr lang="pt-BR" dirty="0"/>
              <a:t> </a:t>
            </a:r>
            <a:r>
              <a:rPr lang="pt-BR" dirty="0" err="1"/>
              <a:t>learning</a:t>
            </a:r>
            <a:r>
              <a:rPr lang="pt-BR" dirty="0"/>
              <a:t> é um exemplo </a:t>
            </a:r>
            <a:r>
              <a:rPr lang="pt-BR" dirty="0" smtClean="0"/>
              <a:t>de como </a:t>
            </a:r>
            <a:r>
              <a:rPr lang="pt-BR" dirty="0"/>
              <a:t>o modelo deve fazer previsões corretas a partir de um único exemplo de cada nova </a:t>
            </a:r>
            <a:r>
              <a:rPr lang="pt-BR" dirty="0" smtClean="0"/>
              <a:t>classe</a:t>
            </a:r>
            <a:endParaRPr lang="pt-BR" dirty="0"/>
          </a:p>
          <a:p>
            <a:pPr fontAlgn="base"/>
            <a:r>
              <a:rPr lang="pt-BR" dirty="0" smtClean="0"/>
              <a:t>Redes </a:t>
            </a:r>
            <a:r>
              <a:rPr lang="pt-BR" dirty="0"/>
              <a:t>neurais siamesas </a:t>
            </a:r>
            <a:r>
              <a:rPr lang="pt-BR" dirty="0" smtClean="0"/>
              <a:t>porque empregam </a:t>
            </a:r>
            <a:r>
              <a:rPr lang="pt-BR" dirty="0"/>
              <a:t>uma estrutura única para classificar naturalmente a similaridade entre </a:t>
            </a:r>
            <a:r>
              <a:rPr lang="pt-BR" dirty="0" smtClean="0"/>
              <a:t>entrada, que uma </a:t>
            </a:r>
            <a:r>
              <a:rPr lang="pt-BR" dirty="0"/>
              <a:t>vez ajustada, a rede generaliza para novas classes de distribuições desconhecidas, sem necessidade de </a:t>
            </a:r>
            <a:r>
              <a:rPr lang="pt-BR" dirty="0" err="1"/>
              <a:t>retreinamento</a:t>
            </a:r>
            <a:endParaRPr lang="pt-BR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860" y="237534"/>
            <a:ext cx="4279757" cy="1070271"/>
          </a:xfrm>
        </p:spPr>
        <p:txBody>
          <a:bodyPr/>
          <a:lstStyle/>
          <a:p>
            <a:pPr algn="ctr"/>
            <a:r>
              <a:rPr lang="pt-BR" dirty="0" smtClean="0"/>
              <a:t>Redes Siamesas</a:t>
            </a:r>
            <a:endParaRPr lang="pt-BR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siamese_network _20.mp4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76560" y="1442852"/>
            <a:ext cx="8702675" cy="4351338"/>
          </a:xfrm>
        </p:spPr>
      </p:pic>
    </p:spTree>
    <p:extLst>
      <p:ext uri="{BB962C8B-B14F-4D97-AF65-F5344CB8AC3E}">
        <p14:creationId xmlns:p14="http://schemas.microsoft.com/office/powerpoint/2010/main" val="27625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394982" y="1180215"/>
            <a:ext cx="7402033" cy="50156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O Problema do Aprendizado com Poucos </a:t>
            </a:r>
            <a:r>
              <a:rPr lang="pt-BR" dirty="0" smtClean="0"/>
              <a:t>Dados</a:t>
            </a:r>
            <a:endParaRPr lang="pt-BR" dirty="0" smtClean="0"/>
          </a:p>
          <a:p>
            <a:pPr marL="0" indent="0">
              <a:buNone/>
            </a:pPr>
            <a:endParaRPr lang="pt-BR" dirty="0" smtClean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xmlns="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9014" y="269433"/>
            <a:ext cx="3173971" cy="910782"/>
          </a:xfrm>
        </p:spPr>
        <p:txBody>
          <a:bodyPr/>
          <a:lstStyle/>
          <a:p>
            <a:pPr algn="ctr"/>
            <a:r>
              <a:rPr lang="pt-BR" smtClean="0"/>
              <a:t>Motivação</a:t>
            </a:r>
            <a:endParaRPr lang="pt-BR" dirty="0"/>
          </a:p>
        </p:txBody>
      </p:sp>
      <p:sp>
        <p:nvSpPr>
          <p:cNvPr id="7" name="Espaço Reservado para Conteúdo 1"/>
          <p:cNvSpPr txBox="1">
            <a:spLocks/>
          </p:cNvSpPr>
          <p:nvPr/>
        </p:nvSpPr>
        <p:spPr>
          <a:xfrm>
            <a:off x="680385" y="1860699"/>
            <a:ext cx="10760247" cy="233916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Humanos são notavelmente capazes de reconhecer novos padrões a partir de pouquíssimos </a:t>
            </a:r>
            <a:r>
              <a:rPr lang="pt-BR" dirty="0" smtClean="0"/>
              <a:t>exemplos.</a:t>
            </a:r>
          </a:p>
          <a:p>
            <a:pPr algn="just"/>
            <a:r>
              <a:rPr lang="pt-BR" dirty="0" smtClean="0"/>
              <a:t>Algoritmos </a:t>
            </a:r>
            <a:r>
              <a:rPr lang="pt-BR" dirty="0"/>
              <a:t>de </a:t>
            </a:r>
            <a:r>
              <a:rPr lang="pt-BR" dirty="0" err="1"/>
              <a:t>machine</a:t>
            </a:r>
            <a:r>
              <a:rPr lang="pt-BR" dirty="0"/>
              <a:t> </a:t>
            </a:r>
            <a:r>
              <a:rPr lang="pt-BR" dirty="0" err="1"/>
              <a:t>learning</a:t>
            </a:r>
            <a:r>
              <a:rPr lang="pt-BR" dirty="0"/>
              <a:t> tradicionais, por outro lado, frequentemente falham quando há escassez de dados </a:t>
            </a:r>
            <a:r>
              <a:rPr lang="pt-BR" dirty="0" smtClean="0"/>
              <a:t>supervisionados.</a:t>
            </a:r>
          </a:p>
          <a:p>
            <a:pPr algn="just"/>
            <a:r>
              <a:rPr lang="pt-BR" dirty="0" smtClean="0"/>
              <a:t>Existe um contraste </a:t>
            </a:r>
            <a:r>
              <a:rPr lang="pt-BR" dirty="0"/>
              <a:t>fundamental: enquanto uma criança aprende a reconhecer um novo animal com apenas uma foto, redes </a:t>
            </a:r>
            <a:r>
              <a:rPr lang="pt-BR" dirty="0" err="1"/>
              <a:t>convolucionais</a:t>
            </a:r>
            <a:r>
              <a:rPr lang="pt-BR" dirty="0"/>
              <a:t> convencionais precisam de milhares de exemplos por classe para generalizar bem.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 smtClean="0"/>
          </a:p>
        </p:txBody>
      </p:sp>
      <p:sp>
        <p:nvSpPr>
          <p:cNvPr id="8" name="Shape 2"/>
          <p:cNvSpPr/>
          <p:nvPr/>
        </p:nvSpPr>
        <p:spPr>
          <a:xfrm>
            <a:off x="680385" y="4616456"/>
            <a:ext cx="3065783" cy="1197074"/>
          </a:xfrm>
          <a:prstGeom prst="roundRect">
            <a:avLst>
              <a:gd name="adj" fmla="val 5803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852030" y="4788105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Zero-Shot Learning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852030" y="5145788"/>
            <a:ext cx="272249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Nenhum exemplo da classe alvo é observado antes da predição.</a:t>
            </a:r>
            <a:endParaRPr lang="en-US" sz="1300" dirty="0"/>
          </a:p>
        </p:txBody>
      </p:sp>
      <p:sp>
        <p:nvSpPr>
          <p:cNvPr id="11" name="Shape 5"/>
          <p:cNvSpPr/>
          <p:nvPr/>
        </p:nvSpPr>
        <p:spPr>
          <a:xfrm>
            <a:off x="4527617" y="4635242"/>
            <a:ext cx="3065783" cy="1197074"/>
          </a:xfrm>
          <a:prstGeom prst="roundRect">
            <a:avLst>
              <a:gd name="adj" fmla="val 5803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4699262" y="4806891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One-Shot Learning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4699262" y="5164574"/>
            <a:ext cx="272249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Exatamente um exemplo por classe nova — foco deste trabalho.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8374849" y="4614816"/>
            <a:ext cx="3065783" cy="1198714"/>
          </a:xfrm>
          <a:prstGeom prst="roundRect">
            <a:avLst>
              <a:gd name="adj" fmla="val 732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8504727" y="4831684"/>
            <a:ext cx="172214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Few-Shot Learning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8504727" y="5189368"/>
            <a:ext cx="293590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Poucos exemplos (</a:t>
            </a:r>
            <a:r>
              <a:rPr lang="en-US" sz="13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tipicamente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2–10)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disponíveis</a:t>
            </a:r>
            <a:r>
              <a:rPr lang="en-US" sz="13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 classe.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8556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693372" y="65819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Trabalhos Relacionados: Breve Panorama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93372" y="1505619"/>
            <a:ext cx="5351725" cy="1718568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953914" y="1689968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Fei-Fei et al. (2003, 2006)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Text 2"/>
          <p:cNvSpPr/>
          <p:nvPr/>
        </p:nvSpPr>
        <p:spPr>
          <a:xfrm>
            <a:off x="953914" y="2047651"/>
            <a:ext cx="490684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Framework Bayesiano variacional para classificação one-shot. Classes previamente aprendidas ajudam a prever novas, com poucos exemplos disponíveis.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210392" y="1505619"/>
            <a:ext cx="5351725" cy="1718568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6470934" y="1689968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Lake et al. — HBPL (2013)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Text 4"/>
          <p:cNvSpPr/>
          <p:nvPr/>
        </p:nvSpPr>
        <p:spPr>
          <a:xfrm>
            <a:off x="6470934" y="2047651"/>
            <a:ext cx="4906840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Hierarchical Bayesian Program Learning: modela o processo de desenho de caracteres generativamente. Decompõe imagens em partes estruturais, mas a inferência é intratável em grandes espaços de parâmetros.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93372" y="3389486"/>
            <a:ext cx="5351725" cy="1470521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953914" y="3573834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Bromley &amp; LeCun (1993)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6"/>
          <p:cNvSpPr/>
          <p:nvPr/>
        </p:nvSpPr>
        <p:spPr>
          <a:xfrm>
            <a:off x="953914" y="3931518"/>
            <a:ext cx="490684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Introduziram redes siamesas para verificação de assinaturas como problema de casamento de imagens — precursores diretos da abordagem adotada neste artigo.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210392" y="3389486"/>
            <a:ext cx="5351725" cy="1470521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6470934" y="3573834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Outras Abordagens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8"/>
          <p:cNvSpPr/>
          <p:nvPr/>
        </p:nvSpPr>
        <p:spPr>
          <a:xfrm>
            <a:off x="6470934" y="3931518"/>
            <a:ext cx="490684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Transfer learning (Lim, 2012), Redes de Markov ocultas hierárquicas para fala (Lake et al., 2014), e aprendizado por reforço com one-shot (Wu &amp; Dennis, 2012).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29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072" y="1468668"/>
            <a:ext cx="5919524" cy="3733389"/>
          </a:xfrm>
        </p:spPr>
        <p:txBody>
          <a:bodyPr>
            <a:normAutofit fontScale="85000" lnSpcReduction="20000"/>
          </a:bodyPr>
          <a:lstStyle/>
          <a:p>
            <a:pPr marL="0" indent="0" algn="ctr" fontAlgn="base">
              <a:buNone/>
            </a:pPr>
            <a:r>
              <a:rPr lang="pt-BR" dirty="0"/>
              <a:t>Como funciona a tarefa 20-way?</a:t>
            </a:r>
          </a:p>
          <a:p>
            <a:pPr marL="0" indent="0" algn="ctr" fontAlgn="base">
              <a:buNone/>
            </a:pPr>
            <a:r>
              <a:rPr lang="pt-BR" dirty="0"/>
              <a:t>Um único caractere de teste </a:t>
            </a:r>
            <a:r>
              <a:rPr lang="pt-BR" dirty="0" smtClean="0"/>
              <a:t>deve </a:t>
            </a:r>
            <a:r>
              <a:rPr lang="pt-BR" dirty="0"/>
              <a:t>ser identificado dentre 20 classes </a:t>
            </a:r>
            <a:r>
              <a:rPr lang="pt-BR" dirty="0" smtClean="0"/>
              <a:t>— </a:t>
            </a:r>
            <a:r>
              <a:rPr lang="pt-BR" dirty="0"/>
              <a:t>cada uma representada por apenas um </a:t>
            </a:r>
            <a:r>
              <a:rPr lang="pt-BR" dirty="0" smtClean="0"/>
              <a:t>exemplo</a:t>
            </a:r>
          </a:p>
          <a:p>
            <a:pPr marL="0" indent="0" algn="ctr" fontAlgn="base">
              <a:buNone/>
            </a:pPr>
            <a:endParaRPr lang="pt-BR" dirty="0"/>
          </a:p>
          <a:p>
            <a:pPr fontAlgn="base"/>
            <a:r>
              <a:rPr lang="pt-BR" dirty="0"/>
              <a:t>20 classes distintas, uma imagem por </a:t>
            </a:r>
            <a:r>
              <a:rPr lang="pt-BR" dirty="0" smtClean="0"/>
              <a:t>classe</a:t>
            </a:r>
            <a:r>
              <a:rPr lang="pt-BR" dirty="0" smtClean="0"/>
              <a:t>;</a:t>
            </a:r>
            <a:endParaRPr lang="pt-BR" dirty="0" smtClean="0"/>
          </a:p>
          <a:p>
            <a:pPr fontAlgn="base"/>
            <a:r>
              <a:rPr lang="pt-BR" dirty="0"/>
              <a:t>O modelo compara o teste com cada </a:t>
            </a:r>
            <a:r>
              <a:rPr lang="pt-BR" dirty="0" smtClean="0"/>
              <a:t>candidato</a:t>
            </a:r>
            <a:r>
              <a:rPr lang="pt-BR" dirty="0" smtClean="0"/>
              <a:t>;</a:t>
            </a:r>
            <a:endParaRPr lang="pt-BR" dirty="0" smtClean="0"/>
          </a:p>
          <a:p>
            <a:pPr fontAlgn="base"/>
            <a:r>
              <a:rPr lang="pt-BR" dirty="0"/>
              <a:t>A classe com maior similaridade é </a:t>
            </a:r>
            <a:r>
              <a:rPr lang="pt-BR" dirty="0" smtClean="0"/>
              <a:t>predita</a:t>
            </a:r>
            <a:r>
              <a:rPr lang="pt-BR" dirty="0" smtClean="0"/>
              <a:t>;</a:t>
            </a:r>
            <a:endParaRPr lang="pt-BR" dirty="0" smtClean="0"/>
          </a:p>
          <a:p>
            <a:pPr fontAlgn="base"/>
            <a:r>
              <a:rPr lang="pt-BR" dirty="0" err="1"/>
              <a:t>Dataset</a:t>
            </a:r>
            <a:r>
              <a:rPr lang="pt-BR" dirty="0"/>
              <a:t> utilizado: </a:t>
            </a:r>
            <a:r>
              <a:rPr lang="pt-BR" dirty="0" err="1"/>
              <a:t>Omniglot</a:t>
            </a:r>
            <a:r>
              <a:rPr lang="pt-BR" dirty="0"/>
              <a:t> (caracteres de múltiplos alfabetos</a:t>
            </a:r>
            <a:r>
              <a:rPr lang="pt-BR" dirty="0" smtClean="0"/>
              <a:t>)</a:t>
            </a:r>
            <a:r>
              <a:rPr lang="pt-BR" dirty="0" smtClean="0"/>
              <a:t>;</a:t>
            </a:r>
            <a:endParaRPr lang="pt-BR" dirty="0" smtClean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xmlns="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515" y="269433"/>
            <a:ext cx="8697432" cy="910782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Tarefa de Classificação </a:t>
            </a:r>
            <a:r>
              <a:rPr lang="pt-BR" dirty="0" err="1"/>
              <a:t>One-Shot</a:t>
            </a:r>
            <a:r>
              <a:rPr lang="pt-BR" dirty="0"/>
              <a:t>: 20-Way</a:t>
            </a: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06" y="1242648"/>
            <a:ext cx="4086644" cy="418922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117072" y="5333365"/>
            <a:ext cx="5919524" cy="934244"/>
          </a:xfrm>
          <a:prstGeom prst="roundRect">
            <a:avLst>
              <a:gd name="adj" fmla="val 6178"/>
            </a:avLst>
          </a:prstGeom>
          <a:solidFill>
            <a:srgbClr val="D9EDF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366" y="5573077"/>
            <a:ext cx="206667" cy="1652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54328" y="5523467"/>
            <a:ext cx="523341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cenário exige que o modelo generalize sem qualquer retreinamento — apenas com as features aprendidas previamente.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98283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xmlns="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8216" y="141842"/>
            <a:ext cx="3923414" cy="770408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Estratégia </a:t>
            </a:r>
            <a:r>
              <a:rPr lang="pt-BR" dirty="0" smtClean="0"/>
              <a:t>Geral</a:t>
            </a:r>
            <a:endParaRPr lang="pt-BR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xmlns="" id="{7F5FF925-67DE-CC62-E869-C6E3C1D771E6}"/>
              </a:ext>
            </a:extLst>
          </p:cNvPr>
          <p:cNvSpPr txBox="1">
            <a:spLocks/>
          </p:cNvSpPr>
          <p:nvPr/>
        </p:nvSpPr>
        <p:spPr>
          <a:xfrm>
            <a:off x="3082111" y="815573"/>
            <a:ext cx="6075621" cy="4110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mtClean="0"/>
              <a:t>Treino </a:t>
            </a:r>
            <a:r>
              <a:rPr lang="pt-BR" dirty="0" smtClean="0"/>
              <a:t>por Verificação, Teste por </a:t>
            </a:r>
            <a:r>
              <a:rPr lang="pt-BR" dirty="0" err="1" smtClean="0"/>
              <a:t>One-Shot</a:t>
            </a:r>
            <a:endParaRPr lang="pt-BR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806" y="1226625"/>
            <a:ext cx="4944230" cy="3664724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1016342" y="5111462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Fase de Treino — Verificação</a:t>
            </a:r>
            <a:endParaRPr lang="en-US" sz="1350" dirty="0"/>
          </a:p>
        </p:txBody>
      </p:sp>
      <p:sp>
        <p:nvSpPr>
          <p:cNvPr id="11" name="Text 2"/>
          <p:cNvSpPr/>
          <p:nvPr/>
        </p:nvSpPr>
        <p:spPr>
          <a:xfrm>
            <a:off x="1016342" y="5450492"/>
            <a:ext cx="5262927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modelo é treinado com pares de imagens rotulados como </a:t>
            </a: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mesmo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ou </a:t>
            </a: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diferente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Aprende a discriminar identidade de classes a partir de pares amostrados do conjunto de treino.</a:t>
            </a:r>
            <a:endParaRPr lang="en-US" sz="1100" dirty="0"/>
          </a:p>
        </p:txBody>
      </p:sp>
      <p:sp>
        <p:nvSpPr>
          <p:cNvPr id="12" name="Text 3"/>
          <p:cNvSpPr/>
          <p:nvPr/>
        </p:nvSpPr>
        <p:spPr>
          <a:xfrm>
            <a:off x="6628510" y="5111462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Fase de Teste — One-Shot</a:t>
            </a:r>
            <a:endParaRPr lang="en-US" sz="1350" dirty="0"/>
          </a:p>
        </p:txBody>
      </p:sp>
      <p:sp>
        <p:nvSpPr>
          <p:cNvPr id="13" name="Text 4"/>
          <p:cNvSpPr/>
          <p:nvPr/>
        </p:nvSpPr>
        <p:spPr>
          <a:xfrm>
            <a:off x="6628510" y="5450492"/>
            <a:ext cx="5262927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cada nova classe, apenas um exemplo é fornecido. A imagem de teste é comparada par a par com todos os candidatos. A classe com maior score de similaridade é a predição final.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1115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23" y="207471"/>
            <a:ext cx="10451805" cy="948668"/>
          </a:xfrm>
        </p:spPr>
        <p:txBody>
          <a:bodyPr>
            <a:normAutofit fontScale="90000"/>
          </a:bodyPr>
          <a:lstStyle/>
          <a:p>
            <a:r>
              <a:rPr lang="pt-BR" dirty="0"/>
              <a:t>Abordagem: Aprendizado Métrico Supervisionado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79" y="1025524"/>
            <a:ext cx="10836349" cy="479636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pt-BR" sz="2500" dirty="0"/>
              <a:t>A estratégia central do trabalho pode ser resumida em duas etapas bem definidas:</a:t>
            </a:r>
            <a:endParaRPr lang="pt-BR" sz="2500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xmlns="" id="{A9FDF00C-07E3-57DD-2C43-753297609C4B}"/>
              </a:ext>
            </a:extLst>
          </p:cNvPr>
          <p:cNvSpPr txBox="1">
            <a:spLocks/>
          </p:cNvSpPr>
          <p:nvPr/>
        </p:nvSpPr>
        <p:spPr>
          <a:xfrm>
            <a:off x="838200" y="4539550"/>
            <a:ext cx="10666228" cy="163741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dirty="0"/>
              <a:t>Redes siamesas </a:t>
            </a:r>
            <a:r>
              <a:rPr lang="pt-BR" dirty="0" err="1"/>
              <a:t>convolucionais</a:t>
            </a:r>
            <a:r>
              <a:rPr lang="pt-BR" dirty="0"/>
              <a:t> são especialmente adequadas </a:t>
            </a:r>
            <a:r>
              <a:rPr lang="pt-BR" dirty="0" smtClean="0"/>
              <a:t>pois:</a:t>
            </a:r>
          </a:p>
          <a:p>
            <a:pPr fontAlgn="base"/>
            <a:r>
              <a:rPr lang="pt-BR" dirty="0" smtClean="0"/>
              <a:t>aprendem </a:t>
            </a:r>
            <a:r>
              <a:rPr lang="pt-BR" dirty="0" err="1"/>
              <a:t>features</a:t>
            </a:r>
            <a:r>
              <a:rPr lang="pt-BR" dirty="0"/>
              <a:t> genéricas úteis para distribuições </a:t>
            </a:r>
            <a:r>
              <a:rPr lang="pt-BR" dirty="0" smtClean="0"/>
              <a:t>desconhecidas;</a:t>
            </a:r>
          </a:p>
          <a:p>
            <a:pPr fontAlgn="base"/>
            <a:r>
              <a:rPr lang="pt-BR" dirty="0" smtClean="0"/>
              <a:t>são </a:t>
            </a:r>
            <a:r>
              <a:rPr lang="pt-BR" dirty="0"/>
              <a:t>treinadas com técnicas padrão de </a:t>
            </a:r>
            <a:r>
              <a:rPr lang="pt-BR" dirty="0" smtClean="0"/>
              <a:t>otimização;</a:t>
            </a:r>
          </a:p>
          <a:p>
            <a:pPr fontAlgn="base"/>
            <a:r>
              <a:rPr lang="pt-BR" dirty="0" smtClean="0"/>
              <a:t>não </a:t>
            </a:r>
            <a:r>
              <a:rPr lang="pt-BR" dirty="0"/>
              <a:t>dependem de conhecimento de domínio específico, explorando apenas o framework de </a:t>
            </a:r>
            <a:r>
              <a:rPr lang="pt-BR" dirty="0" err="1"/>
              <a:t>deep</a:t>
            </a:r>
            <a:r>
              <a:rPr lang="pt-BR" dirty="0"/>
              <a:t> </a:t>
            </a:r>
            <a:r>
              <a:rPr lang="pt-BR" dirty="0" err="1"/>
              <a:t>learning</a:t>
            </a:r>
            <a:r>
              <a:rPr lang="pt-BR" dirty="0"/>
              <a:t>.</a:t>
            </a: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555" y="1505160"/>
            <a:ext cx="4355396" cy="376058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326826" y="3844125"/>
            <a:ext cx="1586798" cy="61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Reusar features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4294420" y="3844125"/>
            <a:ext cx="1586799" cy="61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Treinar siamesa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91758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0"/>
          <p:cNvSpPr/>
          <p:nvPr/>
        </p:nvSpPr>
        <p:spPr>
          <a:xfrm>
            <a:off x="661475" y="99159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Redes Neurais Siamesas: Estrutura Fundamental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770459"/>
            <a:ext cx="4669018" cy="3737868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>
            <a:off x="5708359" y="2272543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Propriedades Essenciais</a:t>
            </a:r>
            <a:endParaRPr lang="en-US" sz="16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8" name="Text 2"/>
          <p:cNvSpPr/>
          <p:nvPr/>
        </p:nvSpPr>
        <p:spPr>
          <a:xfrm>
            <a:off x="5708359" y="2696306"/>
            <a:ext cx="579621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Uma rede siamesa consiste em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duas redes gêmeas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que aceitam entradas distintas, mas são unidas por uma função de energia no topo que computa uma métrica entre as representações de mais alto nível.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3"/>
          <p:cNvSpPr/>
          <p:nvPr/>
        </p:nvSpPr>
        <p:spPr>
          <a:xfrm>
            <a:off x="5708359" y="3589275"/>
            <a:ext cx="5796214" cy="801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Pesos amarrados (tied weights):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garantem que imagens similares sejam mapeadas para regiões próximas no espaço de features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Simetria: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a métrica é invariante à ordem dos inputs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 4"/>
          <p:cNvSpPr/>
          <p:nvPr/>
        </p:nvSpPr>
        <p:spPr>
          <a:xfrm>
            <a:off x="5708360" y="4449104"/>
            <a:ext cx="5583417" cy="232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Função de energia: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distância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ponderada entre os vetores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157" y="4480854"/>
            <a:ext cx="174621" cy="206573"/>
          </a:xfrm>
          <a:prstGeom prst="rect">
            <a:avLst/>
          </a:prstGeom>
        </p:spPr>
      </p:pic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1401" y="4480854"/>
            <a:ext cx="167874" cy="200323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3366" y="4480854"/>
            <a:ext cx="167874" cy="20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523252" y="115834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Modelo: Arquitetura Convolucional Siamesa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23252" y="2005771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 rede possui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camadas, cada uma com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unidades. O vetor oculto da camada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para a primeira rede gêmea é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e para a segunda é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. As primeiras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300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        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300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            </a:t>
            </a:r>
            <a:r>
              <a:rPr lang="en-US" sz="1300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camadas</a:t>
            </a:r>
            <a:r>
              <a:rPr lang="en-US" sz="1300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usam ativação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ReLU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; as demais usam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sigmoidal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380" y="2037521"/>
            <a:ext cx="110031" cy="206573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917" y="2048691"/>
            <a:ext cx="173728" cy="206573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417" y="2034306"/>
            <a:ext cx="51394" cy="206573"/>
          </a:xfrm>
          <a:prstGeom prst="rect">
            <a:avLst/>
          </a:prstGeom>
        </p:spPr>
      </p:pic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3429" y="2040645"/>
            <a:ext cx="235242" cy="200323"/>
          </a:xfrm>
          <a:prstGeom prst="rect">
            <a:avLst/>
          </a:prstGeom>
        </p:spPr>
      </p:pic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0664" y="2048691"/>
            <a:ext cx="235242" cy="200323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500" y="2303824"/>
            <a:ext cx="388233" cy="206573"/>
          </a:xfrm>
          <a:prstGeom prst="rect">
            <a:avLst/>
          </a:prstGeom>
        </p:spPr>
      </p:pic>
      <p:sp>
        <p:nvSpPr>
          <p:cNvPr id="24" name="Text 2"/>
          <p:cNvSpPr/>
          <p:nvPr/>
        </p:nvSpPr>
        <p:spPr>
          <a:xfrm>
            <a:off x="523252" y="2687900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-ésimo mapa de features em cada camada convolucional é calculado como: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029" y="2719650"/>
            <a:ext cx="89295" cy="206573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251" y="3145199"/>
            <a:ext cx="10868745" cy="405209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252" y="3759661"/>
            <a:ext cx="10868745" cy="405209"/>
          </a:xfrm>
          <a:prstGeom prst="rect">
            <a:avLst/>
          </a:prstGeom>
        </p:spPr>
      </p:pic>
      <p:sp>
        <p:nvSpPr>
          <p:cNvPr id="28" name="Text 3"/>
          <p:cNvSpPr/>
          <p:nvPr/>
        </p:nvSpPr>
        <p:spPr>
          <a:xfrm>
            <a:off x="523252" y="4374123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onde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é o tensor 3D de mapas de features para a camada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denota a operação de convolução válida. O stride fixo é 1, e o max-pooling usa filtro e stride de tamanho 2.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0733" y="4405873"/>
            <a:ext cx="447961" cy="200323"/>
          </a:xfrm>
          <a:prstGeom prst="rect">
            <a:avLst/>
          </a:prstGeom>
        </p:spPr>
      </p:pic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562" y="4405873"/>
            <a:ext cx="51394" cy="206573"/>
          </a:xfrm>
          <a:prstGeom prst="rect">
            <a:avLst/>
          </a:prstGeom>
        </p:spPr>
      </p:pic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23841" y="4405873"/>
            <a:ext cx="80861" cy="200323"/>
          </a:xfrm>
          <a:prstGeom prst="rect">
            <a:avLst/>
          </a:prstGeom>
        </p:spPr>
      </p:pic>
      <p:sp>
        <p:nvSpPr>
          <p:cNvPr id="32" name="Text 3"/>
          <p:cNvSpPr/>
          <p:nvPr/>
        </p:nvSpPr>
        <p:spPr>
          <a:xfrm>
            <a:off x="6706558" y="3912011"/>
            <a:ext cx="154777" cy="23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*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" name="Text 3"/>
          <p:cNvSpPr/>
          <p:nvPr/>
        </p:nvSpPr>
        <p:spPr>
          <a:xfrm>
            <a:off x="5290330" y="4428858"/>
            <a:ext cx="154777" cy="23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*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Text 3"/>
          <p:cNvSpPr/>
          <p:nvPr/>
        </p:nvSpPr>
        <p:spPr>
          <a:xfrm>
            <a:off x="6706558" y="3276366"/>
            <a:ext cx="154777" cy="23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*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35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0"/>
          <p:cNvSpPr/>
          <p:nvPr/>
        </p:nvSpPr>
        <p:spPr>
          <a:xfrm>
            <a:off x="661475" y="80233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Predição Final: Métrica Induzida e Saída Sigmoidal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 1"/>
          <p:cNvSpPr/>
          <p:nvPr/>
        </p:nvSpPr>
        <p:spPr>
          <a:xfrm>
            <a:off x="661475" y="1649762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Após achatar as unidades da última camada convolucional em um único vetor, aplica-se uma camada totalmente conectada e então a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distância entre os gêmeos siameses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: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55108"/>
            <a:ext cx="10868745" cy="712291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661475" y="344195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Interpretação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61475" y="3865713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: função sigmoidal, mapeia a saída para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985" y="3897463"/>
            <a:ext cx="98026" cy="206573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2587" y="3889574"/>
            <a:ext cx="323445" cy="200323"/>
          </a:xfrm>
          <a:prstGeom prst="rect">
            <a:avLst/>
          </a:prstGeom>
        </p:spPr>
      </p:pic>
      <p:sp>
        <p:nvSpPr>
          <p:cNvPr id="20" name="Text 4"/>
          <p:cNvSpPr/>
          <p:nvPr/>
        </p:nvSpPr>
        <p:spPr>
          <a:xfrm>
            <a:off x="661475" y="4171605"/>
            <a:ext cx="523266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: pesos aprendidos que ponderam a distância componente a componente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985" y="4203355"/>
            <a:ext cx="164501" cy="206573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661475" y="4725543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r>
              <a:rPr lang="en-US" sz="1300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: 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distância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ponderada entre os vetores de features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985" y="4742757"/>
            <a:ext cx="792242" cy="223143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2862" y="4767017"/>
            <a:ext cx="174621" cy="206573"/>
          </a:xfrm>
          <a:prstGeom prst="rect">
            <a:avLst/>
          </a:prstGeom>
        </p:spPr>
      </p:pic>
      <p:sp>
        <p:nvSpPr>
          <p:cNvPr id="25" name="Text 6"/>
          <p:cNvSpPr/>
          <p:nvPr/>
        </p:nvSpPr>
        <p:spPr>
          <a:xfrm>
            <a:off x="6303904" y="344195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Predição One-Shot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Text 7"/>
          <p:cNvSpPr/>
          <p:nvPr/>
        </p:nvSpPr>
        <p:spPr>
          <a:xfrm>
            <a:off x="6303904" y="3865713"/>
            <a:ext cx="523266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Para classificar uma imagem de teste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em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categorias, computa-se o score para cada par e prediz-se a classe de maior similaridade: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9582" y="3897463"/>
            <a:ext cx="98125" cy="200323"/>
          </a:xfrm>
          <a:prstGeom prst="rect">
            <a:avLst/>
          </a:prstGeom>
        </p:spPr>
      </p:pic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3922" y="3912193"/>
            <a:ext cx="127096" cy="206573"/>
          </a:xfrm>
          <a:prstGeom prst="rect">
            <a:avLst/>
          </a:prstGeom>
        </p:spPr>
      </p:pic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3904" y="4571059"/>
            <a:ext cx="5232666" cy="29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0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0"/>
          <p:cNvSpPr/>
          <p:nvPr/>
        </p:nvSpPr>
        <p:spPr>
          <a:xfrm>
            <a:off x="3242753" y="531438"/>
            <a:ext cx="5505409" cy="63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Melhor Arquitetura Convolucional</a:t>
            </a:r>
            <a:endParaRPr lang="en-US" sz="3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45" y="1633307"/>
            <a:ext cx="10868745" cy="2115847"/>
          </a:xfrm>
          <a:prstGeom prst="rect">
            <a:avLst/>
          </a:prstGeom>
        </p:spPr>
      </p:pic>
      <p:sp>
        <p:nvSpPr>
          <p:cNvPr id="18" name="Shape 1"/>
          <p:cNvSpPr/>
          <p:nvPr/>
        </p:nvSpPr>
        <p:spPr>
          <a:xfrm>
            <a:off x="610345" y="4473218"/>
            <a:ext cx="463042" cy="694630"/>
          </a:xfrm>
          <a:prstGeom prst="roundRect">
            <a:avLst>
              <a:gd name="adj" fmla="val 5000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9" name="Text 2"/>
          <p:cNvSpPr/>
          <p:nvPr/>
        </p:nvSpPr>
        <p:spPr>
          <a:xfrm>
            <a:off x="755002" y="4712038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1</a:t>
            </a:r>
            <a:endParaRPr lang="en-US" sz="13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 3"/>
          <p:cNvSpPr/>
          <p:nvPr/>
        </p:nvSpPr>
        <p:spPr>
          <a:xfrm>
            <a:off x="1154348" y="4588906"/>
            <a:ext cx="899769" cy="18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Conv + ReLU</a:t>
            </a:r>
            <a:endParaRPr lang="en-US" sz="11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1154348" y="4818400"/>
            <a:ext cx="1718475" cy="16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64 filtros 10×10, entrada 105×105</a:t>
            </a:r>
            <a:endParaRPr lang="en-US" sz="9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3141032" y="4466013"/>
            <a:ext cx="463042" cy="694630"/>
          </a:xfrm>
          <a:prstGeom prst="roundRect">
            <a:avLst>
              <a:gd name="adj" fmla="val 5000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3" name="Text 6"/>
          <p:cNvSpPr/>
          <p:nvPr/>
        </p:nvSpPr>
        <p:spPr>
          <a:xfrm>
            <a:off x="3285689" y="4704833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2</a:t>
            </a:r>
            <a:endParaRPr lang="en-US" sz="13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Text 7"/>
          <p:cNvSpPr/>
          <p:nvPr/>
        </p:nvSpPr>
        <p:spPr>
          <a:xfrm>
            <a:off x="3685035" y="4581702"/>
            <a:ext cx="1399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Max-Pool + Conv + ReLU</a:t>
            </a:r>
            <a:endParaRPr lang="en-US" sz="11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Text 8"/>
          <p:cNvSpPr/>
          <p:nvPr/>
        </p:nvSpPr>
        <p:spPr>
          <a:xfrm>
            <a:off x="3685035" y="4811195"/>
            <a:ext cx="1399499" cy="128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128 filtros 7×7</a:t>
            </a:r>
            <a:endParaRPr lang="en-US" sz="9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5451455" y="4468923"/>
            <a:ext cx="463042" cy="694630"/>
          </a:xfrm>
          <a:prstGeom prst="roundRect">
            <a:avLst>
              <a:gd name="adj" fmla="val 5000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7" name="Text 10"/>
          <p:cNvSpPr/>
          <p:nvPr/>
        </p:nvSpPr>
        <p:spPr>
          <a:xfrm>
            <a:off x="5596112" y="4707743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3</a:t>
            </a:r>
            <a:endParaRPr lang="en-US" sz="13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5995458" y="4584612"/>
            <a:ext cx="1399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Max-Pool + Conv + ReLU</a:t>
            </a:r>
            <a:endParaRPr lang="en-US" sz="11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5995458" y="4814105"/>
            <a:ext cx="1399499" cy="14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128 filtros 4×4</a:t>
            </a:r>
            <a:endParaRPr lang="en-US" sz="9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7823139" y="4468147"/>
            <a:ext cx="463042" cy="694630"/>
          </a:xfrm>
          <a:prstGeom prst="roundRect">
            <a:avLst>
              <a:gd name="adj" fmla="val 5000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31" name="Text 14"/>
          <p:cNvSpPr/>
          <p:nvPr/>
        </p:nvSpPr>
        <p:spPr>
          <a:xfrm>
            <a:off x="7967796" y="4706967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4</a:t>
            </a:r>
            <a:endParaRPr lang="en-US" sz="13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8367142" y="4583836"/>
            <a:ext cx="89976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Conv + ReLU</a:t>
            </a:r>
            <a:endParaRPr lang="en-US" sz="11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8367142" y="4813328"/>
            <a:ext cx="899769" cy="149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256 filtros 4×4</a:t>
            </a:r>
            <a:endParaRPr lang="en-US" sz="9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Shape 17"/>
          <p:cNvSpPr/>
          <p:nvPr/>
        </p:nvSpPr>
        <p:spPr>
          <a:xfrm>
            <a:off x="9586718" y="4473218"/>
            <a:ext cx="463042" cy="694630"/>
          </a:xfrm>
          <a:prstGeom prst="roundRect">
            <a:avLst>
              <a:gd name="adj" fmla="val 5000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35" name="Text 18"/>
          <p:cNvSpPr/>
          <p:nvPr/>
        </p:nvSpPr>
        <p:spPr>
          <a:xfrm>
            <a:off x="9731375" y="4712038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5</a:t>
            </a:r>
            <a:endParaRPr lang="en-US" sz="13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10130721" y="4588907"/>
            <a:ext cx="1399499" cy="14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FC + Sigmoid + Dist. L1</a:t>
            </a:r>
            <a:endParaRPr lang="en-US" sz="11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10130721" y="4818400"/>
            <a:ext cx="1399499" cy="128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4096 unidades → saída 1×1</a:t>
            </a:r>
            <a:endParaRPr lang="en-US" sz="9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86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693372" y="77682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Função de Custo: Cross-Entropy Regularizada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93372" y="1624253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treinamento utiliza um classificador binário com objetivo de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cross-entropy regularizada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. Seja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o tamanho do minibatch 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o vetor de rótulos — onde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para mesmo caractere 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para classes diferentes: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229" y="1656003"/>
            <a:ext cx="174323" cy="206573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7438" y="1656003"/>
            <a:ext cx="753548" cy="229394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345" y="1913774"/>
            <a:ext cx="381189" cy="206573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3298" y="1913774"/>
            <a:ext cx="381189" cy="206573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372" y="2735184"/>
            <a:ext cx="10868745" cy="405209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693372" y="351494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Termos da Função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8" name="Text 3"/>
          <p:cNvSpPr/>
          <p:nvPr/>
        </p:nvSpPr>
        <p:spPr>
          <a:xfrm>
            <a:off x="693372" y="3982448"/>
            <a:ext cx="5232666" cy="801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Primeiro termo: penaliza pares do mesmo par preditos como diferentes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Segundo termo: penaliza pares distintos preditos como iguais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4"/>
          <p:cNvSpPr/>
          <p:nvPr/>
        </p:nvSpPr>
        <p:spPr>
          <a:xfrm>
            <a:off x="693372" y="4534655"/>
            <a:ext cx="5005679" cy="206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Terceiro termo: regularização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sobre os pesos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1720" y="4566405"/>
            <a:ext cx="149616" cy="176993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1098" y="4580897"/>
            <a:ext cx="117227" cy="171637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6335801" y="351494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Backpropagation com Pesos Amarrados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Text 6"/>
          <p:cNvSpPr/>
          <p:nvPr/>
        </p:nvSpPr>
        <p:spPr>
          <a:xfrm>
            <a:off x="6335801" y="3938707"/>
            <a:ext cx="523266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gradiente é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aditivo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entre as redes gêmeas devido ao compartilhamento de pesos. Isso simplifica a atualização e garante consistência na aprendizagem de features simétricas.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25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629577" y="6581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Otimização: Regra de Atualização com Momentum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629577" y="1505565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treinamento usa minibatches de tamanho 128 com taxa de aprendizado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, momentum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e regularização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com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definidos por camada. A regra de atualização na época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é: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862" y="1547039"/>
            <a:ext cx="141482" cy="206573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879" y="1537315"/>
            <a:ext cx="158548" cy="206573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6838" y="1547039"/>
            <a:ext cx="174621" cy="206573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5200" y="1547039"/>
            <a:ext cx="155373" cy="206573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8006" y="1783731"/>
            <a:ext cx="116778" cy="206573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77" y="2210911"/>
            <a:ext cx="10868745" cy="333673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577" y="2753836"/>
            <a:ext cx="10868745" cy="333673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629577" y="346206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Agenda de Aprendizado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29577" y="3885823"/>
            <a:ext cx="5160767" cy="296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Taxa de aprendizado decaída em 1% por época: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7307" y="3883702"/>
            <a:ext cx="1202104" cy="235545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>
            <a:off x="629577" y="4191714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Momentum iniciando em 0.5, aumentando linearmente até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921" y="4215786"/>
            <a:ext cx="158548" cy="206573"/>
          </a:xfrm>
          <a:prstGeom prst="rect">
            <a:avLst/>
          </a:prstGeom>
        </p:spPr>
      </p:pic>
      <p:sp>
        <p:nvSpPr>
          <p:cNvPr id="21" name="Text 5"/>
          <p:cNvSpPr/>
          <p:nvPr/>
        </p:nvSpPr>
        <p:spPr>
          <a:xfrm>
            <a:off x="629577" y="4497606"/>
            <a:ext cx="523266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Máximo de 200 épocas; parada antecipada após 20 épocas sem melhora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6"/>
          <p:cNvSpPr/>
          <p:nvPr/>
        </p:nvSpPr>
        <p:spPr>
          <a:xfrm>
            <a:off x="6272006" y="346206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Inicialização dos Pesos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Text 7"/>
          <p:cNvSpPr/>
          <p:nvPr/>
        </p:nvSpPr>
        <p:spPr>
          <a:xfrm>
            <a:off x="6272006" y="3885823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Camadas convolucionais: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6952" y="3933546"/>
            <a:ext cx="749083" cy="200323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6272006" y="4191714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Biases convolucionais: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9100" y="4222036"/>
            <a:ext cx="874691" cy="200323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6272006" y="4497606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Camadas FC: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9160" y="4521467"/>
            <a:ext cx="1027285" cy="20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8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661475" y="74366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Otimização de Hiperparâmetros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Text 1"/>
          <p:cNvSpPr/>
          <p:nvPr/>
        </p:nvSpPr>
        <p:spPr>
          <a:xfrm>
            <a:off x="661475" y="1591091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Foi utilizado o framework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Whetlab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(otimização Bayesiana) para seleção de hiperparâmetros, maximizando a acurácia de validação one-shot.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61475" y="2025173"/>
            <a:ext cx="3512653" cy="1451570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2318585" y="2174001"/>
            <a:ext cx="198433" cy="198438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845819" y="2686665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Taxa de Aprendizado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845819" y="3044348"/>
            <a:ext cx="314396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por camada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19" y="3076098"/>
            <a:ext cx="1156167" cy="206573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339422" y="2025173"/>
            <a:ext cx="3512752" cy="1451570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5996532" y="2174001"/>
            <a:ext cx="198433" cy="198438"/>
          </a:xfrm>
          <a:prstGeom prst="rect">
            <a:avLst/>
          </a:prstGeom>
        </p:spPr>
      </p:pic>
      <p:sp>
        <p:nvSpPr>
          <p:cNvPr id="21" name="Text 4"/>
          <p:cNvSpPr/>
          <p:nvPr/>
        </p:nvSpPr>
        <p:spPr>
          <a:xfrm>
            <a:off x="4523766" y="2686665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Momentum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5"/>
          <p:cNvSpPr/>
          <p:nvPr/>
        </p:nvSpPr>
        <p:spPr>
          <a:xfrm>
            <a:off x="4523766" y="3044348"/>
            <a:ext cx="314406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por camada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23766" y="3076098"/>
            <a:ext cx="706321" cy="206573"/>
          </a:xfrm>
          <a:prstGeom prst="rect">
            <a:avLst/>
          </a:prstGeom>
        </p:spPr>
      </p:pic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017468" y="2025173"/>
            <a:ext cx="3512653" cy="1451570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9674578" y="2174001"/>
            <a:ext cx="198433" cy="198438"/>
          </a:xfrm>
          <a:prstGeom prst="rect">
            <a:avLst/>
          </a:prstGeom>
        </p:spPr>
      </p:pic>
      <p:sp>
        <p:nvSpPr>
          <p:cNvPr id="26" name="Text 6"/>
          <p:cNvSpPr/>
          <p:nvPr/>
        </p:nvSpPr>
        <p:spPr>
          <a:xfrm>
            <a:off x="8201812" y="2686665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Regularização L₂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Text 7"/>
          <p:cNvSpPr/>
          <p:nvPr/>
        </p:nvSpPr>
        <p:spPr>
          <a:xfrm>
            <a:off x="8201812" y="3044348"/>
            <a:ext cx="314396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por camada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01812" y="3076098"/>
            <a:ext cx="828753" cy="206573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661475" y="3642042"/>
            <a:ext cx="5351626" cy="1451570"/>
          </a:xfrm>
          <a:prstGeom prst="rect">
            <a:avLst/>
          </a:prstGeom>
        </p:spPr>
      </p:pic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xmlns="" r:embed="rId20"/>
              </a:ext>
            </a:extLst>
          </a:blip>
          <a:stretch>
            <a:fillRect/>
          </a:stretch>
        </p:blipFill>
        <p:spPr>
          <a:xfrm>
            <a:off x="3238022" y="3790870"/>
            <a:ext cx="198433" cy="198438"/>
          </a:xfrm>
          <a:prstGeom prst="rect">
            <a:avLst/>
          </a:prstGeom>
        </p:spPr>
      </p:pic>
      <p:sp>
        <p:nvSpPr>
          <p:cNvPr id="31" name="Text 8"/>
          <p:cNvSpPr/>
          <p:nvPr/>
        </p:nvSpPr>
        <p:spPr>
          <a:xfrm>
            <a:off x="845819" y="4303533"/>
            <a:ext cx="498293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Filtros Convolucionais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Text 9"/>
          <p:cNvSpPr/>
          <p:nvPr/>
        </p:nvSpPr>
        <p:spPr>
          <a:xfrm>
            <a:off x="845819" y="4661217"/>
            <a:ext cx="498293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Tamanho: 3×3 a 20×20; quantidade: 16 a 256 (múltiplos de 16)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6178395" y="3642042"/>
            <a:ext cx="5351725" cy="1451570"/>
          </a:xfrm>
          <a:prstGeom prst="rect">
            <a:avLst/>
          </a:prstGeom>
        </p:spPr>
      </p:pic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23"/>
              </a:ext>
            </a:extLst>
          </a:blip>
          <a:stretch>
            <a:fillRect/>
          </a:stretch>
        </p:blipFill>
        <p:spPr>
          <a:xfrm>
            <a:off x="8755042" y="3790870"/>
            <a:ext cx="198433" cy="198438"/>
          </a:xfrm>
          <a:prstGeom prst="rect">
            <a:avLst/>
          </a:prstGeom>
        </p:spPr>
      </p:pic>
      <p:sp>
        <p:nvSpPr>
          <p:cNvPr id="35" name="Text 10"/>
          <p:cNvSpPr/>
          <p:nvPr/>
        </p:nvSpPr>
        <p:spPr>
          <a:xfrm>
            <a:off x="6362739" y="4303533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Camadas FC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6362739" y="4661217"/>
            <a:ext cx="498303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128 a 4096 unidades (múltiplos de 16)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6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0"/>
          <p:cNvSpPr/>
          <p:nvPr/>
        </p:nvSpPr>
        <p:spPr>
          <a:xfrm>
            <a:off x="393306" y="67667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Aumento de Dados: Distorções Afins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73" y="2516886"/>
            <a:ext cx="4809713" cy="1477218"/>
          </a:xfrm>
          <a:prstGeom prst="rect">
            <a:avLst/>
          </a:prstGeom>
        </p:spPr>
      </p:pic>
      <p:sp>
        <p:nvSpPr>
          <p:cNvPr id="21" name="Text 1"/>
          <p:cNvSpPr/>
          <p:nvPr/>
        </p:nvSpPr>
        <p:spPr>
          <a:xfrm>
            <a:off x="5472087" y="1606753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Transformações Afins Estocásticas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5472087" y="2030516"/>
            <a:ext cx="579621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Para cada par de imagens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, são geradas transformações afins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produzindo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. Cada transformação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é parametrizada por: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84" y="2062266"/>
            <a:ext cx="523068" cy="200323"/>
          </a:xfrm>
          <a:prstGeom prst="rect">
            <a:avLst/>
          </a:prstGeom>
        </p:spPr>
      </p:pic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324" y="2062266"/>
            <a:ext cx="389722" cy="206573"/>
          </a:xfrm>
          <a:prstGeom prst="rect">
            <a:avLst/>
          </a:prstGeom>
        </p:spPr>
      </p:pic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9932" y="2310313"/>
            <a:ext cx="825579" cy="206573"/>
          </a:xfrm>
          <a:prstGeom prst="rect">
            <a:avLst/>
          </a:prstGeom>
        </p:spPr>
      </p:pic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4615" y="2310313"/>
            <a:ext cx="825579" cy="206573"/>
          </a:xfrm>
          <a:prstGeom prst="rect">
            <a:avLst/>
          </a:prstGeom>
        </p:spPr>
      </p:pic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3598" y="2320236"/>
            <a:ext cx="116778" cy="206573"/>
          </a:xfrm>
          <a:prstGeom prst="rect">
            <a:avLst/>
          </a:prstGeom>
        </p:spPr>
      </p:pic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2087" y="2935391"/>
            <a:ext cx="5796214" cy="289123"/>
          </a:xfrm>
          <a:prstGeom prst="rect">
            <a:avLst/>
          </a:prstGeom>
        </p:spPr>
      </p:pic>
      <p:sp>
        <p:nvSpPr>
          <p:cNvPr id="29" name="Text 3"/>
          <p:cNvSpPr/>
          <p:nvPr/>
        </p:nvSpPr>
        <p:spPr>
          <a:xfrm>
            <a:off x="5472087" y="3482285"/>
            <a:ext cx="640579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Rotação: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8532" y="3514035"/>
            <a:ext cx="1049907" cy="206573"/>
          </a:xfrm>
          <a:prstGeom prst="rect">
            <a:avLst/>
          </a:prstGeom>
        </p:spPr>
      </p:pic>
      <p:sp>
        <p:nvSpPr>
          <p:cNvPr id="31" name="Text 4"/>
          <p:cNvSpPr/>
          <p:nvPr/>
        </p:nvSpPr>
        <p:spPr>
          <a:xfrm>
            <a:off x="5472087" y="3788176"/>
            <a:ext cx="640579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Cisalhamento: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2442" y="3819926"/>
            <a:ext cx="1276913" cy="206573"/>
          </a:xfrm>
          <a:prstGeom prst="rect">
            <a:avLst/>
          </a:prstGeom>
        </p:spPr>
      </p:pic>
      <p:sp>
        <p:nvSpPr>
          <p:cNvPr id="33" name="Text 5"/>
          <p:cNvSpPr/>
          <p:nvPr/>
        </p:nvSpPr>
        <p:spPr>
          <a:xfrm>
            <a:off x="5472087" y="4094068"/>
            <a:ext cx="640579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Escala: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3520" y="4125818"/>
            <a:ext cx="1135729" cy="206573"/>
          </a:xfrm>
          <a:prstGeom prst="rect">
            <a:avLst/>
          </a:prstGeom>
        </p:spPr>
      </p:pic>
      <p:sp>
        <p:nvSpPr>
          <p:cNvPr id="35" name="Text 6"/>
          <p:cNvSpPr/>
          <p:nvPr/>
        </p:nvSpPr>
        <p:spPr>
          <a:xfrm>
            <a:off x="5472087" y="4399959"/>
            <a:ext cx="640579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Translação: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30338" y="4431709"/>
            <a:ext cx="975296" cy="206573"/>
          </a:xfrm>
          <a:prstGeom prst="rect">
            <a:avLst/>
          </a:prstGeom>
        </p:spPr>
      </p:pic>
      <p:sp>
        <p:nvSpPr>
          <p:cNvPr id="37" name="Text 7"/>
          <p:cNvSpPr/>
          <p:nvPr/>
        </p:nvSpPr>
        <p:spPr>
          <a:xfrm>
            <a:off x="5472087" y="4705850"/>
            <a:ext cx="640579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Cada componente incluída com probabilidade 0.5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36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523252" y="80327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O Dataset Omniglot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56" y="2689567"/>
            <a:ext cx="5067902" cy="1344566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6165681" y="173334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Características do Dataset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2"/>
          <p:cNvSpPr/>
          <p:nvPr/>
        </p:nvSpPr>
        <p:spPr>
          <a:xfrm>
            <a:off x="6165681" y="2157112"/>
            <a:ext cx="5232666" cy="801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Coletado via Amazon Mechanical Turk por Brenden Lake (MIT)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50 alfabetos: de idiomas internacionais (Latino, Coreano) a fictícios (Klingon, Aurek-Besh)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 3"/>
          <p:cNvSpPr/>
          <p:nvPr/>
        </p:nvSpPr>
        <p:spPr>
          <a:xfrm>
            <a:off x="6165681" y="3016942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Imagens binárias de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pixels, desenhadas à mão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206" y="3069213"/>
            <a:ext cx="682112" cy="200323"/>
          </a:xfrm>
          <a:prstGeom prst="rect">
            <a:avLst/>
          </a:prstGeom>
        </p:spPr>
      </p:pic>
      <p:sp>
        <p:nvSpPr>
          <p:cNvPr id="22" name="Text 4"/>
          <p:cNvSpPr/>
          <p:nvPr/>
        </p:nvSpPr>
        <p:spPr>
          <a:xfrm>
            <a:off x="6165681" y="3322833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20 desenhistas por caractere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Text 5"/>
          <p:cNvSpPr/>
          <p:nvPr/>
        </p:nvSpPr>
        <p:spPr>
          <a:xfrm>
            <a:off x="6165681" y="373617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Divisão Experimental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Text 6"/>
          <p:cNvSpPr/>
          <p:nvPr/>
        </p:nvSpPr>
        <p:spPr>
          <a:xfrm>
            <a:off x="6165681" y="4159942"/>
            <a:ext cx="5232666" cy="105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Background set: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40 alfabetos — treino e validação (tuning de hyperparâmetros)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Evaluation set: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10 alfabetos — exclusivamente para medir one-shot performance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4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3837555" y="311231"/>
            <a:ext cx="4516581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Divisão dos Dados para Verificação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Text 1"/>
          <p:cNvSpPr/>
          <p:nvPr/>
        </p:nvSpPr>
        <p:spPr>
          <a:xfrm>
            <a:off x="661474" y="931920"/>
            <a:ext cx="11300153" cy="438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Para treinar a rede de verificação, foram criados três tamanhos de datasets amostrados com pares </a:t>
            </a:r>
            <a:r>
              <a:rPr lang="en-US" sz="2000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aleatórios</a:t>
            </a:r>
            <a:endParaRPr lang="en-US" sz="2000" dirty="0" smtClean="0">
              <a:solidFill>
                <a:srgbClr val="384653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en-US" sz="2000" b="1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mesmo</a:t>
            </a:r>
            <a:r>
              <a:rPr lang="en-US" sz="2000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20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e </a:t>
            </a:r>
            <a:r>
              <a:rPr lang="en-US" sz="20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diferente</a:t>
            </a:r>
            <a:r>
              <a:rPr lang="en-US" sz="20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419" y="1603947"/>
            <a:ext cx="7128855" cy="4010043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661474" y="5684312"/>
            <a:ext cx="11478330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Com a adição de 8 distorções afins por exemplo, os conjuntos efetivos chegam a 270K, 810K e 1.350K amostras, respectivamente, </a:t>
            </a:r>
            <a:r>
              <a:rPr lang="en-US" sz="1500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ampliando</a:t>
            </a:r>
            <a:endParaRPr lang="en-US" sz="1500" dirty="0" smtClean="0">
              <a:solidFill>
                <a:srgbClr val="384653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en-US" sz="1500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significativamente</a:t>
            </a:r>
            <a:r>
              <a:rPr lang="en-US" sz="1500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5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 diversidade do treino.</a:t>
            </a:r>
            <a:endParaRPr lang="en-US" sz="15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96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0"/>
          <p:cNvSpPr/>
          <p:nvPr/>
        </p:nvSpPr>
        <p:spPr>
          <a:xfrm>
            <a:off x="4085161" y="515450"/>
            <a:ext cx="4442152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Resultados de Verificação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1717"/>
              </p:ext>
            </p:extLst>
          </p:nvPr>
        </p:nvGraphicFramePr>
        <p:xfrm>
          <a:off x="650843" y="1849234"/>
          <a:ext cx="5796214" cy="3252311"/>
        </p:xfrm>
        <a:graphic>
          <a:graphicData uri="http://schemas.openxmlformats.org/drawingml/2006/table">
            <a:tbl>
              <a:tblPr/>
              <a:tblGrid>
                <a:gridCol w="2898107"/>
                <a:gridCol w="2898107"/>
              </a:tblGrid>
              <a:tr h="462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Método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Acurácia (%)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65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30k — sem distorções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90.61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65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30k — distorções afins ×8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91.90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65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90k — sem distorções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91.54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65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90k — distorções afins ×8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93.15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65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150k — sem distorções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91.63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62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150k — distorções afins ×8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93.42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16" name="Text 1"/>
          <p:cNvSpPr/>
          <p:nvPr/>
        </p:nvSpPr>
        <p:spPr>
          <a:xfrm>
            <a:off x="6856820" y="1828497"/>
            <a:ext cx="46690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Observações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 2"/>
          <p:cNvSpPr/>
          <p:nvPr/>
        </p:nvSpPr>
        <p:spPr>
          <a:xfrm>
            <a:off x="6856820" y="2252260"/>
            <a:ext cx="4669018" cy="1107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Distorções afins consistentemente melhoram a acurácia em todos os tamanhos de dataset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ganho marginal com mais dados diminui após 90k pares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Melhor resultado: </a:t>
            </a:r>
            <a:r>
              <a:rPr lang="en-US" sz="1300" b="1" dirty="0">
                <a:solidFill>
                  <a:srgbClr val="C3643D"/>
                </a:solidFill>
                <a:latin typeface="Calibri" charset="0"/>
                <a:ea typeface="Calibri" charset="0"/>
                <a:cs typeface="Calibri" charset="0"/>
              </a:rPr>
              <a:t>93.42%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com 150k + distorções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6856820" y="3546172"/>
            <a:ext cx="4669018" cy="1124347"/>
          </a:xfrm>
          <a:prstGeom prst="roundRect">
            <a:avLst>
              <a:gd name="adj" fmla="val 6178"/>
            </a:avLst>
          </a:prstGeom>
          <a:solidFill>
            <a:srgbClr val="D9EDF2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115" y="3785885"/>
            <a:ext cx="206667" cy="165298"/>
          </a:xfrm>
          <a:prstGeom prst="rect">
            <a:avLst/>
          </a:prstGeom>
        </p:spPr>
      </p:pic>
      <p:sp>
        <p:nvSpPr>
          <p:cNvPr id="20" name="Text 4"/>
          <p:cNvSpPr/>
          <p:nvPr/>
        </p:nvSpPr>
        <p:spPr>
          <a:xfrm>
            <a:off x="7394077" y="3736275"/>
            <a:ext cx="396646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O critério de parada foi baseado no erro de validação one-shot (320 trials), ao menos tão eficaz quanto o erro de verificação.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57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0"/>
          <p:cNvSpPr/>
          <p:nvPr/>
        </p:nvSpPr>
        <p:spPr>
          <a:xfrm>
            <a:off x="2694896" y="319807"/>
            <a:ext cx="6664358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Filtros Aprendidos na Primeira Camada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06" y="2244169"/>
            <a:ext cx="5447575" cy="1855351"/>
          </a:xfrm>
          <a:prstGeom prst="rect">
            <a:avLst/>
          </a:prstGeom>
        </p:spPr>
      </p:pic>
      <p:sp>
        <p:nvSpPr>
          <p:cNvPr id="20" name="Text 1"/>
          <p:cNvSpPr/>
          <p:nvPr/>
        </p:nvSpPr>
        <p:spPr>
          <a:xfrm>
            <a:off x="6027075" y="1962265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Papéis Distintos dos Filtros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Text 2"/>
          <p:cNvSpPr/>
          <p:nvPr/>
        </p:nvSpPr>
        <p:spPr>
          <a:xfrm>
            <a:off x="6027075" y="2386028"/>
            <a:ext cx="579621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Os 32 primeiros filtros extraídos das duas melhores redes (treinadas com 90k e 150k + distorções) revelam especialização espontânea: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3"/>
          <p:cNvSpPr/>
          <p:nvPr/>
        </p:nvSpPr>
        <p:spPr>
          <a:xfrm>
            <a:off x="6027075" y="3030950"/>
            <a:ext cx="5796214" cy="1107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Alguns filtros detectam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características pontuais de pequena escala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(bordas finas, cantos)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Outros funcionam como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detectores de bordas de grande escala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e texturas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Há co-adaptação entre filtros, mas papéis claramente distintos emergem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Text 4"/>
          <p:cNvSpPr/>
          <p:nvPr/>
        </p:nvSpPr>
        <p:spPr>
          <a:xfrm>
            <a:off x="6027075" y="4287655"/>
            <a:ext cx="579621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Isso demonstra que a rede aprende uma representação rica e diversificada, sem supervisão sobre quais features extrair.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97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0"/>
          <p:cNvSpPr/>
          <p:nvPr/>
        </p:nvSpPr>
        <p:spPr>
          <a:xfrm>
            <a:off x="693372" y="60572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Resultados: One-Shot Learning no Omniglot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72" y="1556537"/>
            <a:ext cx="5796214" cy="3978077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6899349" y="1535800"/>
            <a:ext cx="46690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Análise Comparativa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899349" y="1959563"/>
            <a:ext cx="4669018" cy="2215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Rede Siamesa Convolucional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alcança </a:t>
            </a:r>
            <a:r>
              <a:rPr lang="en-US" sz="1300" b="1" dirty="0">
                <a:solidFill>
                  <a:srgbClr val="C3643D"/>
                </a:solidFill>
                <a:latin typeface="Calibri" charset="0"/>
                <a:ea typeface="Calibri" charset="0"/>
                <a:cs typeface="Calibri" charset="0"/>
              </a:rPr>
              <a:t>92%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de acurácia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Supera todos os baselines exceto o HBPL (95.2%)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HBPL incorpora conhecimento a priori sobre traços de escrita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 rede siamesa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não utiliza nenhum conhecimento de domínio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sobre caracteres ou traços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 diferença para o nível humano é de apenas 3.5 pontos percentuais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9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0"/>
          <p:cNvSpPr/>
          <p:nvPr/>
        </p:nvSpPr>
        <p:spPr>
          <a:xfrm>
            <a:off x="2388486" y="700862"/>
            <a:ext cx="720897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Protocolo de Avaliação One-Shot (20-way)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" name="Text 1"/>
          <p:cNvSpPr/>
          <p:nvPr/>
        </p:nvSpPr>
        <p:spPr>
          <a:xfrm>
            <a:off x="393306" y="1863267"/>
            <a:ext cx="4338182" cy="310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protocolo de avaliação desenvolvido por Lake consiste em: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393306" y="2645659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4" name="Text 3"/>
          <p:cNvSpPr/>
          <p:nvPr/>
        </p:nvSpPr>
        <p:spPr>
          <a:xfrm>
            <a:off x="455316" y="267666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1</a:t>
            </a:r>
            <a:endParaRPr lang="en-US" sz="19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Text 4"/>
          <p:cNvSpPr/>
          <p:nvPr/>
        </p:nvSpPr>
        <p:spPr>
          <a:xfrm>
            <a:off x="930661" y="2702511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Seleção do Alfabeto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 5"/>
          <p:cNvSpPr/>
          <p:nvPr/>
        </p:nvSpPr>
        <p:spPr>
          <a:xfrm>
            <a:off x="930661" y="3060195"/>
            <a:ext cx="479363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Um alfabeto é escolhido do conjunto de avaliação, junto com 20 caracteres sorteados aleatoriamente.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8" name="Shape 6"/>
          <p:cNvSpPr/>
          <p:nvPr/>
        </p:nvSpPr>
        <p:spPr>
          <a:xfrm>
            <a:off x="5930963" y="2645659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9" name="Text 7"/>
          <p:cNvSpPr/>
          <p:nvPr/>
        </p:nvSpPr>
        <p:spPr>
          <a:xfrm>
            <a:off x="5992973" y="267666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2</a:t>
            </a:r>
            <a:endParaRPr lang="en-US" sz="19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 8"/>
          <p:cNvSpPr/>
          <p:nvPr/>
        </p:nvSpPr>
        <p:spPr>
          <a:xfrm>
            <a:off x="6468318" y="2702511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Geração de Imagens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Text 9"/>
          <p:cNvSpPr/>
          <p:nvPr/>
        </p:nvSpPr>
        <p:spPr>
          <a:xfrm>
            <a:off x="6468318" y="3060195"/>
            <a:ext cx="479373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Dois desenhistas produzem amostras dos 20 caracteres. Os caracteres do primeiro desenhista são as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imagens de teste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Shape 10"/>
          <p:cNvSpPr/>
          <p:nvPr/>
        </p:nvSpPr>
        <p:spPr>
          <a:xfrm>
            <a:off x="393306" y="388698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3" name="Text 11"/>
          <p:cNvSpPr/>
          <p:nvPr/>
        </p:nvSpPr>
        <p:spPr>
          <a:xfrm>
            <a:off x="455316" y="391799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3</a:t>
            </a:r>
            <a:endParaRPr lang="en-US" sz="19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930661" y="3943837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Comparação Par a Par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Text 13"/>
          <p:cNvSpPr/>
          <p:nvPr/>
        </p:nvSpPr>
        <p:spPr>
          <a:xfrm>
            <a:off x="930661" y="4301521"/>
            <a:ext cx="479363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Cada imagem de teste é comparada individualmente contra todos os 20 caracteres do segundo desenhista, predizendo a classe de maior similaridade.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Shape 14"/>
          <p:cNvSpPr/>
          <p:nvPr/>
        </p:nvSpPr>
        <p:spPr>
          <a:xfrm>
            <a:off x="5930963" y="388698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7" name="Text 15"/>
          <p:cNvSpPr/>
          <p:nvPr/>
        </p:nvSpPr>
        <p:spPr>
          <a:xfrm>
            <a:off x="5992973" y="391799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4</a:t>
            </a:r>
            <a:endParaRPr lang="en-US" sz="19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Text 16"/>
          <p:cNvSpPr/>
          <p:nvPr/>
        </p:nvSpPr>
        <p:spPr>
          <a:xfrm>
            <a:off x="6468318" y="3943837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Repetição e Contagem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9" name="Text 17"/>
          <p:cNvSpPr/>
          <p:nvPr/>
        </p:nvSpPr>
        <p:spPr>
          <a:xfrm>
            <a:off x="6468318" y="4301521"/>
            <a:ext cx="479373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processo é repetido duas vezes por alfabeto → 40 trials por alfabeto × 10 alfabetos =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400 trials no total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7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2564704" y="598785"/>
            <a:ext cx="732357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Generalização para MNIST: Teste One-Shot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618944" y="1955470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Configuração do Experimento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18944" y="2379233"/>
            <a:ext cx="5796214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Omniglot é chamado de "MNIST transposto" — o número de classes supera o de instâncias. Para avaliar generalização, os 10 dígitos do MNIST foram tratados como um alfabeto em uma tarefa 10-way one-shot, sem nenhum fine-tuning no MNIST.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18944" y="3520249"/>
            <a:ext cx="5796214" cy="859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400 trials one-shot no conjunto de teste do MNIST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Imagens 28×28 redimensionadas para 35×35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Modelo treinado em Omniglot com imagens 35×35 (downsampled)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667620"/>
              </p:ext>
            </p:extLst>
          </p:nvPr>
        </p:nvGraphicFramePr>
        <p:xfrm>
          <a:off x="6824921" y="1976207"/>
          <a:ext cx="4669018" cy="1390219"/>
        </p:xfrm>
        <a:graphic>
          <a:graphicData uri="http://schemas.openxmlformats.org/drawingml/2006/table">
            <a:tbl>
              <a:tblPr/>
              <a:tblGrid>
                <a:gridCol w="2334509"/>
                <a:gridCol w="2334509"/>
              </a:tblGrid>
              <a:tr h="462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Método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Acurácia (%)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65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1-Nearest Neighbor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26.5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62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Conv. Siamese Net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70.3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13" name="Shape 4"/>
          <p:cNvSpPr/>
          <p:nvPr/>
        </p:nvSpPr>
        <p:spPr>
          <a:xfrm>
            <a:off x="6824921" y="3565195"/>
            <a:ext cx="4669018" cy="1124347"/>
          </a:xfrm>
          <a:prstGeom prst="roundRect">
            <a:avLst>
              <a:gd name="adj" fmla="val 6178"/>
            </a:avLst>
          </a:prstGeom>
          <a:solidFill>
            <a:srgbClr val="D9EDF2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216" y="3804908"/>
            <a:ext cx="206667" cy="165298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7362178" y="3755298"/>
            <a:ext cx="396646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Queda de ~22pp em relação ao Omniglot, mas ainda </a:t>
            </a:r>
            <a:r>
              <a:rPr lang="en-US" sz="1300" b="1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sem nenhum treino em MNIST</a:t>
            </a:r>
            <a:r>
              <a:rPr lang="en-US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 — evidência forte de transferência de features entre domínios.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2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xmlns="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4225" y="322538"/>
            <a:ext cx="5603547" cy="980199"/>
          </a:xfrm>
        </p:spPr>
        <p:txBody>
          <a:bodyPr>
            <a:normAutofit/>
          </a:bodyPr>
          <a:lstStyle/>
          <a:p>
            <a:r>
              <a:rPr lang="pt-BR" dirty="0" smtClean="0"/>
              <a:t>Replicando Resultados</a:t>
            </a:r>
            <a:endParaRPr lang="pt-BR" dirty="0"/>
          </a:p>
        </p:txBody>
      </p: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768" y="1302737"/>
            <a:ext cx="6556744" cy="432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26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5159048" y="144217"/>
            <a:ext cx="1869074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 err="1" smtClean="0">
                <a:ea typeface="MuseoModerno Medium" pitchFamily="34" charset="-122"/>
                <a:cs typeface="MuseoModerno Medium" pitchFamily="34" charset="-120"/>
              </a:rPr>
              <a:t>Limitaç</a:t>
            </a:r>
            <a:r>
              <a:rPr lang="pt-BR" sz="3250" dirty="0" err="1" smtClean="0">
                <a:ea typeface="MuseoModerno Medium" pitchFamily="34" charset="-122"/>
                <a:cs typeface="MuseoModerno Medium" pitchFamily="34" charset="-120"/>
              </a:rPr>
              <a:t>ões</a:t>
            </a:r>
            <a:endParaRPr lang="en-US" sz="3250" dirty="0"/>
          </a:p>
        </p:txBody>
      </p:sp>
      <p:sp>
        <p:nvSpPr>
          <p:cNvPr id="22" name="Shape 1"/>
          <p:cNvSpPr/>
          <p:nvPr/>
        </p:nvSpPr>
        <p:spPr>
          <a:xfrm>
            <a:off x="2817628" y="809246"/>
            <a:ext cx="6900529" cy="1121470"/>
          </a:xfrm>
          <a:prstGeom prst="roundRect">
            <a:avLst>
              <a:gd name="adj" fmla="val 58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3" name="Text 2"/>
          <p:cNvSpPr/>
          <p:nvPr/>
        </p:nvSpPr>
        <p:spPr>
          <a:xfrm>
            <a:off x="3206463" y="972660"/>
            <a:ext cx="597004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Desempenho</a:t>
            </a:r>
            <a:endParaRPr lang="en-US" sz="20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Text 3"/>
          <p:cNvSpPr/>
          <p:nvPr/>
        </p:nvSpPr>
        <p:spPr>
          <a:xfrm>
            <a:off x="3206463" y="1307722"/>
            <a:ext cx="4863649" cy="361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2000"/>
              </a:lnSpc>
            </a:pP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Depende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da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qualidade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da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representação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aprendida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2817628" y="2038603"/>
            <a:ext cx="6900530" cy="1270694"/>
          </a:xfrm>
          <a:prstGeom prst="roundRect">
            <a:avLst>
              <a:gd name="adj" fmla="val 58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6" name="Text 5"/>
          <p:cNvSpPr/>
          <p:nvPr/>
        </p:nvSpPr>
        <p:spPr>
          <a:xfrm>
            <a:off x="3206463" y="2120309"/>
            <a:ext cx="961500" cy="335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Classes</a:t>
            </a:r>
            <a:endParaRPr lang="en-US" sz="20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Text 6"/>
          <p:cNvSpPr/>
          <p:nvPr/>
        </p:nvSpPr>
        <p:spPr>
          <a:xfrm>
            <a:off x="3206463" y="2447804"/>
            <a:ext cx="6296861" cy="823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Se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duas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classes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diferentes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apresentam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características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visuais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muito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semelhantes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, a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rede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pode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produzir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uma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similaridade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incorreta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2817628" y="3434504"/>
            <a:ext cx="6900529" cy="1445839"/>
          </a:xfrm>
          <a:prstGeom prst="roundRect">
            <a:avLst>
              <a:gd name="adj" fmla="val 58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9" name="Text 8"/>
          <p:cNvSpPr/>
          <p:nvPr/>
        </p:nvSpPr>
        <p:spPr>
          <a:xfrm>
            <a:off x="3206463" y="3514009"/>
            <a:ext cx="1663249" cy="24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Generalizaç</a:t>
            </a:r>
            <a:r>
              <a:rPr lang="pt-BR" sz="2000" b="1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ão</a:t>
            </a:r>
            <a:endParaRPr lang="en-US" sz="20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0" name="Text 9"/>
          <p:cNvSpPr/>
          <p:nvPr/>
        </p:nvSpPr>
        <p:spPr>
          <a:xfrm>
            <a:off x="3206463" y="3802967"/>
            <a:ext cx="6394737" cy="709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experimento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principal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está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concentrado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no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domínio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de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caracteres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manuscritos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,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portanto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a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generalização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para outros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domínios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precisa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ser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investigada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(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exemplo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MNIST com 70,3%)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2817628" y="5005550"/>
            <a:ext cx="6900529" cy="1247842"/>
          </a:xfrm>
          <a:prstGeom prst="roundRect">
            <a:avLst>
              <a:gd name="adj" fmla="val 58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32" name="Text 11"/>
          <p:cNvSpPr/>
          <p:nvPr/>
        </p:nvSpPr>
        <p:spPr>
          <a:xfrm>
            <a:off x="3206463" y="5168962"/>
            <a:ext cx="1259211" cy="255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Arquitetura</a:t>
            </a:r>
            <a:endParaRPr lang="en-US" sz="20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3206463" y="5504025"/>
            <a:ext cx="5970041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22000"/>
              </a:lnSpc>
            </a:pP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Relativamente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grande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,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quando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considerado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camada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totalmente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conectada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de 4096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unidades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66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3903218" y="169497"/>
            <a:ext cx="4495431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Contribuições e Conclusões</a:t>
            </a:r>
            <a:endParaRPr lang="en-US" sz="30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2031425" y="693541"/>
            <a:ext cx="8123274" cy="1458454"/>
          </a:xfrm>
          <a:prstGeom prst="roundRect">
            <a:avLst>
              <a:gd name="adj" fmla="val 58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8" name="Text 2"/>
          <p:cNvSpPr/>
          <p:nvPr/>
        </p:nvSpPr>
        <p:spPr>
          <a:xfrm>
            <a:off x="2373808" y="726342"/>
            <a:ext cx="3077379" cy="288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Aprendizado Métrico Eficaz</a:t>
            </a:r>
            <a:endParaRPr lang="en-US" sz="20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3"/>
          <p:cNvSpPr/>
          <p:nvPr/>
        </p:nvSpPr>
        <p:spPr>
          <a:xfrm>
            <a:off x="2373808" y="1074524"/>
            <a:ext cx="7568240" cy="1020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Redes siamesas convolucionais aprendem uma métrica de similaridade poderosa via verificação, transferível a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novas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classes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adequada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para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situações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nas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quais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novas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classes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possuem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poucos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dados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2031424" y="2295761"/>
            <a:ext cx="8123275" cy="1121470"/>
          </a:xfrm>
          <a:prstGeom prst="roundRect">
            <a:avLst>
              <a:gd name="adj" fmla="val 58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1" name="Text 5"/>
          <p:cNvSpPr/>
          <p:nvPr/>
        </p:nvSpPr>
        <p:spPr>
          <a:xfrm>
            <a:off x="2373808" y="2372413"/>
            <a:ext cx="3832290" cy="335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Generalização sem Retreinamento</a:t>
            </a:r>
            <a:endParaRPr lang="en-US" sz="20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6"/>
          <p:cNvSpPr/>
          <p:nvPr/>
        </p:nvSpPr>
        <p:spPr>
          <a:xfrm>
            <a:off x="2371665" y="2661478"/>
            <a:ext cx="7442791" cy="68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Features aprendidas generalizam para distribuições completamente novas — 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n</a:t>
            </a:r>
            <a:r>
              <a:rPr lang="pt-BR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ão</a:t>
            </a:r>
            <a:r>
              <a:rPr lang="pt-BR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precisa conhecer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previamente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as classes que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serão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avaliadas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2031424" y="3586480"/>
            <a:ext cx="8123275" cy="1121470"/>
          </a:xfrm>
          <a:prstGeom prst="roundRect">
            <a:avLst>
              <a:gd name="adj" fmla="val 58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4" name="Text 8"/>
          <p:cNvSpPr/>
          <p:nvPr/>
        </p:nvSpPr>
        <p:spPr>
          <a:xfrm>
            <a:off x="2371665" y="3676110"/>
            <a:ext cx="2913969" cy="24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Próximo ao Nível Humano</a:t>
            </a:r>
            <a:endParaRPr lang="en-US" sz="20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Text 9"/>
          <p:cNvSpPr/>
          <p:nvPr/>
        </p:nvSpPr>
        <p:spPr>
          <a:xfrm>
            <a:off x="2371664" y="3956403"/>
            <a:ext cx="7442791" cy="696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92% de acurácia no Omniglot indica que precisão humana é alcançável com aprendizado métrico baseado em deep 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learning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2031424" y="4897224"/>
            <a:ext cx="8123275" cy="1279739"/>
          </a:xfrm>
          <a:prstGeom prst="roundRect">
            <a:avLst>
              <a:gd name="adj" fmla="val 58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7" name="Text 11"/>
          <p:cNvSpPr/>
          <p:nvPr/>
        </p:nvSpPr>
        <p:spPr>
          <a:xfrm>
            <a:off x="2371664" y="5022972"/>
            <a:ext cx="3438886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Sem Conhecimento de Domínio</a:t>
            </a:r>
            <a:endParaRPr lang="en-US" sz="20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2371664" y="5398083"/>
            <a:ext cx="7442791" cy="696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Diferentemente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do HBPL, a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abordagem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não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depende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de um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modelo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explícito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sobre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como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caracteres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são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desenhados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2953565" y="6283751"/>
            <a:ext cx="6222939" cy="397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Conceito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resumido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: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Aprenda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a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comparar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, n</a:t>
            </a:r>
            <a:r>
              <a:rPr lang="pt-BR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ão</a:t>
            </a:r>
            <a:r>
              <a:rPr lang="pt-BR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apenas a classificar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14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3449469" y="251264"/>
            <a:ext cx="5314022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Resumo do Fluxo de Aprendizado</a:t>
            </a:r>
            <a:endParaRPr lang="en-US" sz="305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861" y="945740"/>
            <a:ext cx="10325239" cy="4529336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4072979" y="4055753"/>
            <a:ext cx="1560525" cy="27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Treinamento</a:t>
            </a:r>
            <a:endParaRPr lang="en-US" sz="17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Text 2"/>
          <p:cNvSpPr/>
          <p:nvPr/>
        </p:nvSpPr>
        <p:spPr>
          <a:xfrm>
            <a:off x="4072979" y="4414653"/>
            <a:ext cx="1560525" cy="653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Rede siamesa, loss CE, pesos amarrados</a:t>
            </a:r>
            <a:endParaRPr lang="en-US" sz="1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 3"/>
          <p:cNvSpPr/>
          <p:nvPr/>
        </p:nvSpPr>
        <p:spPr>
          <a:xfrm>
            <a:off x="9030398" y="3837805"/>
            <a:ext cx="1560525" cy="27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Avaliação</a:t>
            </a:r>
            <a:endParaRPr lang="en-US" sz="17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030398" y="4196705"/>
            <a:ext cx="1560525" cy="87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400 testes one-shot de 20 classes em alphabets reservados</a:t>
            </a:r>
            <a:endParaRPr lang="en-US" sz="1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Text 5"/>
          <p:cNvSpPr/>
          <p:nvPr/>
        </p:nvSpPr>
        <p:spPr>
          <a:xfrm>
            <a:off x="1648910" y="1352824"/>
            <a:ext cx="1560525" cy="27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Preparação</a:t>
            </a:r>
            <a:endParaRPr lang="en-US" sz="17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Text 6"/>
          <p:cNvSpPr/>
          <p:nvPr/>
        </p:nvSpPr>
        <p:spPr>
          <a:xfrm>
            <a:off x="1648910" y="1711724"/>
            <a:ext cx="1560525" cy="653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Omniglot, amostragem de pares, afinações</a:t>
            </a:r>
            <a:endParaRPr lang="en-US" sz="1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Text 7"/>
          <p:cNvSpPr/>
          <p:nvPr/>
        </p:nvSpPr>
        <p:spPr>
          <a:xfrm>
            <a:off x="6586460" y="1352824"/>
            <a:ext cx="1560525" cy="27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Validação</a:t>
            </a:r>
            <a:endParaRPr lang="en-US" sz="17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Text 8"/>
          <p:cNvSpPr/>
          <p:nvPr/>
        </p:nvSpPr>
        <p:spPr>
          <a:xfrm>
            <a:off x="6586460" y="1711724"/>
            <a:ext cx="1560525" cy="653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One-shot, 320 testes aleatórios, early stopping</a:t>
            </a:r>
            <a:endParaRPr lang="en-US" sz="1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Text 9"/>
          <p:cNvSpPr/>
          <p:nvPr/>
        </p:nvSpPr>
        <p:spPr>
          <a:xfrm>
            <a:off x="2065324" y="5475076"/>
            <a:ext cx="9042272" cy="10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pipeline combina engenharia cuidadosa de dados, arquitetura siamesa com pesos amarrados, otimização Bayesiana de hiperparâmetros e avaliação rigorosa — resultando em um sistema de one-shot learning robusto, geral e competitivo com o estado da arte.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9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CA32550-8C76-B013-2EC7-989D8C3B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F043237-7757-7557-B63E-D4EB5152D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82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 smtClean="0"/>
              <a:t>[1] </a:t>
            </a:r>
            <a:r>
              <a:rPr lang="en-US" sz="18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Koch, Gregory, </a:t>
            </a:r>
            <a:r>
              <a:rPr lang="en-US" sz="1800" dirty="0" err="1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Zemel</a:t>
            </a:r>
            <a:r>
              <a:rPr lang="en-US" sz="18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Richard, </a:t>
            </a:r>
            <a:r>
              <a:rPr lang="en-US" sz="1800" dirty="0" err="1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Salakhutdinov</a:t>
            </a:r>
            <a:r>
              <a:rPr lang="en-US" sz="18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800" dirty="0" err="1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Ruslan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Siamese Neural Networks for One-shot Image Recognition. (</a:t>
            </a:r>
            <a:r>
              <a:rPr lang="en-US" sz="18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2015) </a:t>
            </a:r>
            <a:r>
              <a:rPr lang="en-US" sz="1800" i="1" dirty="0" err="1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/>
              </a:rPr>
              <a:t>OneShot</a:t>
            </a:r>
            <a:endParaRPr lang="en-US" sz="1800" dirty="0" smtClean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[2] 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https://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pyimagesearch.com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/2020/11/30/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siamese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-networks-with-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keras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-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tensorflow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-and-deep-learning/</a:t>
            </a:r>
            <a:endParaRPr lang="en-US" sz="1800" dirty="0" smtClean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>
              <a:buNone/>
            </a:pPr>
            <a:r>
              <a:rPr lang="pt-BR" sz="1800" dirty="0" smtClean="0">
                <a:hlinkClick r:id="rId4"/>
              </a:rPr>
              <a:t>[3] </a:t>
            </a:r>
            <a:r>
              <a:rPr lang="pt-BR" sz="1800" dirty="0">
                <a:hlinkClick r:id="rId4"/>
              </a:rPr>
              <a:t>https://medium.com/@</a:t>
            </a:r>
            <a:r>
              <a:rPr lang="pt-BR" sz="1800" dirty="0" smtClean="0">
                <a:hlinkClick r:id="rId4"/>
              </a:rPr>
              <a:t>rinkinag24/a-comprehensive-guide-to-siamese-neural-networks-3358658c0513</a:t>
            </a:r>
            <a:endParaRPr lang="pt-BR" sz="1800" dirty="0" smtClean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 smtClean="0"/>
              <a:t>[4] </a:t>
            </a:r>
            <a:r>
              <a:rPr lang="pt-BR" sz="1800" dirty="0" err="1" smtClean="0"/>
              <a:t>Siamese</a:t>
            </a:r>
            <a:r>
              <a:rPr lang="pt-BR" sz="1800" dirty="0" smtClean="0"/>
              <a:t> Neural Networks - </a:t>
            </a:r>
            <a:r>
              <a:rPr lang="pt-BR" sz="1800" dirty="0" smtClean="0">
                <a:hlinkClick r:id="rId5"/>
              </a:rPr>
              <a:t>https://youtu.be/T9yKyZfxUJg</a:t>
            </a:r>
            <a:endParaRPr lang="pt-BR" sz="1800" dirty="0" smtClean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26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72952" y="365125"/>
            <a:ext cx="3846095" cy="1325563"/>
          </a:xfrm>
        </p:spPr>
        <p:txBody>
          <a:bodyPr/>
          <a:lstStyle/>
          <a:p>
            <a:r>
              <a:rPr lang="pt-BR" dirty="0" smtClean="0"/>
              <a:t>QUESTIONÁRIO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456" y="1457443"/>
            <a:ext cx="3122153" cy="3122153"/>
          </a:xfrm>
        </p:spPr>
      </p:pic>
      <p:sp>
        <p:nvSpPr>
          <p:cNvPr id="5" name="Título 1">
            <a:hlinkClick r:id="rId3"/>
          </p:cNvPr>
          <p:cNvSpPr txBox="1">
            <a:spLocks/>
          </p:cNvSpPr>
          <p:nvPr/>
        </p:nvSpPr>
        <p:spPr>
          <a:xfrm>
            <a:off x="152528" y="5091458"/>
            <a:ext cx="11548010" cy="1085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600" dirty="0" err="1">
                <a:hlinkClick r:id="rId4"/>
              </a:rPr>
              <a:t>https</a:t>
            </a:r>
            <a:r>
              <a:rPr lang="pt-BR" sz="1600" dirty="0">
                <a:hlinkClick r:id="rId4"/>
              </a:rPr>
              <a:t>://</a:t>
            </a:r>
            <a:r>
              <a:rPr lang="pt-BR" sz="1600" dirty="0" err="1">
                <a:hlinkClick r:id="rId4"/>
              </a:rPr>
              <a:t>docs.google.com</a:t>
            </a:r>
            <a:r>
              <a:rPr lang="pt-BR" sz="1600" dirty="0">
                <a:hlinkClick r:id="rId4"/>
              </a:rPr>
              <a:t>/</a:t>
            </a:r>
            <a:r>
              <a:rPr lang="pt-BR" sz="1600" dirty="0" err="1">
                <a:hlinkClick r:id="rId4"/>
              </a:rPr>
              <a:t>forms</a:t>
            </a:r>
            <a:r>
              <a:rPr lang="pt-BR" sz="1600" dirty="0">
                <a:hlinkClick r:id="rId4"/>
              </a:rPr>
              <a:t>/</a:t>
            </a:r>
            <a:r>
              <a:rPr lang="pt-BR" sz="1600" dirty="0" err="1">
                <a:hlinkClick r:id="rId4"/>
              </a:rPr>
              <a:t>d</a:t>
            </a:r>
            <a:r>
              <a:rPr lang="pt-BR" sz="1600" dirty="0">
                <a:hlinkClick r:id="rId4"/>
              </a:rPr>
              <a:t>/e/1FAIpQLSel_lxLd8P9kd5AZn72LC7pnhS3f-LoAB8aRFRjsIt9vQlf2Q/</a:t>
            </a:r>
            <a:r>
              <a:rPr lang="pt-BR" sz="1600" dirty="0" err="1">
                <a:hlinkClick r:id="rId4"/>
              </a:rPr>
              <a:t>viewform?usp</a:t>
            </a:r>
            <a:r>
              <a:rPr lang="pt-BR" sz="1600" dirty="0">
                <a:hlinkClick r:id="rId4"/>
              </a:rPr>
              <a:t>=header</a:t>
            </a:r>
            <a:endParaRPr lang="pt-BR" sz="1600" dirty="0"/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9895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12808</TotalTime>
  <Words>1932</Words>
  <Application>Microsoft Macintosh PowerPoint</Application>
  <PresentationFormat>Widescreen</PresentationFormat>
  <Paragraphs>259</Paragraphs>
  <Slides>31</Slides>
  <Notes>15</Notes>
  <HiddenSlides>0</HiddenSlides>
  <MMClips>1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40" baseType="lpstr">
      <vt:lpstr>Calibri</vt:lpstr>
      <vt:lpstr>Calibri Light</vt:lpstr>
      <vt:lpstr>MuseoModerno Medium</vt:lpstr>
      <vt:lpstr>Source Sans 3</vt:lpstr>
      <vt:lpstr>Arial</vt:lpstr>
      <vt:lpstr>Host Grotesk Medium</vt:lpstr>
      <vt:lpstr>Roboto</vt:lpstr>
      <vt:lpstr>Roboto Bold</vt:lpstr>
      <vt:lpstr>Tema do Office</vt:lpstr>
      <vt:lpstr>TP558 - Tópicos avançados em Machine Learning: One-shot</vt:lpstr>
      <vt:lpstr>Abertura</vt:lpstr>
      <vt:lpstr>Redes Siamesas</vt:lpstr>
      <vt:lpstr>Motivação</vt:lpstr>
      <vt:lpstr>Apresentação do PowerPoint</vt:lpstr>
      <vt:lpstr>Tarefa de Classificação One-Shot: 20-Way</vt:lpstr>
      <vt:lpstr>Estratégia Geral</vt:lpstr>
      <vt:lpstr>Abordagem: Aprendizado Métrico Supervisionado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Replicando Resultados</vt:lpstr>
      <vt:lpstr>Apresentação do PowerPoint</vt:lpstr>
      <vt:lpstr>Apresentação do PowerPoint</vt:lpstr>
      <vt:lpstr>Apresentação do PowerPoint</vt:lpstr>
      <vt:lpstr>Apresentação do PowerPoint</vt:lpstr>
      <vt:lpstr>Referências</vt:lpstr>
      <vt:lpstr>Apresentação do PowerPoint</vt:lpstr>
      <vt:lpstr>QUESTIONÁRIO</vt:lpstr>
    </vt:vector>
  </TitlesOfParts>
  <LinksUpToDate>false</LinksUpToDate>
  <SharedDoc>false</SharedDoc>
  <HyperlinksChanged>false</HyperlinksChanged>
  <AppVersion>15.0022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Usuário do Microsoft Office</cp:lastModifiedBy>
  <cp:revision>1838</cp:revision>
  <cp:lastPrinted>2026-08-20T18:44:31Z</cp:lastPrinted>
  <dcterms:created xsi:type="dcterms:W3CDTF">2020-01-20T13:50:05Z</dcterms:created>
  <dcterms:modified xsi:type="dcterms:W3CDTF">2026-09-22T01:59:20Z</dcterms:modified>
</cp:coreProperties>
</file>