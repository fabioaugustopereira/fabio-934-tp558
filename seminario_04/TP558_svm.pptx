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07" r:id="rId3"/>
    <p:sldId id="347" r:id="rId4"/>
    <p:sldId id="326" r:id="rId5"/>
    <p:sldId id="335" r:id="rId6"/>
    <p:sldId id="315" r:id="rId7"/>
    <p:sldId id="337" r:id="rId8"/>
    <p:sldId id="328" r:id="rId9"/>
    <p:sldId id="308" r:id="rId10"/>
    <p:sldId id="338" r:id="rId11"/>
    <p:sldId id="340" r:id="rId12"/>
    <p:sldId id="339" r:id="rId13"/>
    <p:sldId id="309" r:id="rId14"/>
    <p:sldId id="319" r:id="rId15"/>
    <p:sldId id="341" r:id="rId16"/>
    <p:sldId id="331" r:id="rId17"/>
    <p:sldId id="317" r:id="rId18"/>
    <p:sldId id="342" r:id="rId19"/>
    <p:sldId id="329" r:id="rId20"/>
    <p:sldId id="343" r:id="rId21"/>
    <p:sldId id="345" r:id="rId22"/>
    <p:sldId id="327" r:id="rId23"/>
    <p:sldId id="330" r:id="rId24"/>
    <p:sldId id="348" r:id="rId25"/>
    <p:sldId id="323" r:id="rId26"/>
    <p:sldId id="346" r:id="rId27"/>
    <p:sldId id="351" r:id="rId28"/>
    <p:sldId id="352" r:id="rId29"/>
    <p:sldId id="353" r:id="rId30"/>
    <p:sldId id="349" r:id="rId31"/>
    <p:sldId id="350" r:id="rId32"/>
    <p:sldId id="293" r:id="rId33"/>
    <p:sldId id="314" r:id="rId34"/>
    <p:sldId id="344" r:id="rId35"/>
    <p:sldId id="306" r:id="rId36"/>
    <p:sldId id="336" r:id="rId37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E7B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 autoAdjust="0"/>
    <p:restoredTop sz="95485" autoAdjust="0"/>
  </p:normalViewPr>
  <p:slideViewPr>
    <p:cSldViewPr snapToGrid="0">
      <p:cViewPr>
        <p:scale>
          <a:sx n="150" d="100"/>
          <a:sy n="150" d="100"/>
        </p:scale>
        <p:origin x="1464" y="14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13/10/26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‹n.º›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586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11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665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042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15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835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912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26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798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1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379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92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857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5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614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493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61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556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583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48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30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0.png"/><Relationship Id="rId5" Type="http://schemas.openxmlformats.org/officeDocument/2006/relationships/image" Target="../media/image67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y1iZ5A8ilA" TargetMode="External"/><Relationship Id="rId4" Type="http://schemas.openxmlformats.org/officeDocument/2006/relationships/hyperlink" Target="https://youtu.be/T9yKyZfxUJg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kit-learn.org/stable/modules/svm.htm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y75thx6_oe_FtgGiD68gvmlCmo0wno_9L9VvTWsi9Z1LKjg/viewform" TargetMode="External"/><Relationship Id="rId4" Type="http://schemas.openxmlformats.org/officeDocument/2006/relationships/hyperlink" Target="https://docs.google.com/forms/d/e/1FAIpQLSfXzAMu3H7adp_hWnblJfzjK2-DVQoG3dvmiOVQvkdnXI_Ocg/viewform?usp=header" TargetMode="External"/><Relationship Id="rId5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smtClean="0"/>
              <a:t>SVM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Fábio Augusto Pereira</a:t>
            </a:r>
            <a:endParaRPr lang="pt-BR" sz="2000" dirty="0"/>
          </a:p>
          <a:p>
            <a:r>
              <a:rPr lang="pt-BR" dirty="0" err="1" smtClean="0"/>
              <a:t>fabio.pereira@mtel.inatel.br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158" y="585196"/>
            <a:ext cx="10281684" cy="1134066"/>
          </a:xfrm>
        </p:spPr>
        <p:txBody>
          <a:bodyPr>
            <a:noAutofit/>
          </a:bodyPr>
          <a:lstStyle/>
          <a:p>
            <a:pPr algn="ctr"/>
            <a:r>
              <a:rPr lang="pt-BR" sz="3600" dirty="0"/>
              <a:t>A IDEIA CENTRAL: SEPARAR MELHOR PARA GENERALIZAR MELHOR</a:t>
            </a:r>
            <a:br>
              <a:rPr lang="pt-BR" sz="3600" dirty="0"/>
            </a:br>
            <a:endParaRPr lang="pt-BR" sz="36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1"/>
          <p:cNvSpPr/>
          <p:nvPr/>
        </p:nvSpPr>
        <p:spPr>
          <a:xfrm>
            <a:off x="955158" y="1414461"/>
            <a:ext cx="457189" cy="4572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7" name="Text 2"/>
          <p:cNvSpPr/>
          <p:nvPr/>
        </p:nvSpPr>
        <p:spPr>
          <a:xfrm>
            <a:off x="1111026" y="1516061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590142" y="1491169"/>
            <a:ext cx="621778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Mapeamento não linear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590142" y="1989731"/>
            <a:ext cx="6217784" cy="6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Mapear os vetores de entrada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para um espaço de características de alta dimensão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155" y="2065405"/>
            <a:ext cx="749777" cy="31680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919" y="2400795"/>
            <a:ext cx="212124" cy="29775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955158" y="2984449"/>
            <a:ext cx="457189" cy="4572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3" name="Text 6"/>
          <p:cNvSpPr/>
          <p:nvPr/>
        </p:nvSpPr>
        <p:spPr>
          <a:xfrm>
            <a:off x="1111026" y="3086049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590142" y="3061157"/>
            <a:ext cx="621778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Hiperplano ótimo de separação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590142" y="3559719"/>
            <a:ext cx="6217784" cy="996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Construir em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uma superfície linear de decisão com propriedades especiais de generalização teórica.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694" y="3614588"/>
            <a:ext cx="212124" cy="29775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55158" y="4802484"/>
            <a:ext cx="457189" cy="457200"/>
          </a:xfrm>
          <a:prstGeom prst="roundRect">
            <a:avLst>
              <a:gd name="adj" fmla="val 833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8" name="Text 10"/>
          <p:cNvSpPr/>
          <p:nvPr/>
        </p:nvSpPr>
        <p:spPr>
          <a:xfrm>
            <a:off x="1111026" y="4904084"/>
            <a:ext cx="7549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590142" y="4879192"/>
            <a:ext cx="621778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Robustez estrutural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590142" y="5377754"/>
            <a:ext cx="621778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Controlar a capacidade do classificador geometricamente, desacoplando o erro de teste da dimensionalidade do espaço.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55158" y="281920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2" name="Shape 14"/>
          <p:cNvSpPr/>
          <p:nvPr/>
        </p:nvSpPr>
        <p:spPr>
          <a:xfrm>
            <a:off x="955158" y="4669134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3794" y="1296143"/>
            <a:ext cx="396746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0"/>
          <p:cNvSpPr/>
          <p:nvPr/>
        </p:nvSpPr>
        <p:spPr>
          <a:xfrm>
            <a:off x="805055" y="604996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POR QUE CLASSIFICADORES LINEARES IMPORTAM?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457189" y="1517067"/>
            <a:ext cx="221158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Da regra de </a:t>
            </a:r>
            <a:r>
              <a:rPr lang="en-US" sz="2200" b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Fisher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457189" y="2019121"/>
            <a:ext cx="688828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Fisher provou que, sob distribuições gaussianas com matrizes de covariância distintas, a fronteira bayesiana ótima é quadrática. Quando as matrizes de covariância coincidem, a regra ótima reduz-se exatamente a uma função linear.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457189" y="3385562"/>
            <a:ext cx="344409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Função Quadrática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815755"/>
            <a:ext cx="3215500" cy="46841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189" y="4449584"/>
            <a:ext cx="3215500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Parâmetros livres exigidos; cresce com o quadrado da dimensão.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129877" y="3385562"/>
            <a:ext cx="321559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Função Linear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877" y="3815755"/>
            <a:ext cx="3215599" cy="433983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29877" y="4415155"/>
            <a:ext cx="3215599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Parâmetros livres; estimativa muito mais confiável com dados finitos.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57189" y="5493464"/>
            <a:ext cx="688828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 err="1" smtClean="0">
                <a:latin typeface="Calibri" charset="0"/>
                <a:ea typeface="Calibri" charset="0"/>
                <a:cs typeface="Calibri" charset="0"/>
              </a:rPr>
              <a:t>Princ</a:t>
            </a:r>
            <a:r>
              <a:rPr lang="pt-BR" sz="1800" dirty="0" err="1" smtClean="0">
                <a:latin typeface="Calibri" charset="0"/>
                <a:ea typeface="Calibri" charset="0"/>
                <a:cs typeface="Calibri" charset="0"/>
              </a:rPr>
              <a:t>ípio</a:t>
            </a:r>
            <a:r>
              <a:rPr lang="pt-BR" sz="1800" dirty="0" smtClean="0">
                <a:latin typeface="Calibri" charset="0"/>
                <a:ea typeface="Calibri" charset="0"/>
                <a:cs typeface="Calibri" charset="0"/>
              </a:rPr>
              <a:t> prático: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com 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amostras limitadas, restringir a classe de funções é indispensável para evitar variância excessiva.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467" y="1295400"/>
            <a:ext cx="3881043" cy="4978400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3894933" y="3369370"/>
            <a:ext cx="12700" cy="1955502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9" name="Shape 9"/>
          <p:cNvSpPr/>
          <p:nvPr/>
        </p:nvSpPr>
        <p:spPr>
          <a:xfrm>
            <a:off x="7589945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7625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DO PERCEPTRON À SUPERFÍCIE EM ESPAÇO DE CARACTERÍSTICAS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8" y="1257618"/>
            <a:ext cx="5674178" cy="4038600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685783" y="5578793"/>
            <a:ext cx="56741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1 do artigo original: mapeamento não linear </a:t>
            </a: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seguido de separador linear.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709" y="5634008"/>
            <a:ext cx="854252" cy="293390"/>
          </a:xfrm>
          <a:prstGeom prst="rect">
            <a:avLst/>
          </a:prstGeom>
        </p:spPr>
      </p:pic>
      <p:sp>
        <p:nvSpPr>
          <p:cNvPr id="21" name="Text 2"/>
          <p:cNvSpPr/>
          <p:nvPr/>
        </p:nvSpPr>
        <p:spPr>
          <a:xfrm>
            <a:off x="7045645" y="1557851"/>
            <a:ext cx="468886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Estrutura de representação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7045645" y="2088277"/>
            <a:ext cx="4688862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perceptron transforma o vetor de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entrada 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por meio de funções nas camadas ocultas e projeta os dados em um novo espaço de representação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5339" y="2105650"/>
            <a:ext cx="163990" cy="331951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9890" y="3054743"/>
            <a:ext cx="179581" cy="267990"/>
          </a:xfrm>
          <a:prstGeom prst="rect">
            <a:avLst/>
          </a:prstGeom>
        </p:spPr>
      </p:pic>
      <p:sp>
        <p:nvSpPr>
          <p:cNvPr id="25" name="Shape 4"/>
          <p:cNvSpPr/>
          <p:nvPr/>
        </p:nvSpPr>
        <p:spPr>
          <a:xfrm>
            <a:off x="7045645" y="3413125"/>
            <a:ext cx="4688862" cy="2643981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6" name="Text 5"/>
          <p:cNvSpPr/>
          <p:nvPr/>
        </p:nvSpPr>
        <p:spPr>
          <a:xfrm>
            <a:off x="7248840" y="3610483"/>
            <a:ext cx="428247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dilema clássico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248840" y="4112538"/>
            <a:ext cx="4282472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Enquanto redes neurais ajustam heurística e iterativamente os pesos de todas as camadas, as SVNs fixam o mapeamento e resolvem a última camada por otimização convexa global com controle estrito de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56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VIRADA: MARGEM MÁXIMA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103415"/>
            <a:ext cx="5674178" cy="4053880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685783" y="5275087"/>
            <a:ext cx="567417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2 do artigo original: hiperplano central e planos canônicos de suporte delimitando 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ext 2"/>
          <p:cNvSpPr/>
          <p:nvPr/>
        </p:nvSpPr>
        <p:spPr>
          <a:xfrm>
            <a:off x="7045645" y="1143566"/>
            <a:ext cx="46888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CONTROLE GEOMÉTRICO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3"/>
          <p:cNvSpPr/>
          <p:nvPr/>
        </p:nvSpPr>
        <p:spPr>
          <a:xfrm>
            <a:off x="7045645" y="1559739"/>
            <a:ext cx="468886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Critério do hiperplano ótimo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4"/>
          <p:cNvSpPr/>
          <p:nvPr/>
        </p:nvSpPr>
        <p:spPr>
          <a:xfrm>
            <a:off x="7045645" y="2090165"/>
            <a:ext cx="4688862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Entre as infinitas superfícies que separam perfeitamente duas classes separáveis, escolhe-se a que maximiza a distância mínima aos pontos mais próximos de ambas.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645" y="3712174"/>
            <a:ext cx="4688862" cy="780455"/>
          </a:xfrm>
          <a:prstGeom prst="rect">
            <a:avLst/>
          </a:prstGeom>
        </p:spPr>
      </p:pic>
      <p:sp>
        <p:nvSpPr>
          <p:cNvPr id="30" name="Text 5"/>
          <p:cNvSpPr/>
          <p:nvPr/>
        </p:nvSpPr>
        <p:spPr>
          <a:xfrm>
            <a:off x="7045645" y="4635821"/>
            <a:ext cx="4688862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margem geométrica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formaliza a regularização: margem maior implica menor capacidade (dimensão VC) e classificação mais estável.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053" y="4667720"/>
            <a:ext cx="115488" cy="2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0"/>
          <p:cNvSpPr/>
          <p:nvPr/>
        </p:nvSpPr>
        <p:spPr>
          <a:xfrm>
            <a:off x="679433" y="491569"/>
            <a:ext cx="11124921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VETORES DE SUPORTE: OS PONTOS QUE DEFINEM A MARGEM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457189" y="1226145"/>
            <a:ext cx="444489" cy="444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3" name="Text 2"/>
          <p:cNvSpPr/>
          <p:nvPr/>
        </p:nvSpPr>
        <p:spPr>
          <a:xfrm>
            <a:off x="639151" y="1321395"/>
            <a:ext cx="6901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079473" y="1277453"/>
            <a:ext cx="621520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Localização crítica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79473" y="1671300"/>
            <a:ext cx="6215205" cy="546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Somente os exemplos situados exatamente sobre as fronteiras da margem possuem multiplicadores </a:t>
            </a:r>
            <a:r>
              <a:rPr lang="en-US" sz="15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366" y="1994983"/>
            <a:ext cx="548567" cy="250924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457189" y="2767310"/>
            <a:ext cx="444489" cy="444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8" name="Text 6"/>
          <p:cNvSpPr/>
          <p:nvPr/>
        </p:nvSpPr>
        <p:spPr>
          <a:xfrm>
            <a:off x="634587" y="2862560"/>
            <a:ext cx="6992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2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1079473" y="2818618"/>
            <a:ext cx="621520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Indiferença aos pontos internos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8"/>
          <p:cNvSpPr/>
          <p:nvPr/>
        </p:nvSpPr>
        <p:spPr>
          <a:xfrm>
            <a:off x="1079473" y="3211810"/>
            <a:ext cx="6215205" cy="546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Afastar ou remover qualquer ponto com </a:t>
            </a:r>
            <a:r>
              <a:rPr lang="en-US" sz="15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deixa o hiperplano ótimo rigorosamente idêntico.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900" y="3284151"/>
            <a:ext cx="548567" cy="250924"/>
          </a:xfrm>
          <a:prstGeom prst="rect">
            <a:avLst/>
          </a:prstGeom>
        </p:spPr>
      </p:pic>
      <p:sp>
        <p:nvSpPr>
          <p:cNvPr id="22" name="Shape 9"/>
          <p:cNvSpPr/>
          <p:nvPr/>
        </p:nvSpPr>
        <p:spPr>
          <a:xfrm>
            <a:off x="457189" y="4308475"/>
            <a:ext cx="444489" cy="444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3" name="Text 10"/>
          <p:cNvSpPr/>
          <p:nvPr/>
        </p:nvSpPr>
        <p:spPr>
          <a:xfrm>
            <a:off x="633397" y="4403725"/>
            <a:ext cx="70155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3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1079473" y="4359783"/>
            <a:ext cx="621520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Representação condensada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1079473" y="4753723"/>
            <a:ext cx="621520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vetor normal do hiperplano é uma combinação linear direta apenas desse subconjunto crítico de treino:</a:t>
            </a:r>
            <a:endParaRPr lang="en-US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209" y="5354023"/>
            <a:ext cx="6215205" cy="819944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66" y="1320800"/>
            <a:ext cx="3830244" cy="4927600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457189" y="2532360"/>
            <a:ext cx="6837489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9" name="Shape 14"/>
          <p:cNvSpPr/>
          <p:nvPr/>
        </p:nvSpPr>
        <p:spPr>
          <a:xfrm>
            <a:off x="457189" y="4073525"/>
            <a:ext cx="6837489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0" name="Shape 15"/>
          <p:cNvSpPr/>
          <p:nvPr/>
        </p:nvSpPr>
        <p:spPr>
          <a:xfrm>
            <a:off x="7589945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0"/>
          <p:cNvSpPr/>
          <p:nvPr/>
        </p:nvSpPr>
        <p:spPr>
          <a:xfrm>
            <a:off x="393306" y="475192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LIMITE DE GENERALIZAÇÃO BASEADO EM VETORES DE SUPORTE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93306" y="1991192"/>
            <a:ext cx="56386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TEOREMA DE VAPNIK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06" y="2600145"/>
            <a:ext cx="5410065" cy="730548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856886"/>
              </p:ext>
            </p:extLst>
          </p:nvPr>
        </p:nvGraphicFramePr>
        <p:xfrm>
          <a:off x="6260559" y="1980609"/>
          <a:ext cx="5410065" cy="1955751"/>
        </p:xfrm>
        <a:graphic>
          <a:graphicData uri="http://schemas.openxmlformats.org/drawingml/2006/table">
            <a:tbl>
              <a:tblPr/>
              <a:tblGrid>
                <a:gridCol w="2434470"/>
                <a:gridCol w="2975595"/>
              </a:tblGrid>
              <a:tr h="5460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Métrica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Valor conceitual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2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Vetores de suporte / treino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quanto menor, melhor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Erro esperado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limitado pela razão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2"/>
          <p:cNvSpPr/>
          <p:nvPr/>
        </p:nvSpPr>
        <p:spPr>
          <a:xfrm>
            <a:off x="393306" y="4177709"/>
            <a:ext cx="1127731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Para dados separáveis, o erro esperado é limitado pela razão entre o número esperado de vetores de suporte e o número de exemplos de treino.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022440" y="1980609"/>
            <a:ext cx="19050" cy="19558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11115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0"/>
          <p:cNvSpPr/>
          <p:nvPr/>
        </p:nvSpPr>
        <p:spPr>
          <a:xfrm>
            <a:off x="467821" y="368257"/>
            <a:ext cx="10611305" cy="880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340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FORMULAÇÃO </a:t>
            </a:r>
            <a:r>
              <a:rPr lang="en-US" sz="34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PRIMAL:</a:t>
            </a:r>
          </a:p>
          <a:p>
            <a:pPr marL="0" indent="0" algn="ctr">
              <a:lnSpc>
                <a:spcPct val="79000"/>
              </a:lnSpc>
              <a:buNone/>
            </a:pPr>
            <a:r>
              <a:rPr lang="en-US" sz="34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DA </a:t>
            </a: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GEOMETRIA À PROGRAMAÇÃO QUADRÁTICA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467821" y="1467049"/>
            <a:ext cx="3759106" cy="3556794"/>
          </a:xfrm>
          <a:custGeom>
            <a:avLst/>
            <a:gdLst/>
            <a:ahLst/>
            <a:cxnLst/>
            <a:rect l="l" t="t" r="r" b="b"/>
            <a:pathLst>
              <a:path w="3759106" h="3556794">
                <a:moveTo>
                  <a:pt x="31749" y="0"/>
                </a:moveTo>
                <a:lnTo>
                  <a:pt x="3759106" y="0"/>
                </a:lnTo>
                <a:lnTo>
                  <a:pt x="3759106" y="3556794"/>
                </a:lnTo>
                <a:lnTo>
                  <a:pt x="31749" y="3556794"/>
                </a:lnTo>
                <a:arcTo wR="31749" hR="31750" stAng="5400000" swAng="5400000"/>
                <a:lnTo>
                  <a:pt x="0" y="31750"/>
                </a:lnTo>
                <a:arcTo wR="31749" hR="31750" stAng="10800000" swAng="5400000"/>
                <a:close/>
              </a:path>
            </a:pathLst>
          </a:custGeom>
          <a:solidFill>
            <a:srgbClr val="F1F4FD"/>
          </a:solidFill>
          <a:ln/>
        </p:spPr>
      </p:sp>
      <p:sp>
        <p:nvSpPr>
          <p:cNvPr id="13" name="Text 2"/>
          <p:cNvSpPr/>
          <p:nvPr/>
        </p:nvSpPr>
        <p:spPr>
          <a:xfrm>
            <a:off x="671015" y="1680832"/>
            <a:ext cx="3555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DADOS E RÓTULOS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71015" y="2096207"/>
            <a:ext cx="33527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Amostras canônicas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71015" y="2598262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Conjunto de treino com rótulos bipolares: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15" y="3325615"/>
            <a:ext cx="3352716" cy="861616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71015" y="4352648"/>
            <a:ext cx="3555911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15" y="4361855"/>
            <a:ext cx="1054867" cy="287040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4226927" y="1467049"/>
            <a:ext cx="3759106" cy="3556794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0" name="Text 7"/>
          <p:cNvSpPr/>
          <p:nvPr/>
        </p:nvSpPr>
        <p:spPr>
          <a:xfrm>
            <a:off x="4430121" y="1680832"/>
            <a:ext cx="33527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RESTRIÇÕES DE SEPARAÇÃO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8"/>
          <p:cNvSpPr/>
          <p:nvPr/>
        </p:nvSpPr>
        <p:spPr>
          <a:xfrm>
            <a:off x="4430121" y="2401007"/>
            <a:ext cx="33527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Faixa da margem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430121" y="2903062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Nenhum exemplo penetra o canal da margem: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121" y="3630415"/>
            <a:ext cx="3352716" cy="446683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430121" y="4242515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Garante separação estrita e correta.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7986032" y="1467049"/>
            <a:ext cx="3759106" cy="3556794"/>
          </a:xfrm>
          <a:custGeom>
            <a:avLst/>
            <a:gdLst/>
            <a:ahLst/>
            <a:cxnLst/>
            <a:rect l="l" t="t" r="r" b="b"/>
            <a:pathLst>
              <a:path w="3759106" h="3556794">
                <a:moveTo>
                  <a:pt x="0" y="0"/>
                </a:moveTo>
                <a:lnTo>
                  <a:pt x="3727357" y="0"/>
                </a:lnTo>
                <a:arcTo wR="31749" hR="31750" stAng="16200000" swAng="5400000"/>
                <a:lnTo>
                  <a:pt x="3759106" y="3525044"/>
                </a:lnTo>
                <a:arcTo wR="31749" hR="31750" stAng="0" swAng="5400000"/>
                <a:lnTo>
                  <a:pt x="0" y="35567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/>
        </p:spPr>
      </p:sp>
      <p:sp>
        <p:nvSpPr>
          <p:cNvPr id="26" name="Text 12"/>
          <p:cNvSpPr/>
          <p:nvPr/>
        </p:nvSpPr>
        <p:spPr>
          <a:xfrm>
            <a:off x="8189227" y="1680832"/>
            <a:ext cx="35559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FFE83D"/>
                </a:solidFill>
                <a:latin typeface="Calibri" charset="0"/>
                <a:ea typeface="Calibri" charset="0"/>
                <a:cs typeface="Calibri" charset="0"/>
              </a:rPr>
              <a:t>3. PROBLEMA PRIMAL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8189227" y="2096207"/>
            <a:ext cx="335271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Minimizar ||w||²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189227" y="2598262"/>
            <a:ext cx="3352716" cy="641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Maximizar </a:t>
            </a:r>
            <a:r>
              <a:rPr lang="en-US" sz="1700" i="1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 equivale a resolver: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024" y="2607469"/>
            <a:ext cx="755532" cy="319286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9227" y="3373140"/>
            <a:ext cx="3352716" cy="630932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8189227" y="4169490"/>
            <a:ext cx="335271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Programação quadrática estritamente convexa.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467821" y="5150247"/>
            <a:ext cx="11277318" cy="8991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</p:sp>
      <p:sp>
        <p:nvSpPr>
          <p:cNvPr id="33" name="Text 17"/>
          <p:cNvSpPr/>
          <p:nvPr/>
        </p:nvSpPr>
        <p:spPr>
          <a:xfrm>
            <a:off x="721814" y="5318839"/>
            <a:ext cx="1076933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Propriedade fundamental: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como a função custo é puramente quadrática e as restrições são lineares, não existem mínimos locais; a solução ótima é única e global.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4217402" y="1467049"/>
            <a:ext cx="19050" cy="3556794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35" name="Shape 19"/>
          <p:cNvSpPr/>
          <p:nvPr/>
        </p:nvSpPr>
        <p:spPr>
          <a:xfrm>
            <a:off x="7976508" y="1467049"/>
            <a:ext cx="19050" cy="3556794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91758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0"/>
          <p:cNvSpPr/>
          <p:nvPr/>
        </p:nvSpPr>
        <p:spPr>
          <a:xfrm>
            <a:off x="393306" y="297564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MULTIPLICADORES DE LAGRANGE E A FORMA DUAL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93306" y="1457299"/>
            <a:ext cx="5770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LAGRANGIANO PRIMAL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2" y="1941458"/>
            <a:ext cx="3901086" cy="1437747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393306" y="3620684"/>
            <a:ext cx="5770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Gradientes primais nulos: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6621111" y="1002414"/>
            <a:ext cx="5049513" cy="566420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7" name="Text 4"/>
          <p:cNvSpPr/>
          <p:nvPr/>
        </p:nvSpPr>
        <p:spPr>
          <a:xfrm>
            <a:off x="6875104" y="1766762"/>
            <a:ext cx="47955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PROBLEMA DUAL DE WOLFE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042" y="2146174"/>
            <a:ext cx="3617728" cy="1989263"/>
          </a:xfrm>
          <a:prstGeom prst="rect">
            <a:avLst/>
          </a:prstGeom>
        </p:spPr>
      </p:pic>
      <p:sp>
        <p:nvSpPr>
          <p:cNvPr id="29" name="Text 5"/>
          <p:cNvSpPr/>
          <p:nvPr/>
        </p:nvSpPr>
        <p:spPr>
          <a:xfrm>
            <a:off x="6875104" y="4575797"/>
            <a:ext cx="479551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Sujeito a: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967" y="4585005"/>
            <a:ext cx="617324" cy="287040"/>
          </a:xfrm>
          <a:prstGeom prst="rect">
            <a:avLst/>
          </a:prstGeom>
        </p:spPr>
      </p:pic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9368" y="4658050"/>
            <a:ext cx="1329696" cy="304800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6875104" y="5037462"/>
            <a:ext cx="4541525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Conclus</a:t>
            </a:r>
            <a:r>
              <a:rPr lang="pt-BR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</a:t>
            </a:r>
            <a:r>
              <a:rPr lang="pt-BR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os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dados aparecem exclusivamente através de produtos internos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jamais de forma isolada.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1199" y="5394368"/>
            <a:ext cx="755730" cy="27434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2" r="26938" b="64897"/>
          <a:stretch/>
        </p:blipFill>
        <p:spPr>
          <a:xfrm>
            <a:off x="1875856" y="4135860"/>
            <a:ext cx="2069611" cy="622408"/>
          </a:xfrm>
          <a:prstGeom prst="rect">
            <a:avLst/>
          </a:prstGeom>
        </p:spPr>
      </p:pic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t="32785" r="66308" b="17308"/>
          <a:stretch/>
        </p:blipFill>
        <p:spPr>
          <a:xfrm>
            <a:off x="3955511" y="4091943"/>
            <a:ext cx="1316558" cy="923127"/>
          </a:xfrm>
          <a:prstGeom prst="rect">
            <a:avLst/>
          </a:prstGeom>
        </p:spPr>
      </p:pic>
      <p:pic>
        <p:nvPicPr>
          <p:cNvPr id="36" name="Imagem 3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3" t="31626" r="1963" b="25628"/>
          <a:stretch/>
        </p:blipFill>
        <p:spPr>
          <a:xfrm>
            <a:off x="1893421" y="5040876"/>
            <a:ext cx="2625634" cy="757952"/>
          </a:xfrm>
          <a:prstGeom prst="rect">
            <a:avLst/>
          </a:prstGeom>
        </p:spPr>
      </p:pic>
      <p:pic>
        <p:nvPicPr>
          <p:cNvPr id="37" name="Imagem 36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4" t="71268" r="44409" b="11051"/>
          <a:stretch/>
        </p:blipFill>
        <p:spPr>
          <a:xfrm>
            <a:off x="4345972" y="5237613"/>
            <a:ext cx="346166" cy="3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CONDIÇÃO DE KARUSH–KUHN–TUCKER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189" y="1578483"/>
            <a:ext cx="24535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KKT 1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266299" y="1579483"/>
            <a:ext cx="8468208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Viabilidade Primal: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506" y="1582341"/>
            <a:ext cx="2585973" cy="293390"/>
          </a:xfrm>
          <a:prstGeom prst="rect">
            <a:avLst/>
          </a:prstGeom>
        </p:spPr>
      </p:pic>
      <p:sp>
        <p:nvSpPr>
          <p:cNvPr id="39" name="Text 3"/>
          <p:cNvSpPr/>
          <p:nvPr/>
        </p:nvSpPr>
        <p:spPr>
          <a:xfrm>
            <a:off x="457189" y="2630003"/>
            <a:ext cx="24535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KKT 2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4"/>
          <p:cNvSpPr/>
          <p:nvPr/>
        </p:nvSpPr>
        <p:spPr>
          <a:xfrm>
            <a:off x="3266299" y="2631003"/>
            <a:ext cx="8468208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Viabilidade Dual: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039" y="2640211"/>
            <a:ext cx="1141186" cy="287040"/>
          </a:xfrm>
          <a:prstGeom prst="rect">
            <a:avLst/>
          </a:prstGeom>
        </p:spPr>
      </p:pic>
      <p:sp>
        <p:nvSpPr>
          <p:cNvPr id="42" name="Text 5"/>
          <p:cNvSpPr/>
          <p:nvPr/>
        </p:nvSpPr>
        <p:spPr>
          <a:xfrm>
            <a:off x="457189" y="3681524"/>
            <a:ext cx="245351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KKT 3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3" name="Text 6"/>
          <p:cNvSpPr/>
          <p:nvPr/>
        </p:nvSpPr>
        <p:spPr>
          <a:xfrm>
            <a:off x="3266299" y="3682524"/>
            <a:ext cx="8468208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Folga Complementar: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280" y="3685381"/>
            <a:ext cx="2955355" cy="293390"/>
          </a:xfrm>
          <a:prstGeom prst="rect">
            <a:avLst/>
          </a:prstGeom>
        </p:spPr>
      </p:pic>
      <p:sp>
        <p:nvSpPr>
          <p:cNvPr id="45" name="Shape 7"/>
          <p:cNvSpPr/>
          <p:nvPr/>
        </p:nvSpPr>
        <p:spPr>
          <a:xfrm>
            <a:off x="457189" y="4684162"/>
            <a:ext cx="11277318" cy="142624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8"/>
          <p:cNvSpPr/>
          <p:nvPr/>
        </p:nvSpPr>
        <p:spPr>
          <a:xfrm>
            <a:off x="736582" y="4774418"/>
            <a:ext cx="107185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Origem da esparsidade na solução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36582" y="5276473"/>
            <a:ext cx="10718532" cy="93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Se o exemplo está estritamente fora da margem (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), a folga complementar </a:t>
            </a:r>
            <a:r>
              <a:rPr lang="en-US" sz="1800" dirty="0" err="1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força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rigorosamente</a:t>
            </a:r>
            <a:endParaRPr lang="en-US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Se 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, o ponto está obrigatoriamente na margem canônica (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        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82" y="5329535"/>
            <a:ext cx="1677549" cy="293390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4303" y="5346496"/>
            <a:ext cx="617324" cy="287040"/>
          </a:xfrm>
          <a:prstGeom prst="rect">
            <a:avLst/>
          </a:prstGeom>
        </p:spPr>
      </p:pic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760" y="5633536"/>
            <a:ext cx="617324" cy="287040"/>
          </a:xfrm>
          <a:prstGeom prst="rect">
            <a:avLst/>
          </a:prstGeom>
        </p:spPr>
      </p:pic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2704" y="5652384"/>
            <a:ext cx="1677549" cy="293390"/>
          </a:xfrm>
          <a:prstGeom prst="rect">
            <a:avLst/>
          </a:prstGeom>
        </p:spPr>
      </p:pic>
      <p:sp>
        <p:nvSpPr>
          <p:cNvPr id="52" name="Shape 10"/>
          <p:cNvSpPr/>
          <p:nvPr/>
        </p:nvSpPr>
        <p:spPr>
          <a:xfrm>
            <a:off x="3082153" y="1193800"/>
            <a:ext cx="12700" cy="105152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3" name="Shape 11"/>
          <p:cNvSpPr/>
          <p:nvPr/>
        </p:nvSpPr>
        <p:spPr>
          <a:xfrm>
            <a:off x="457189" y="2238970"/>
            <a:ext cx="263131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4" name="Shape 12"/>
          <p:cNvSpPr/>
          <p:nvPr/>
        </p:nvSpPr>
        <p:spPr>
          <a:xfrm>
            <a:off x="3082153" y="2245320"/>
            <a:ext cx="12700" cy="105152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5" name="Shape 13"/>
          <p:cNvSpPr/>
          <p:nvPr/>
        </p:nvSpPr>
        <p:spPr>
          <a:xfrm>
            <a:off x="3088503" y="2238970"/>
            <a:ext cx="8646003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6" name="Shape 14"/>
          <p:cNvSpPr/>
          <p:nvPr/>
        </p:nvSpPr>
        <p:spPr>
          <a:xfrm>
            <a:off x="457189" y="3290491"/>
            <a:ext cx="263131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7" name="Shape 15"/>
          <p:cNvSpPr/>
          <p:nvPr/>
        </p:nvSpPr>
        <p:spPr>
          <a:xfrm>
            <a:off x="3082153" y="3296841"/>
            <a:ext cx="12700" cy="105152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8" name="Shape 16"/>
          <p:cNvSpPr/>
          <p:nvPr/>
        </p:nvSpPr>
        <p:spPr>
          <a:xfrm>
            <a:off x="3088503" y="3290491"/>
            <a:ext cx="8646003" cy="12700"/>
          </a:xfrm>
          <a:prstGeom prst="rect">
            <a:avLst/>
          </a:prstGeom>
          <a:solidFill>
            <a:srgbClr val="C9D3F2"/>
          </a:solidFill>
          <a:ln/>
        </p:spPr>
      </p:sp>
    </p:spTree>
    <p:extLst>
      <p:ext uri="{BB962C8B-B14F-4D97-AF65-F5344CB8AC3E}">
        <p14:creationId xmlns:p14="http://schemas.microsoft.com/office/powerpoint/2010/main" val="20233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/>
          <p:cNvSpPr/>
          <p:nvPr/>
        </p:nvSpPr>
        <p:spPr>
          <a:xfrm>
            <a:off x="276436" y="488699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CLASSIFICADOR VISTO COMO UMA REDE DE DUAS CAMADAS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100167"/>
            <a:ext cx="5313527" cy="3756720"/>
          </a:xfrm>
          <a:prstGeom prst="rect">
            <a:avLst/>
          </a:prstGeom>
        </p:spPr>
      </p:pic>
      <p:sp>
        <p:nvSpPr>
          <p:cNvPr id="32" name="Text 1"/>
          <p:cNvSpPr/>
          <p:nvPr/>
        </p:nvSpPr>
        <p:spPr>
          <a:xfrm>
            <a:off x="685783" y="5296912"/>
            <a:ext cx="5313527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3 do artigo original: rede de convolução de produto interno e combinação linear dos pesos.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2"/>
          <p:cNvSpPr/>
          <p:nvPr/>
        </p:nvSpPr>
        <p:spPr>
          <a:xfrm>
            <a:off x="6684994" y="1766061"/>
            <a:ext cx="5049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ARQUITETURA FEEDFORWARD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684994" y="2182234"/>
            <a:ext cx="504951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Regra de decisão da SVN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994" y="2661543"/>
            <a:ext cx="5049513" cy="1077714"/>
          </a:xfrm>
          <a:prstGeom prst="rect">
            <a:avLst/>
          </a:prstGeom>
        </p:spPr>
      </p:pic>
      <p:sp>
        <p:nvSpPr>
          <p:cNvPr id="36" name="Text 4"/>
          <p:cNvSpPr/>
          <p:nvPr/>
        </p:nvSpPr>
        <p:spPr>
          <a:xfrm>
            <a:off x="6684994" y="3907850"/>
            <a:ext cx="5049513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1ª Camada: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computa os produtos internos entre a entrada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cada vetor de suporte fixado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093" y="4259531"/>
            <a:ext cx="135529" cy="274340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3904" y="4259531"/>
            <a:ext cx="166485" cy="274340"/>
          </a:xfrm>
          <a:prstGeom prst="rect">
            <a:avLst/>
          </a:prstGeom>
        </p:spPr>
      </p:pic>
      <p:sp>
        <p:nvSpPr>
          <p:cNvPr id="39" name="Text 5"/>
          <p:cNvSpPr/>
          <p:nvPr/>
        </p:nvSpPr>
        <p:spPr>
          <a:xfrm>
            <a:off x="6684994" y="4948555"/>
            <a:ext cx="5405406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2ª Camada: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combina os produtos ponderados por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adiciona o limiar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aplica a função degrau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9118" y="5009872"/>
            <a:ext cx="905150" cy="287040"/>
          </a:xfrm>
          <a:prstGeom prst="rect">
            <a:avLst/>
          </a:prstGeom>
        </p:spPr>
      </p:pic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256" y="5296912"/>
            <a:ext cx="95843" cy="28704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4543" y="5315962"/>
            <a:ext cx="559679" cy="26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0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 0"/>
          <p:cNvSpPr/>
          <p:nvPr/>
        </p:nvSpPr>
        <p:spPr>
          <a:xfrm>
            <a:off x="1871320" y="488949"/>
            <a:ext cx="85273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QUANDO A SEPARAÇÃO PERFEITA FALHA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542249" y="2289193"/>
            <a:ext cx="6583495" cy="25701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40" name="Text 2"/>
          <p:cNvSpPr/>
          <p:nvPr/>
        </p:nvSpPr>
        <p:spPr>
          <a:xfrm>
            <a:off x="770842" y="2818255"/>
            <a:ext cx="6126307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Dados reais podem se sobrepor, conter ruído ou possuir rótulos incompatíveis.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Forçar margem rígida pode produzir um classificador frágil ou inviável.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06" y="1135505"/>
            <a:ext cx="3931941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6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0"/>
          <p:cNvSpPr/>
          <p:nvPr/>
        </p:nvSpPr>
        <p:spPr>
          <a:xfrm>
            <a:off x="1137551" y="517208"/>
            <a:ext cx="989754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MARGEM SUAVE: PERMITIR VIOLAÇÕES CONTROLADAS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189" y="1407583"/>
            <a:ext cx="56386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VARIÁVEIS DE FOLGA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1851025"/>
            <a:ext cx="5384665" cy="446683"/>
          </a:xfrm>
          <a:prstGeom prst="rect">
            <a:avLst/>
          </a:prstGeom>
        </p:spPr>
      </p:pic>
      <p:sp>
        <p:nvSpPr>
          <p:cNvPr id="27" name="Text 2"/>
          <p:cNvSpPr/>
          <p:nvPr/>
        </p:nvSpPr>
        <p:spPr>
          <a:xfrm>
            <a:off x="457189" y="2466300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As variáveis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quantificam desvios individuais: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174" y="2519066"/>
            <a:ext cx="162913" cy="287040"/>
          </a:xfrm>
          <a:prstGeom prst="rect">
            <a:avLst/>
          </a:prstGeom>
        </p:spPr>
      </p:pic>
      <p:sp>
        <p:nvSpPr>
          <p:cNvPr id="29" name="Text 3"/>
          <p:cNvSpPr/>
          <p:nvPr/>
        </p:nvSpPr>
        <p:spPr>
          <a:xfrm>
            <a:off x="457189" y="2927965"/>
            <a:ext cx="53846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ponto perfeitamente classificado fora ou na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82" y="3026707"/>
            <a:ext cx="572279" cy="287040"/>
          </a:xfrm>
          <a:prstGeom prst="rect">
            <a:avLst/>
          </a:prstGeom>
        </p:spPr>
      </p:pic>
      <p:sp>
        <p:nvSpPr>
          <p:cNvPr id="31" name="Text 4"/>
          <p:cNvSpPr/>
          <p:nvPr/>
        </p:nvSpPr>
        <p:spPr>
          <a:xfrm>
            <a:off x="457189" y="3686790"/>
            <a:ext cx="53846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ponto no lado correto, mas dentro da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28" y="3737015"/>
            <a:ext cx="981646" cy="287040"/>
          </a:xfrm>
          <a:prstGeom prst="rect">
            <a:avLst/>
          </a:prstGeom>
        </p:spPr>
      </p:pic>
      <p:sp>
        <p:nvSpPr>
          <p:cNvPr id="33" name="Text 5"/>
          <p:cNvSpPr/>
          <p:nvPr/>
        </p:nvSpPr>
        <p:spPr>
          <a:xfrm>
            <a:off x="457189" y="4445615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erro de classificação no conjunto de treino.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983" y="4515793"/>
            <a:ext cx="572279" cy="287040"/>
          </a:xfrm>
          <a:prstGeom prst="rect">
            <a:avLst/>
          </a:prstGeom>
        </p:spPr>
      </p:pic>
      <p:sp>
        <p:nvSpPr>
          <p:cNvPr id="35" name="Shape 6"/>
          <p:cNvSpPr/>
          <p:nvPr/>
        </p:nvSpPr>
        <p:spPr>
          <a:xfrm>
            <a:off x="6095848" y="1168400"/>
            <a:ext cx="5638659" cy="5232400"/>
          </a:xfrm>
          <a:custGeom>
            <a:avLst/>
            <a:gdLst/>
            <a:ahLst/>
            <a:cxnLst/>
            <a:rect l="l" t="t" r="r" b="b"/>
            <a:pathLst>
              <a:path w="5638659" h="5232400">
                <a:moveTo>
                  <a:pt x="0" y="0"/>
                </a:moveTo>
                <a:lnTo>
                  <a:pt x="5606910" y="0"/>
                </a:lnTo>
                <a:arcTo wR="31749" hR="31750" stAng="16200000" swAng="5400000"/>
                <a:lnTo>
                  <a:pt x="5638659" y="5200650"/>
                </a:lnTo>
                <a:arcTo wR="31749" hR="31750" stAng="0" swAng="5400000"/>
                <a:lnTo>
                  <a:pt x="0" y="5232400"/>
                </a:lnTo>
                <a:lnTo>
                  <a:pt x="0" y="0"/>
                </a:lnTo>
                <a:close/>
              </a:path>
            </a:pathLst>
          </a:custGeom>
          <a:solidFill>
            <a:srgbClr val="F1F4FD"/>
          </a:solidFill>
          <a:ln/>
        </p:spPr>
      </p:sp>
      <p:sp>
        <p:nvSpPr>
          <p:cNvPr id="36" name="Text 7"/>
          <p:cNvSpPr/>
          <p:nvPr/>
        </p:nvSpPr>
        <p:spPr>
          <a:xfrm>
            <a:off x="6349841" y="1407583"/>
            <a:ext cx="53846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OBJETIVO COM REGULARIZAÇÃO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485" y="1951566"/>
            <a:ext cx="3194599" cy="995350"/>
          </a:xfrm>
          <a:prstGeom prst="rect">
            <a:avLst/>
          </a:prstGeom>
        </p:spPr>
      </p:pic>
      <p:sp>
        <p:nvSpPr>
          <p:cNvPr id="38" name="Text 8"/>
          <p:cNvSpPr/>
          <p:nvPr/>
        </p:nvSpPr>
        <p:spPr>
          <a:xfrm>
            <a:off x="6349841" y="3096141"/>
            <a:ext cx="53846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objetivo concilia duas forças concorrentes: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Text 9"/>
          <p:cNvSpPr/>
          <p:nvPr/>
        </p:nvSpPr>
        <p:spPr>
          <a:xfrm>
            <a:off x="6349841" y="3542526"/>
            <a:ext cx="5156071" cy="602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maximiza a largura da margem (simplicidade do modelo).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9841" y="3545384"/>
            <a:ext cx="633397" cy="286544"/>
          </a:xfrm>
          <a:prstGeom prst="rect">
            <a:avLst/>
          </a:prstGeom>
        </p:spPr>
      </p:pic>
      <p:sp>
        <p:nvSpPr>
          <p:cNvPr id="41" name="Text 10"/>
          <p:cNvSpPr/>
          <p:nvPr/>
        </p:nvSpPr>
        <p:spPr>
          <a:xfrm>
            <a:off x="6349841" y="4294505"/>
            <a:ext cx="515607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penaliza o montante acumulado de violações de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841" y="4303712"/>
            <a:ext cx="648577" cy="287040"/>
          </a:xfrm>
          <a:prstGeom prst="rect">
            <a:avLst/>
          </a:prstGeom>
        </p:spPr>
      </p:pic>
      <p:sp>
        <p:nvSpPr>
          <p:cNvPr id="43" name="Shape 11"/>
          <p:cNvSpPr/>
          <p:nvPr/>
        </p:nvSpPr>
        <p:spPr>
          <a:xfrm>
            <a:off x="6086323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PAPEL DE C NA PRÁTICA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57189" y="1432983"/>
            <a:ext cx="54862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CONFIGURAÇÃO DE HIPERPARÂMETRO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189" y="1849157"/>
            <a:ext cx="548626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compromisso fundamental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3"/>
          <p:cNvSpPr/>
          <p:nvPr/>
        </p:nvSpPr>
        <p:spPr>
          <a:xfrm>
            <a:off x="457189" y="2379583"/>
            <a:ext cx="5486263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parâmetro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age como uma constante de regularização inversa: dita o peso atribuído aos erros de treinamento em relação à largura geométrica da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432" y="2393900"/>
            <a:ext cx="247234" cy="404333"/>
          </a:xfrm>
          <a:prstGeom prst="rect">
            <a:avLst/>
          </a:prstGeom>
        </p:spPr>
      </p:pic>
      <p:sp>
        <p:nvSpPr>
          <p:cNvPr id="34" name="Shape 4"/>
          <p:cNvSpPr/>
          <p:nvPr/>
        </p:nvSpPr>
        <p:spPr>
          <a:xfrm>
            <a:off x="6248244" y="1193800"/>
            <a:ext cx="5486263" cy="26021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35" name="Text 5"/>
          <p:cNvSpPr/>
          <p:nvPr/>
        </p:nvSpPr>
        <p:spPr>
          <a:xfrm>
            <a:off x="6476838" y="1423035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kern="100" spc="11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IMPACTO NO PROJETO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76838" y="1944013"/>
            <a:ext cx="5029074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Em canais muito ruidosos com baixa relação sinal-ruído (SNR), um </a:t>
            </a:r>
            <a:r>
              <a:rPr lang="en-US" sz="1700" i="1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 moderado ou baixo é mandatório para impedir que ruído térmico aleatório deforme a superfície de decisão.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666" y="2260993"/>
            <a:ext cx="239800" cy="392175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777174"/>
              </p:ext>
            </p:extLst>
          </p:nvPr>
        </p:nvGraphicFramePr>
        <p:xfrm>
          <a:off x="457189" y="4024511"/>
          <a:ext cx="11277319" cy="1625559"/>
        </p:xfrm>
        <a:graphic>
          <a:graphicData uri="http://schemas.openxmlformats.org/drawingml/2006/table">
            <a:tbl>
              <a:tblPr/>
              <a:tblGrid>
                <a:gridCol w="2932095"/>
                <a:gridCol w="2706465"/>
                <a:gridCol w="2932095"/>
                <a:gridCol w="2706664"/>
              </a:tblGrid>
              <a:tr h="5460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Configuração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Margem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Penalidade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Risco</a:t>
                      </a:r>
                      <a:endParaRPr lang="en-US" sz="20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 baixo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Mais ampla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Menor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Subajuste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 alto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Mais estreita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Maior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B93C0B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Sobreajuste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1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Shape 0"/>
          <p:cNvSpPr/>
          <p:nvPr/>
        </p:nvSpPr>
        <p:spPr>
          <a:xfrm>
            <a:off x="0" y="1"/>
            <a:ext cx="4470288" cy="5681762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8" name="Text 1"/>
          <p:cNvSpPr/>
          <p:nvPr/>
        </p:nvSpPr>
        <p:spPr>
          <a:xfrm>
            <a:off x="457189" y="541592"/>
            <a:ext cx="3555911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8400" kern="100" spc="-42" dirty="0">
                <a:solidFill>
                  <a:srgbClr val="FFE83D"/>
                </a:solidFill>
                <a:latin typeface="Calibri" charset="0"/>
                <a:ea typeface="Calibri" charset="0"/>
                <a:cs typeface="Calibri" charset="0"/>
              </a:rPr>
              <a:t>BOX</a:t>
            </a:r>
            <a:endParaRPr lang="en-US" sz="8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57189" y="1666101"/>
            <a:ext cx="3555911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A restrição de caixa (box constraint) é a única alteração funcional no problema dual ao passar da margem rígida para a suave.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57189" y="6146919"/>
            <a:ext cx="4013100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5341263"/>
            <a:ext cx="1090585" cy="287040"/>
          </a:xfrm>
          <a:prstGeom prst="rect">
            <a:avLst/>
          </a:prstGeom>
        </p:spPr>
      </p:pic>
      <p:sp>
        <p:nvSpPr>
          <p:cNvPr id="42" name="Text 4"/>
          <p:cNvSpPr/>
          <p:nvPr/>
        </p:nvSpPr>
        <p:spPr>
          <a:xfrm>
            <a:off x="4825879" y="488950"/>
            <a:ext cx="690862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DUAL DA MARGEM SUAVE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879" y="1168400"/>
            <a:ext cx="6908627" cy="1123652"/>
          </a:xfrm>
          <a:prstGeom prst="rect">
            <a:avLst/>
          </a:prstGeom>
        </p:spPr>
      </p:pic>
      <p:sp>
        <p:nvSpPr>
          <p:cNvPr id="44" name="Text 5"/>
          <p:cNvSpPr/>
          <p:nvPr/>
        </p:nvSpPr>
        <p:spPr>
          <a:xfrm>
            <a:off x="4825879" y="2666702"/>
            <a:ext cx="6908627" cy="6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highlight>
                  <a:srgbClr val="FFE83D"/>
                </a:highlight>
                <a:latin typeface="Calibri" charset="0"/>
                <a:ea typeface="Calibri" charset="0"/>
                <a:cs typeface="Calibri" charset="0"/>
              </a:rPr>
              <a:t>✓</a:t>
            </a:r>
            <a:r>
              <a:rPr lang="en-US" sz="1900" i="1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Caixa</a:t>
            </a:r>
            <a:r>
              <a:rPr lang="en-US" sz="1900" i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Superior: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limita o impacto máximo de qualquer amostra anômala individual.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752" y="2736335"/>
            <a:ext cx="1212026" cy="316805"/>
          </a:xfrm>
          <a:prstGeom prst="rect">
            <a:avLst/>
          </a:prstGeom>
        </p:spPr>
      </p:pic>
      <p:sp>
        <p:nvSpPr>
          <p:cNvPr id="46" name="Text 6"/>
          <p:cNvSpPr/>
          <p:nvPr/>
        </p:nvSpPr>
        <p:spPr>
          <a:xfrm>
            <a:off x="4825879" y="4113907"/>
            <a:ext cx="6908627" cy="6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E83D"/>
                </a:highlight>
                <a:latin typeface="Calibri" charset="0"/>
                <a:ea typeface="Calibri" charset="0"/>
                <a:cs typeface="Calibri" charset="0"/>
              </a:rPr>
              <a:t>✓ </a:t>
            </a:r>
            <a:r>
              <a:rPr lang="en-US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Equil</a:t>
            </a:r>
            <a:r>
              <a:rPr lang="pt-BR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íbrio</a:t>
            </a:r>
            <a:r>
              <a:rPr lang="pt-BR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de Classe: </a:t>
            </a:r>
            <a:r>
              <a:rPr lang="en-US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restrição de igualdade linear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permanece inalterada.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7997" y="4161551"/>
            <a:ext cx="1477727" cy="340023"/>
          </a:xfrm>
          <a:prstGeom prst="rect">
            <a:avLst/>
          </a:prstGeom>
        </p:spPr>
      </p:pic>
      <p:sp>
        <p:nvSpPr>
          <p:cNvPr id="48" name="Text 7"/>
          <p:cNvSpPr/>
          <p:nvPr/>
        </p:nvSpPr>
        <p:spPr>
          <a:xfrm>
            <a:off x="4825879" y="5351562"/>
            <a:ext cx="2964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smtClean="0">
                <a:highlight>
                  <a:srgbClr val="FFE83D"/>
                </a:highlight>
                <a:latin typeface="Calibri" charset="0"/>
                <a:ea typeface="Calibri" charset="0"/>
                <a:cs typeface="Calibri" charset="0"/>
              </a:rPr>
              <a:t>✓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825878" y="5756043"/>
            <a:ext cx="6908627" cy="6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Pontos na margem possuem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); pontos violadores ou com erro têm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058" y="5839121"/>
            <a:ext cx="1090585" cy="287040"/>
          </a:xfrm>
          <a:prstGeom prst="rect">
            <a:avLst/>
          </a:prstGeom>
        </p:spPr>
      </p:pic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2908" y="5819090"/>
            <a:ext cx="572279" cy="287040"/>
          </a:xfrm>
          <a:prstGeom prst="rect">
            <a:avLst/>
          </a:prstGeom>
        </p:spPr>
      </p:pic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800" y="6133499"/>
            <a:ext cx="681219" cy="287040"/>
          </a:xfrm>
          <a:prstGeom prst="rect">
            <a:avLst/>
          </a:prstGeom>
        </p:spPr>
      </p:pic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5958" y="6114597"/>
            <a:ext cx="572279" cy="287040"/>
          </a:xfrm>
          <a:prstGeom prst="rect">
            <a:avLst/>
          </a:prstGeom>
        </p:spPr>
      </p:pic>
      <p:sp>
        <p:nvSpPr>
          <p:cNvPr id="54" name="Shape 9"/>
          <p:cNvSpPr/>
          <p:nvPr/>
        </p:nvSpPr>
        <p:spPr>
          <a:xfrm>
            <a:off x="4825879" y="3771007"/>
            <a:ext cx="6908627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5" name="Shape 10"/>
          <p:cNvSpPr/>
          <p:nvPr/>
        </p:nvSpPr>
        <p:spPr>
          <a:xfrm>
            <a:off x="4825879" y="5103912"/>
            <a:ext cx="6908627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56" name="Text 8"/>
          <p:cNvSpPr/>
          <p:nvPr/>
        </p:nvSpPr>
        <p:spPr>
          <a:xfrm>
            <a:off x="5122333" y="5341263"/>
            <a:ext cx="1967781" cy="350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Tipos</a:t>
            </a:r>
            <a:r>
              <a:rPr lang="en-US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de </a:t>
            </a:r>
            <a:r>
              <a:rPr lang="en-US" sz="20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Suporte</a:t>
            </a:r>
            <a:r>
              <a:rPr lang="en-US" sz="2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 0"/>
          <p:cNvSpPr/>
          <p:nvPr/>
        </p:nvSpPr>
        <p:spPr>
          <a:xfrm>
            <a:off x="571485" y="612197"/>
            <a:ext cx="110487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PROBLEMA TÉCNICO: ESPAÇOS DE DIMENSÃO ENORME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57189" y="2067785"/>
            <a:ext cx="37591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GRAU 2 (256 PIXELS)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2"/>
          <p:cNvSpPr/>
          <p:nvPr/>
        </p:nvSpPr>
        <p:spPr>
          <a:xfrm>
            <a:off x="457189" y="2535547"/>
            <a:ext cx="3530512" cy="7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800" kern="100" spc="-34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~33.000</a:t>
            </a:r>
            <a:endParaRPr lang="en-US" sz="6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1" name="Text 3"/>
          <p:cNvSpPr/>
          <p:nvPr/>
        </p:nvSpPr>
        <p:spPr>
          <a:xfrm>
            <a:off x="457189" y="3493710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dimensões no espaço expandido de características.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2" name="Text 4"/>
          <p:cNvSpPr/>
          <p:nvPr/>
        </p:nvSpPr>
        <p:spPr>
          <a:xfrm>
            <a:off x="4444889" y="2067785"/>
            <a:ext cx="35305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GRAU 4 (256 PIXELS)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4444889" y="2535547"/>
            <a:ext cx="3301917" cy="7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800" kern="100" spc="-34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~</a:t>
            </a:r>
            <a:r>
              <a:rPr lang="en-US" sz="6800" kern="100" spc="-34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10⁹</a:t>
            </a:r>
            <a:endParaRPr lang="en-US" sz="6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4444889" y="3493710"/>
            <a:ext cx="33019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um bilhão de coordenadas para cada amostra.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5" name="Text 7"/>
          <p:cNvSpPr/>
          <p:nvPr/>
        </p:nvSpPr>
        <p:spPr>
          <a:xfrm>
            <a:off x="8203995" y="2067785"/>
            <a:ext cx="35305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GRAU 7 (256 PIXELS)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8203995" y="3493710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dez quatrilhões de coordenadas; intratável na memória.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457189" y="4392831"/>
            <a:ext cx="11277318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Construir e armazenar explicitamente o vetor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coordenada a coordenada é impossível em hardware computacional. A solução consiste em nunca calcular as coordenadas individuais, mas apenas seus produtos internos.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522" y="4471888"/>
            <a:ext cx="442405" cy="293390"/>
          </a:xfrm>
          <a:prstGeom prst="rect">
            <a:avLst/>
          </a:prstGeom>
        </p:spPr>
      </p:pic>
      <p:sp>
        <p:nvSpPr>
          <p:cNvPr id="50" name="Shape 11"/>
          <p:cNvSpPr/>
          <p:nvPr/>
        </p:nvSpPr>
        <p:spPr>
          <a:xfrm>
            <a:off x="4206770" y="2057202"/>
            <a:ext cx="19050" cy="2014637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51" name="Shape 12"/>
          <p:cNvSpPr/>
          <p:nvPr/>
        </p:nvSpPr>
        <p:spPr>
          <a:xfrm>
            <a:off x="7965876" y="2057202"/>
            <a:ext cx="19050" cy="2014637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52" name="Text 5"/>
          <p:cNvSpPr/>
          <p:nvPr/>
        </p:nvSpPr>
        <p:spPr>
          <a:xfrm>
            <a:off x="8203995" y="2573298"/>
            <a:ext cx="3301917" cy="7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3000"/>
              </a:lnSpc>
              <a:buNone/>
            </a:pPr>
            <a:r>
              <a:rPr lang="en-US" sz="6800" kern="100" spc="-34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~</a:t>
            </a:r>
            <a:r>
              <a:rPr lang="en-US" sz="6800" kern="100" spc="-34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10</a:t>
            </a:r>
            <a:r>
              <a:rPr lang="en-US" sz="6800" kern="100" spc="-34" baseline="300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16</a:t>
            </a:r>
            <a:endParaRPr lang="en-US" sz="6800" baseline="30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36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0"/>
          <p:cNvSpPr/>
          <p:nvPr/>
        </p:nvSpPr>
        <p:spPr>
          <a:xfrm>
            <a:off x="685783" y="488950"/>
            <a:ext cx="1063241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 TRICK: CALCULAR SIMILARIDADES SEM MAPEAR EXPLICITAMENTE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905000"/>
            <a:ext cx="5674178" cy="3274120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685783" y="5296912"/>
            <a:ext cx="5674178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4 do artigo original: cálculo implícito do produto interno em alta dimensão via função núcleo.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390212" y="1999234"/>
            <a:ext cx="37832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PRODUTO INTERNO CONVOLUÍDO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 rotWithShape="1">
          <a:blip r:embed="rId4"/>
          <a:srcRect l="5940" r="36820"/>
          <a:stretch/>
        </p:blipFill>
        <p:spPr>
          <a:xfrm>
            <a:off x="7939856" y="2445143"/>
            <a:ext cx="2683933" cy="446683"/>
          </a:xfrm>
          <a:prstGeom prst="rect">
            <a:avLst/>
          </a:prstGeom>
        </p:spPr>
      </p:pic>
      <p:sp>
        <p:nvSpPr>
          <p:cNvPr id="26" name="Text 3"/>
          <p:cNvSpPr/>
          <p:nvPr/>
        </p:nvSpPr>
        <p:spPr>
          <a:xfrm>
            <a:off x="7045645" y="3008432"/>
            <a:ext cx="4688862" cy="151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Substituindo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por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todo o treinamento dual e a função de decisão operam em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consumindo apenas o custo computacional do espaço original de entrada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262" y="3057360"/>
            <a:ext cx="755730" cy="27434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732" y="3082141"/>
            <a:ext cx="899197" cy="293390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0032" y="3681561"/>
            <a:ext cx="190793" cy="267990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0913" y="3987643"/>
            <a:ext cx="266098" cy="280690"/>
          </a:xfrm>
          <a:prstGeom prst="rect">
            <a:avLst/>
          </a:prstGeom>
        </p:spPr>
      </p:pic>
      <p:pic>
        <p:nvPicPr>
          <p:cNvPr id="31" name="Imag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142" y="4366524"/>
            <a:ext cx="3789461" cy="170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744180" y="493402"/>
            <a:ext cx="1074961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MERCER: QUANDO UMA FUNÇÃO PODE SER UM KERNEL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457189" y="2060443"/>
            <a:ext cx="601449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TEOREMA DE MERCER (1909)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457189" y="2475817"/>
            <a:ext cx="576049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Condição necessária e suficiente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 3"/>
          <p:cNvSpPr/>
          <p:nvPr/>
        </p:nvSpPr>
        <p:spPr>
          <a:xfrm>
            <a:off x="457189" y="2977872"/>
            <a:ext cx="5760497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Para que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represente um produto interno em algum espaço de Hilbert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a forma quadrática integral correspondente deve ser semidefinida positiva: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476" y="3016957"/>
            <a:ext cx="914525" cy="35286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208" y="3340963"/>
            <a:ext cx="190793" cy="267990"/>
          </a:xfrm>
          <a:prstGeom prst="rect">
            <a:avLst/>
          </a:prstGeom>
        </p:spPr>
      </p:pic>
      <p:pic>
        <p:nvPicPr>
          <p:cNvPr id="18" name="Imag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21" y="4149904"/>
            <a:ext cx="4514043" cy="931148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457189" y="5248493"/>
            <a:ext cx="6014490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Para qualquer função </a:t>
            </a: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de quadrado integrável.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Imag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292" y="5249150"/>
            <a:ext cx="516927" cy="325164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6725672" y="1815869"/>
            <a:ext cx="50088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MATRIZ DE GRAM VISUAL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672" y="2259310"/>
            <a:ext cx="5008834" cy="190053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6725672" y="4303038"/>
            <a:ext cx="5008834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Simetria: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199" y="4305895"/>
            <a:ext cx="2096142" cy="29339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6725672" y="4764703"/>
            <a:ext cx="500883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Positividade: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0651" y="4767560"/>
            <a:ext cx="1788373" cy="27434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6725672" y="5211088"/>
            <a:ext cx="500883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3. Similaridade: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 diagonal mede auto-similaridade máxima.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6462154" y="1193800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054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4021458" y="488950"/>
            <a:ext cx="414867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 POLINOMIAL</a:t>
            </a:r>
            <a:endParaRPr lang="en-US" sz="3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189" y="1643365"/>
            <a:ext cx="3530512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7000" b="1" kern="100" spc="-42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D = 1</a:t>
            </a:r>
            <a:endParaRPr lang="en-US" sz="7000" b="1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 rotWithShape="1">
          <a:blip r:embed="rId3"/>
          <a:srcRect r="29262"/>
          <a:stretch/>
        </p:blipFill>
        <p:spPr>
          <a:xfrm>
            <a:off x="1189799" y="3137770"/>
            <a:ext cx="2065291" cy="446683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57189" y="3737895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Hiperplano linear com termo de bias integrado.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444839" y="1643365"/>
            <a:ext cx="3301917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7000" b="1" kern="100" spc="-42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D = 2</a:t>
            </a:r>
            <a:endParaRPr lang="en-US" sz="7000" b="1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 rotWithShape="1">
          <a:blip r:embed="rId4"/>
          <a:srcRect l="2" t="-3541" r="-2" b="65893"/>
          <a:stretch/>
        </p:blipFill>
        <p:spPr>
          <a:xfrm>
            <a:off x="4792543" y="3123900"/>
            <a:ext cx="3301917" cy="324383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4444889" y="3758005"/>
            <a:ext cx="33019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Fronteiras</a:t>
            </a:r>
            <a:r>
              <a:rPr lang="en-US" sz="1800" dirty="0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C</a:t>
            </a:r>
            <a:r>
              <a:rPr lang="pt-BR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ônicas</a:t>
            </a:r>
            <a:r>
              <a:rPr lang="pt-BR" dirty="0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US" sz="1800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elipses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, parábolas e hipérboles.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203995" y="1277917"/>
            <a:ext cx="3530512" cy="187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3000"/>
              </a:lnSpc>
              <a:buNone/>
            </a:pPr>
            <a:r>
              <a:rPr lang="en-US" sz="7000" b="1" kern="100" spc="-42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D = 4 \DOTS 7</a:t>
            </a:r>
            <a:endParaRPr lang="en-US" sz="7000" b="1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 rotWithShape="1">
          <a:blip r:embed="rId5"/>
          <a:srcRect r="27758"/>
          <a:stretch/>
        </p:blipFill>
        <p:spPr>
          <a:xfrm>
            <a:off x="8762191" y="3241873"/>
            <a:ext cx="2407023" cy="446683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8203995" y="3853974"/>
            <a:ext cx="35305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Interações de alta ordem sem custo combinatorial.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57189" y="5655302"/>
            <a:ext cx="112773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Cortes e Vapnik avaliaram graus de 1 a 7 no artigo original, comprovando viabilidade de execução idêntica em qualquer grau.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206770" y="1193800"/>
            <a:ext cx="19050" cy="4409480"/>
          </a:xfrm>
          <a:prstGeom prst="rect">
            <a:avLst/>
          </a:prstGeom>
          <a:solidFill>
            <a:srgbClr val="0A1540"/>
          </a:solidFill>
          <a:ln/>
        </p:spPr>
      </p:sp>
      <p:sp>
        <p:nvSpPr>
          <p:cNvPr id="29" name="Shape 9"/>
          <p:cNvSpPr/>
          <p:nvPr/>
        </p:nvSpPr>
        <p:spPr>
          <a:xfrm>
            <a:off x="7965876" y="1193800"/>
            <a:ext cx="19050" cy="4409480"/>
          </a:xfrm>
          <a:prstGeom prst="rect">
            <a:avLst/>
          </a:prstGeom>
          <a:solidFill>
            <a:srgbClr val="0A1540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 rotWithShape="1">
          <a:blip r:embed="rId4"/>
          <a:srcRect l="23884" t="31250" r="58680" b="29951"/>
          <a:stretch/>
        </p:blipFill>
        <p:spPr>
          <a:xfrm>
            <a:off x="6663786" y="3135875"/>
            <a:ext cx="575734" cy="3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/>
          <p:cNvSpPr/>
          <p:nvPr/>
        </p:nvSpPr>
        <p:spPr>
          <a:xfrm>
            <a:off x="457189" y="488950"/>
            <a:ext cx="758614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 RBF E CONHECIMENTO PRÉVIO</a:t>
            </a:r>
            <a:endParaRPr lang="en-US" sz="3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457190" y="1351158"/>
            <a:ext cx="43264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FUNÇÃO DE BASE RADIAL (GAUSSIANA)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516" y="1794600"/>
            <a:ext cx="3919702" cy="843955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457189" y="2920317"/>
            <a:ext cx="651235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Espaço de Hilbert de dimensão infinita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7189" y="3333659"/>
            <a:ext cx="651235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expansão de Taylor do exponencial revela que o kernel RBF projeta os dados em um espaço com infinitas dimensões. A métrica avalia similaridade puramente local baseada na distância euclidiana.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57189" y="4614372"/>
            <a:ext cx="651235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Injeção de conhecimento a priori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57189" y="4960854"/>
            <a:ext cx="6512357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Kernels podem ser desenhados para embutir invariâncias físicas: rotação de fase, atraso de grupo em canais, correlação espectral e simetrias de modulação.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536" y="1320800"/>
            <a:ext cx="4256973" cy="4953000"/>
          </a:xfrm>
          <a:prstGeom prst="rect">
            <a:avLst/>
          </a:prstGeom>
        </p:spPr>
      </p:pic>
      <p:sp>
        <p:nvSpPr>
          <p:cNvPr id="24" name="Shape 6"/>
          <p:cNvSpPr/>
          <p:nvPr/>
        </p:nvSpPr>
        <p:spPr>
          <a:xfrm>
            <a:off x="7214015" y="1193800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101197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CONTROLE DE CAPACIDADE E RISCO ESTRUTURAL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189" y="2428346"/>
            <a:ext cx="71422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ERRO DE TESTE E CAPACIDADE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189" y="2884487"/>
            <a:ext cx="6888288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erro de teste combina frequência de erro no treino e um intervalo de confiança.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57189" y="3694112"/>
            <a:ext cx="344409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Erro de teste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57189" y="4173537"/>
            <a:ext cx="321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dimensão VC mede a capacidade da classe de funções.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129877" y="3694112"/>
            <a:ext cx="321559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Princípio de Occam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129877" y="4173537"/>
            <a:ext cx="3215599" cy="666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Minimizar </a:t>
            </a:r>
            <a:r>
              <a:rPr lang="en-US" sz="19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2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reduz sobreajuste.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97" y="4262867"/>
            <a:ext cx="557695" cy="304105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467" y="1295400"/>
            <a:ext cx="3881043" cy="4978400"/>
          </a:xfrm>
          <a:prstGeom prst="rect">
            <a:avLst/>
          </a:prstGeom>
        </p:spPr>
      </p:pic>
      <p:sp>
        <p:nvSpPr>
          <p:cNvPr id="39" name="Shape 7"/>
          <p:cNvSpPr/>
          <p:nvPr/>
        </p:nvSpPr>
        <p:spPr>
          <a:xfrm>
            <a:off x="3894933" y="3681413"/>
            <a:ext cx="12700" cy="1470025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40" name="Shape 8"/>
          <p:cNvSpPr/>
          <p:nvPr/>
        </p:nvSpPr>
        <p:spPr>
          <a:xfrm>
            <a:off x="7589945" y="1168400"/>
            <a:ext cx="19050" cy="5232400"/>
          </a:xfrm>
          <a:prstGeom prst="rect">
            <a:avLst/>
          </a:prstGeom>
          <a:solidFill>
            <a:srgbClr val="0A1540"/>
          </a:solidFill>
          <a:ln/>
        </p:spPr>
      </p:sp>
    </p:spTree>
    <p:extLst>
      <p:ext uri="{BB962C8B-B14F-4D97-AF65-F5344CB8AC3E}">
        <p14:creationId xmlns:p14="http://schemas.microsoft.com/office/powerpoint/2010/main" val="2093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1871232" y="389143"/>
            <a:ext cx="843695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 GEOMÉTRICO NO PLANO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00" y="1071525"/>
            <a:ext cx="6034929" cy="39624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621900" y="5227918"/>
            <a:ext cx="603492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5 do artigo original: separação por </a:t>
            </a:r>
            <a:r>
              <a:rPr lang="en-US" sz="1800" dirty="0" err="1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polinômio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err="1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quadrático</a:t>
            </a:r>
            <a:endParaRPr lang="en-US" sz="1800" dirty="0" smtClean="0">
              <a:solidFill>
                <a:srgbClr val="44507A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en-US" sz="1700" i="1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   </a:t>
            </a: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) no plano bidimensional.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23" y="5581860"/>
            <a:ext cx="525449" cy="287040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8470356" y="1082108"/>
            <a:ext cx="207242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VISUALIZAÇÃO 2D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7342512" y="1498282"/>
            <a:ext cx="43281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Geometria da fronteira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342512" y="2028708"/>
            <a:ext cx="4328111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Com o kernel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, o classificador sintetiza superfícies curvas no plano original enquanto calcula apenas um hiperplano linear no espaço tridimensional estendido.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336" y="2091213"/>
            <a:ext cx="2230381" cy="304511"/>
          </a:xfrm>
          <a:prstGeom prst="rect">
            <a:avLst/>
          </a:prstGeom>
        </p:spPr>
      </p:pic>
      <p:sp>
        <p:nvSpPr>
          <p:cNvPr id="24" name="Shape 5"/>
          <p:cNvSpPr/>
          <p:nvPr/>
        </p:nvSpPr>
        <p:spPr>
          <a:xfrm>
            <a:off x="7342512" y="3665996"/>
            <a:ext cx="4328111" cy="180588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25" name="Text 6"/>
          <p:cNvSpPr/>
          <p:nvPr/>
        </p:nvSpPr>
        <p:spPr>
          <a:xfrm>
            <a:off x="7545707" y="3834589"/>
            <a:ext cx="3921721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Identificação direta: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os vetores de suporte (marcados com círculos na figura) tocam as fronteiras da margem curva e os poucos erros de treino são tolerados pelas folgas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8803" y="5084398"/>
            <a:ext cx="162913" cy="28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511839" y="495329"/>
            <a:ext cx="1105362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RECONHECIMENTO DE DÍGITOS: O PROBLEMA EXPERIMENTAL</a:t>
            </a:r>
            <a:endParaRPr lang="en-US" sz="3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422400"/>
            <a:ext cx="5674178" cy="405388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85783" y="4999645"/>
            <a:ext cx="567417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Figura do artigo original: dígitos manuscritos padronizados em escala de cinza.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045645" y="1213358"/>
            <a:ext cx="46888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Base USPS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045645" y="1715413"/>
            <a:ext cx="4688862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7.300 padrões de treino, 2.000 de teste; resolução de 16×16 pixels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dimensões).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016" y="2099704"/>
            <a:ext cx="766545" cy="2870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045645" y="3106452"/>
            <a:ext cx="46888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Base NIST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7045645" y="3608507"/>
            <a:ext cx="4688862" cy="90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60.000 padrões de treino, 10.000 de teste; resolução de 28×28 pixels (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dimensões).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6315" y="3982165"/>
            <a:ext cx="766545" cy="28704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045645" y="4999645"/>
            <a:ext cx="46888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Estratégia One-vs-All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045645" y="5501700"/>
            <a:ext cx="4688862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Dez classificadores binários independentes (um dígito versus todos os demais); decisão final por pontuação máxima de margem.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045645" y="2851944"/>
            <a:ext cx="4688862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19" name="Shape 9"/>
          <p:cNvSpPr/>
          <p:nvPr/>
        </p:nvSpPr>
        <p:spPr>
          <a:xfrm>
            <a:off x="7045645" y="4745137"/>
            <a:ext cx="4688862" cy="12700"/>
          </a:xfrm>
          <a:prstGeom prst="rect">
            <a:avLst/>
          </a:prstGeom>
          <a:solidFill>
            <a:srgbClr val="C9D3F2"/>
          </a:solidFill>
          <a:ln/>
        </p:spPr>
      </p:sp>
    </p:spTree>
    <p:extLst>
      <p:ext uri="{BB962C8B-B14F-4D97-AF65-F5344CB8AC3E}">
        <p14:creationId xmlns:p14="http://schemas.microsoft.com/office/powerpoint/2010/main" val="76926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2629628" y="315690"/>
            <a:ext cx="7123825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EFEITO DO GRAU POLINOMIAL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82" y="1400770"/>
            <a:ext cx="5079873" cy="31750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552882" y="4693563"/>
            <a:ext cx="541006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Erro bruto (%) no conjunto de teste USPS.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03419"/>
              </p:ext>
            </p:extLst>
          </p:nvPr>
        </p:nvGraphicFramePr>
        <p:xfrm>
          <a:off x="6420135" y="679450"/>
          <a:ext cx="5410065" cy="5016373"/>
        </p:xfrm>
        <a:graphic>
          <a:graphicData uri="http://schemas.openxmlformats.org/drawingml/2006/table">
            <a:tbl>
              <a:tblPr/>
              <a:tblGrid>
                <a:gridCol w="981249"/>
                <a:gridCol w="1690943"/>
                <a:gridCol w="2737873"/>
              </a:tblGrid>
              <a:tr h="1206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Grau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Vetores de suporte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Dimensão do espaço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200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256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127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~33000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148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165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~1×10^9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175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~1×10^12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185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~1×10^14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7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190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~1×10^16</a:t>
                      </a:r>
                      <a:endParaRPr lang="en-US" sz="2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2"/>
          <p:cNvSpPr/>
          <p:nvPr/>
        </p:nvSpPr>
        <p:spPr>
          <a:xfrm>
            <a:off x="1103855" y="5813616"/>
            <a:ext cx="1017537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O erro despenca de 12,0% (linear) para 4,7% com grau 2, e depois estabiliza entre 4,2% e 4,4% até o grau 7.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6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0"/>
          <p:cNvSpPr/>
          <p:nvPr/>
        </p:nvSpPr>
        <p:spPr>
          <a:xfrm>
            <a:off x="457189" y="48895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RESULTADO MAIS 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INSTRUTIVO:</a:t>
            </a:r>
          </a:p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DIMENSÃO </a:t>
            </a: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CRESCE, ERRO QUASE NÃO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189" y="1686983"/>
            <a:ext cx="56386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PARADOXO DA DIMENSIONALIDADE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189" y="2103157"/>
            <a:ext cx="535926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Do grau 3 ao grau 7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57189" y="2576433"/>
            <a:ext cx="53592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dimensionalidade do espaço de características cresce em </a:t>
            </a: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dez ordens de magnitude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: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57189" y="3297753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57189" y="3759418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8" name="Text 6"/>
          <p:cNvSpPr/>
          <p:nvPr/>
        </p:nvSpPr>
        <p:spPr>
          <a:xfrm>
            <a:off x="457189" y="4221083"/>
            <a:ext cx="563865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           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57189" y="4685923"/>
            <a:ext cx="5359266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Sob o dogma do aprendizado estatístico clássico, uma explosão de parâmetros dessa ordem deveria provocar sobreajuste severo.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1" name="Text 8"/>
          <p:cNvSpPr/>
          <p:nvPr/>
        </p:nvSpPr>
        <p:spPr>
          <a:xfrm>
            <a:off x="6375241" y="1686983"/>
            <a:ext cx="535926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EVIDÊNCIA EXPERIMENTAL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2" name="Text 9"/>
          <p:cNvSpPr/>
          <p:nvPr/>
        </p:nvSpPr>
        <p:spPr>
          <a:xfrm>
            <a:off x="6375241" y="2103157"/>
            <a:ext cx="535926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Imunidade ao sobreajuste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6375241" y="2576433"/>
            <a:ext cx="5359266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número de vetores de suporte cresce em ritmo extremamente lento (de 148 no grau 3 para apenas 190 no grau 7).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6375241" y="3594914"/>
            <a:ext cx="53592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erro em dados de teste não vistos permanece rigidamente </a:t>
            </a:r>
            <a:r>
              <a:rPr lang="en-US" sz="1800" dirty="0" err="1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confinado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em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4,2% - 4,4%.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6375241" y="4341634"/>
            <a:ext cx="5359266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tese de Vapnik confirmada: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 capacidade do classificador é governada pela norma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 pela margem geométrica, não pela dimensionalidade do espaço de imersão.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061" y="4714784"/>
            <a:ext cx="412343" cy="27434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6" y="3206501"/>
            <a:ext cx="2487608" cy="141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297701" y="531918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BENCHMARK NIST: PRECISÃO COMPETITIVA E LEITURA CRÍTICA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1417340"/>
            <a:ext cx="5841854" cy="40640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457189" y="5362806"/>
            <a:ext cx="613136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Calibri" charset="0"/>
                <a:ea typeface="Calibri" charset="0"/>
                <a:cs typeface="Calibri" charset="0"/>
              </a:rPr>
              <a:t>Comparativo histórico de erro de teste (%) na base de dígitos NIST (Cortes e Vapnik, 1995).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7045645" y="2648849"/>
            <a:ext cx="4223488" cy="352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Paridade com redes convolucionais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045645" y="3001420"/>
            <a:ext cx="4688862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SVN empata rigorosamente com a LeNet4 (1,1%), o estado da arte convolucional da época nos laboratórios da AT&amp;T Bell Labs.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045645" y="4374334"/>
            <a:ext cx="4688862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Leitura Crítica: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a comparação é histórica e depende de pré-processamento. O valor duradouro está na formulação: um modelo convexo sem mínimos locais competindo com redes profundas convolucionais ajustadas por backpropagation.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 3"/>
          <p:cNvSpPr/>
          <p:nvPr/>
        </p:nvSpPr>
        <p:spPr>
          <a:xfrm>
            <a:off x="6969444" y="1481024"/>
            <a:ext cx="2284622" cy="116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0" b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1,1%</a:t>
            </a:r>
            <a:endParaRPr lang="en-US" sz="8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9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244102" y="531918"/>
            <a:ext cx="58406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REPLICAÇ</a:t>
            </a:r>
            <a:r>
              <a:rPr lang="pt-BR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 DE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EXPERIMENTO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08" y="2593374"/>
            <a:ext cx="4413105" cy="223804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377713" y="1394835"/>
            <a:ext cx="1344831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MNIST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44" y="2257752"/>
            <a:ext cx="3945455" cy="257367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2752577" y="5098671"/>
            <a:ext cx="667956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ARTIGO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8108610" y="5098671"/>
            <a:ext cx="1166912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2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244102" y="531918"/>
            <a:ext cx="58406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REPLICAÇ</a:t>
            </a:r>
            <a:r>
              <a:rPr lang="pt-BR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 DE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EXPERIMENTO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75" y="2427084"/>
            <a:ext cx="5132431" cy="2127981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150041" y="1394835"/>
            <a:ext cx="402875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POLINÔMIO GRAU 2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418" y="2159000"/>
            <a:ext cx="5055296" cy="232785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752577" y="4655348"/>
            <a:ext cx="667956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ARTIGO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0"/>
          <p:cNvSpPr/>
          <p:nvPr/>
        </p:nvSpPr>
        <p:spPr>
          <a:xfrm>
            <a:off x="8108610" y="4655348"/>
            <a:ext cx="1166912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0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0"/>
          <p:cNvSpPr/>
          <p:nvPr/>
        </p:nvSpPr>
        <p:spPr>
          <a:xfrm>
            <a:off x="3244101" y="531918"/>
            <a:ext cx="5840632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REPLICAÇ</a:t>
            </a:r>
            <a:r>
              <a:rPr lang="pt-BR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ÃO DE</a:t>
            </a:r>
            <a:r>
              <a:rPr lang="en-US" sz="36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EXPERIMENTO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Text 0"/>
          <p:cNvSpPr/>
          <p:nvPr/>
        </p:nvSpPr>
        <p:spPr>
          <a:xfrm>
            <a:off x="5818658" y="1394835"/>
            <a:ext cx="345759" cy="43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360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402" y="1925866"/>
            <a:ext cx="5104031" cy="337826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580961" y="5401198"/>
            <a:ext cx="1166912" cy="22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pt-BR" sz="15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EXPERIMENTO</a:t>
            </a:r>
            <a:endParaRPr lang="en-US" sz="15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97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TRÊS IDEIAS PARA LEVAR PARA TELECOMUNICAÇÕES</a:t>
            </a:r>
            <a:endParaRPr 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57189" y="1193800"/>
            <a:ext cx="634984" cy="635000"/>
          </a:xfrm>
          <a:prstGeom prst="roundRect">
            <a:avLst>
              <a:gd name="adj" fmla="val 6000"/>
            </a:avLst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4" y="1384300"/>
            <a:ext cx="253994" cy="25400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57189" y="2026957"/>
            <a:ext cx="3530512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Representação do Sinal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457189" y="2907824"/>
            <a:ext cx="3530512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representação é tão importante quanto o classificador. Extrair parâmetros ortogonais (constelação I/Q, decomposição em subportadoras OFDM) condiciona a separabilidade no espaço de características.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4444889" y="1193800"/>
            <a:ext cx="634984" cy="635000"/>
          </a:xfrm>
          <a:prstGeom prst="roundRect">
            <a:avLst>
              <a:gd name="adj" fmla="val 6000"/>
            </a:avLst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384" y="1384300"/>
            <a:ext cx="253994" cy="254000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4444889" y="2026957"/>
            <a:ext cx="3301917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Robustez Geométrica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4444889" y="2907824"/>
            <a:ext cx="3301917" cy="237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 margem máxima confere tolerância intrínseca a perturbações de ruído aditivo e desvanecimento. Maximizar a margem equivale a maximizar a distância mínima euclidiana entre símbolos de comunicação.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8203995" y="1193800"/>
            <a:ext cx="634984" cy="635000"/>
          </a:xfrm>
          <a:prstGeom prst="roundRect">
            <a:avLst>
              <a:gd name="adj" fmla="val 6000"/>
            </a:avLst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490" y="1384300"/>
            <a:ext cx="253994" cy="254000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8203995" y="2026957"/>
            <a:ext cx="353051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3. Similaridade Física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8203995" y="2557383"/>
            <a:ext cx="3530512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O kernel permite injetar a física do canal de rádio diretamente na geometria do modelo, incorporando invariâncias de fase e atraso temporal sem depender de aumento artificial de dados.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4209945" y="1193800"/>
            <a:ext cx="12700" cy="52070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1" name="Shape 11"/>
          <p:cNvSpPr/>
          <p:nvPr/>
        </p:nvSpPr>
        <p:spPr>
          <a:xfrm>
            <a:off x="7969051" y="1193800"/>
            <a:ext cx="12700" cy="5207000"/>
          </a:xfrm>
          <a:prstGeom prst="rect">
            <a:avLst/>
          </a:prstGeom>
          <a:solidFill>
            <a:srgbClr val="C9D3F2"/>
          </a:solidFill>
          <a:ln/>
        </p:spPr>
      </p:sp>
    </p:spTree>
    <p:extLst>
      <p:ext uri="{BB962C8B-B14F-4D97-AF65-F5344CB8AC3E}">
        <p14:creationId xmlns:p14="http://schemas.microsoft.com/office/powerpoint/2010/main" val="8222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0"/>
          <p:cNvSpPr/>
          <p:nvPr/>
        </p:nvSpPr>
        <p:spPr>
          <a:xfrm>
            <a:off x="404620" y="210587"/>
            <a:ext cx="1000091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CONCLUSÃO: RESUMO MATEMÁTICO E IMPLICAÇÕES</a:t>
            </a:r>
            <a:endParaRPr lang="en-US" sz="3600" dirty="0">
              <a:latin typeface="Calibri" charset="0"/>
              <a:ea typeface="Calibri" charset="0"/>
              <a:cs typeface="Calibri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208272"/>
              </p:ext>
            </p:extLst>
          </p:nvPr>
        </p:nvGraphicFramePr>
        <p:xfrm>
          <a:off x="531617" y="2226018"/>
          <a:ext cx="6888288" cy="2418114"/>
        </p:xfrm>
        <a:graphic>
          <a:graphicData uri="http://schemas.openxmlformats.org/drawingml/2006/table">
            <a:tbl>
              <a:tblPr/>
              <a:tblGrid>
                <a:gridCol w="1721998"/>
                <a:gridCol w="5166290"/>
              </a:tblGrid>
              <a:tr h="8407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Primal</a:t>
                      </a:r>
                      <a:endParaRPr lang="en-US" sz="18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750" dirty="0" smtClean="0">
                        <a:latin typeface="math" charset="0"/>
                        <a:ea typeface="math" charset="0"/>
                        <a:cs typeface="math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750" dirty="0" smtClean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07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Dual</a:t>
                      </a:r>
                      <a:endParaRPr lang="en-US" sz="18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750" dirty="0" smtClean="0">
                        <a:latin typeface="math" charset="0"/>
                        <a:ea typeface="math" charset="0"/>
                        <a:cs typeface="math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7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6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A154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Decisão</a:t>
                      </a:r>
                      <a:endParaRPr lang="en-US" sz="18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750" dirty="0" smtClean="0">
                        <a:latin typeface="math" charset="0"/>
                        <a:ea typeface="math" charset="0"/>
                        <a:cs typeface="math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7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895" y="1113896"/>
            <a:ext cx="3881043" cy="4953000"/>
          </a:xfrm>
          <a:prstGeom prst="rect">
            <a:avLst/>
          </a:prstGeom>
        </p:spPr>
      </p:pic>
      <p:sp>
        <p:nvSpPr>
          <p:cNvPr id="22" name="Shape 2"/>
          <p:cNvSpPr/>
          <p:nvPr/>
        </p:nvSpPr>
        <p:spPr>
          <a:xfrm>
            <a:off x="7664373" y="969963"/>
            <a:ext cx="19050" cy="5207000"/>
          </a:xfrm>
          <a:prstGeom prst="rect">
            <a:avLst/>
          </a:prstGeom>
          <a:solidFill>
            <a:srgbClr val="0A1540"/>
          </a:solidFill>
          <a:ln/>
        </p:spPr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421" y="2346904"/>
            <a:ext cx="2848580" cy="616703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421" y="3266440"/>
            <a:ext cx="2848580" cy="470965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421" y="4132517"/>
            <a:ext cx="2848580" cy="3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2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[1]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Cortes, C.; 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Vapnik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V. Support-Vector Networks. Machine Learning, v. 20, p. 273–297, 1995. doi:10.1007/BF00994018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2] 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https://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scikit-learn.org</a:t>
            </a:r>
            <a:r>
              <a:rPr lang="en-US" sz="18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/stable/modules/</a:t>
            </a:r>
            <a:r>
              <a:rPr lang="en-US" sz="18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/>
              </a:rPr>
              <a:t>svm.html</a:t>
            </a: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>
              <a:buNone/>
            </a:pPr>
            <a:r>
              <a:rPr lang="pt-BR" sz="1800" dirty="0" smtClean="0"/>
              <a:t>[3] </a:t>
            </a:r>
            <a:r>
              <a:rPr lang="pt-BR" sz="1800" dirty="0" err="1" smtClean="0"/>
              <a:t>Support</a:t>
            </a:r>
            <a:r>
              <a:rPr lang="pt-BR" sz="1800" dirty="0" smtClean="0"/>
              <a:t> Vector </a:t>
            </a:r>
            <a:r>
              <a:rPr lang="pt-BR" sz="1800" dirty="0" err="1" smtClean="0"/>
              <a:t>Machine</a:t>
            </a:r>
            <a:r>
              <a:rPr lang="pt-BR" sz="1800" dirty="0" smtClean="0"/>
              <a:t>: tudo o que você precisa saber - </a:t>
            </a:r>
            <a:r>
              <a:rPr lang="pt-BR" sz="1800" dirty="0" smtClean="0">
                <a:hlinkClick r:id="rId3"/>
              </a:rPr>
              <a:t>https</a:t>
            </a:r>
            <a:r>
              <a:rPr lang="pt-BR" sz="1800" dirty="0">
                <a:hlinkClick r:id="rId3"/>
              </a:rPr>
              <a:t>://</a:t>
            </a:r>
            <a:r>
              <a:rPr lang="pt-BR" sz="1800" dirty="0" smtClean="0">
                <a:hlinkClick r:id="rId3"/>
              </a:rPr>
              <a:t>youtu.be/ny1iZ5A8ilA</a:t>
            </a:r>
            <a:endParaRPr lang="pt-BR" sz="1800" dirty="0" smtClean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smtClean="0"/>
              <a:t>[4] </a:t>
            </a:r>
            <a:r>
              <a:rPr lang="pt-BR" sz="1800" dirty="0" err="1" smtClean="0"/>
              <a:t>Siamese</a:t>
            </a:r>
            <a:r>
              <a:rPr lang="pt-BR" sz="1800" dirty="0" smtClean="0"/>
              <a:t> Neural Networks - </a:t>
            </a:r>
            <a:r>
              <a:rPr lang="pt-BR" sz="1800" dirty="0" smtClean="0">
                <a:hlinkClick r:id="rId4"/>
              </a:rPr>
              <a:t>https://youtu.be/T9yKyZfxUJg</a:t>
            </a:r>
            <a:endParaRPr lang="pt-BR" sz="1800" dirty="0" smtClean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/>
          <p:cNvSpPr/>
          <p:nvPr/>
        </p:nvSpPr>
        <p:spPr>
          <a:xfrm>
            <a:off x="711182" y="488950"/>
            <a:ext cx="10837344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UM PIPELINE SVM PARA SINAIS DE TELECOMUNICAÇÕES</a:t>
            </a:r>
            <a:endParaRPr lang="en-US" sz="3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457189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457189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4" name="Text 3"/>
          <p:cNvSpPr/>
          <p:nvPr/>
        </p:nvSpPr>
        <p:spPr>
          <a:xfrm>
            <a:off x="457189" y="1779897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1. Extração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457189" y="2445734"/>
            <a:ext cx="2011610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Amostragem em I/Q, espectrograma, cumilantes de ordem superior ou coeficientes wavelet.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Text 5"/>
          <p:cNvSpPr/>
          <p:nvPr/>
        </p:nvSpPr>
        <p:spPr>
          <a:xfrm>
            <a:off x="2773492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2773492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8" name="Text 7"/>
          <p:cNvSpPr/>
          <p:nvPr/>
        </p:nvSpPr>
        <p:spPr>
          <a:xfrm>
            <a:off x="2773492" y="1779897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2. Normalização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Text 8"/>
          <p:cNvSpPr/>
          <p:nvPr/>
        </p:nvSpPr>
        <p:spPr>
          <a:xfrm>
            <a:off x="2808763" y="2454565"/>
            <a:ext cx="2011709" cy="208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Controle automático de ganho (AGC), remoção de offset de frequência e padronização escalar.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089894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5089894" y="1588889"/>
            <a:ext cx="2011808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22" name="Text 11"/>
          <p:cNvSpPr/>
          <p:nvPr/>
        </p:nvSpPr>
        <p:spPr>
          <a:xfrm>
            <a:off x="5089894" y="1779897"/>
            <a:ext cx="201180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3. Escolha do Kernel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089894" y="2603222"/>
            <a:ext cx="2011808" cy="181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Definição da função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(RBF, polinomial) e calibração de </a:t>
            </a:r>
            <a:r>
              <a:rPr lang="en-US" sz="1800" dirty="0" err="1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hiperparâmetros</a:t>
            </a:r>
            <a:endParaRPr lang="en-US" sz="1800" dirty="0" smtClean="0">
              <a:solidFill>
                <a:srgbClr val="0A1540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963" y="2678460"/>
            <a:ext cx="205477" cy="287040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894" y="3842950"/>
            <a:ext cx="584086" cy="2870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406395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7406395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28" name="Text 15"/>
          <p:cNvSpPr/>
          <p:nvPr/>
        </p:nvSpPr>
        <p:spPr>
          <a:xfrm>
            <a:off x="7406395" y="1779897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4. Resolução Dual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7406395" y="2603222"/>
            <a:ext cx="2011709" cy="209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Programação quadrática convexa offline para determinação dos vetores de </a:t>
            </a:r>
            <a:r>
              <a:rPr lang="en-US" sz="1800" dirty="0" err="1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suporte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e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 smtClean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700" i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 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627" y="4130327"/>
            <a:ext cx="207957" cy="28704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9722797" y="1233289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Calibri" charset="0"/>
                <a:ea typeface="Calibri" charset="0"/>
                <a:cs typeface="Calibri" charset="0"/>
              </a:rPr>
              <a:t>05</a:t>
            </a:r>
            <a:endParaRPr lang="en-US" sz="2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9722797" y="1588889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33" name="Text 19"/>
          <p:cNvSpPr/>
          <p:nvPr/>
        </p:nvSpPr>
        <p:spPr>
          <a:xfrm>
            <a:off x="9722797" y="1779897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5. Decisão em Tempo Real</a:t>
            </a:r>
            <a:endParaRPr lang="en-US" sz="2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9722797" y="2603222"/>
            <a:ext cx="2011709" cy="178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Classificação do sinal recebido por produto interno apenas com os vetores de suporte retidos.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457189" y="4730750"/>
            <a:ext cx="11277318" cy="1196280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36" name="Text 22"/>
          <p:cNvSpPr/>
          <p:nvPr/>
        </p:nvSpPr>
        <p:spPr>
          <a:xfrm>
            <a:off x="711182" y="4899343"/>
            <a:ext cx="10769331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Aplicações em Telecom:</a:t>
            </a:r>
            <a:r>
              <a:rPr lang="en-US" sz="1800" dirty="0">
                <a:solidFill>
                  <a:srgbClr val="0A1540"/>
                </a:solidFill>
                <a:latin typeface="Calibri" charset="0"/>
                <a:ea typeface="Calibri" charset="0"/>
                <a:cs typeface="Calibri" charset="0"/>
              </a:rPr>
              <a:t> reconhecimento cego de modulações digitais (BPSK, QAM), detecção de interferência de banda estreita, classificação de estados de dispersão no canal e diagnóstico de falhas em enlaces ópticos.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72952" y="365125"/>
            <a:ext cx="3846095" cy="1325563"/>
          </a:xfrm>
        </p:spPr>
        <p:txBody>
          <a:bodyPr/>
          <a:lstStyle/>
          <a:p>
            <a:r>
              <a:rPr lang="pt-BR" dirty="0" smtClean="0"/>
              <a:t>QUESTIONÁRIO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952" y="1247798"/>
            <a:ext cx="3875559" cy="3875559"/>
          </a:xfrm>
        </p:spPr>
      </p:pic>
      <p:sp>
        <p:nvSpPr>
          <p:cNvPr id="5" name="Título 1">
            <a:hlinkClick r:id="rId3"/>
          </p:cNvPr>
          <p:cNvSpPr txBox="1">
            <a:spLocks/>
          </p:cNvSpPr>
          <p:nvPr/>
        </p:nvSpPr>
        <p:spPr>
          <a:xfrm>
            <a:off x="321994" y="5091458"/>
            <a:ext cx="11548010" cy="1085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600" dirty="0" err="1">
                <a:hlinkClick r:id="rId4"/>
              </a:rPr>
              <a:t>https</a:t>
            </a:r>
            <a:r>
              <a:rPr lang="pt-BR" sz="1600" dirty="0">
                <a:hlinkClick r:id="rId4"/>
              </a:rPr>
              <a:t>://</a:t>
            </a:r>
            <a:r>
              <a:rPr lang="pt-BR" sz="1600" dirty="0" err="1">
                <a:hlinkClick r:id="rId4"/>
              </a:rPr>
              <a:t>docs.google.com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forms</a:t>
            </a:r>
            <a:r>
              <a:rPr lang="pt-BR" sz="1600" dirty="0">
                <a:hlinkClick r:id="rId4"/>
              </a:rPr>
              <a:t>/</a:t>
            </a:r>
            <a:r>
              <a:rPr lang="pt-BR" sz="1600" dirty="0" err="1">
                <a:hlinkClick r:id="rId4"/>
              </a:rPr>
              <a:t>d</a:t>
            </a:r>
            <a:r>
              <a:rPr lang="pt-BR" sz="1600" dirty="0">
                <a:hlinkClick r:id="rId4"/>
              </a:rPr>
              <a:t>/e/1FAIpQLSfXzAMu3H7adp_hWnblJfzjK2-DVQoG3dvmiOVQvkdnXI_Ocg/</a:t>
            </a:r>
            <a:r>
              <a:rPr lang="pt-BR" sz="1600" dirty="0" err="1">
                <a:hlinkClick r:id="rId4"/>
              </a:rPr>
              <a:t>viewform?usp</a:t>
            </a:r>
            <a:r>
              <a:rPr lang="pt-BR" sz="1600" dirty="0">
                <a:hlinkClick r:id="rId4"/>
              </a:rPr>
              <a:t>=header</a:t>
            </a:r>
            <a:endParaRPr lang="pt-BR" sz="16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6176963"/>
            <a:ext cx="937634" cy="28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13886</TotalTime>
  <Words>1830</Words>
  <Application>Microsoft Macintosh PowerPoint</Application>
  <PresentationFormat>Widescreen</PresentationFormat>
  <Paragraphs>308</Paragraphs>
  <Slides>36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Calibri</vt:lpstr>
      <vt:lpstr>Calibri Light</vt:lpstr>
      <vt:lpstr>math</vt:lpstr>
      <vt:lpstr>Source Sans 3</vt:lpstr>
      <vt:lpstr>Arial</vt:lpstr>
      <vt:lpstr>Noto Sans</vt:lpstr>
      <vt:lpstr>Tema do Office</vt:lpstr>
      <vt:lpstr>TP558 - Tópicos avançados em Machine Learning: SVM</vt:lpstr>
      <vt:lpstr>A IDEIA CENTRAL: SEPARAR MELHOR PARA GENERALIZAR MELHOR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Apresentação do PowerPoint</vt:lpstr>
      <vt:lpstr>Apresentação do PowerPoint</vt:lpstr>
      <vt:lpstr>QUESTIONÁRIO</vt:lpstr>
    </vt:vector>
  </TitlesOfParts>
  <LinksUpToDate>false</LinksUpToDate>
  <SharedDoc>false</SharedDoc>
  <HyperlinksChanged>false</HyperlinksChanged>
  <AppVersion>15.0022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Usuário do Microsoft Office</cp:lastModifiedBy>
  <cp:revision>1865</cp:revision>
  <cp:lastPrinted>2026-08-20T18:44:31Z</cp:lastPrinted>
  <dcterms:created xsi:type="dcterms:W3CDTF">2020-01-20T13:50:05Z</dcterms:created>
  <dcterms:modified xsi:type="dcterms:W3CDTF">2026-10-14T16:49:53Z</dcterms:modified>
</cp:coreProperties>
</file>