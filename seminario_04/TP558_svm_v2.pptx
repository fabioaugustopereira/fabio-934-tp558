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356" r:id="rId3"/>
    <p:sldId id="307" r:id="rId4"/>
    <p:sldId id="347" r:id="rId5"/>
    <p:sldId id="326" r:id="rId6"/>
    <p:sldId id="335" r:id="rId7"/>
    <p:sldId id="315" r:id="rId8"/>
    <p:sldId id="337" r:id="rId9"/>
    <p:sldId id="328" r:id="rId10"/>
    <p:sldId id="308" r:id="rId11"/>
    <p:sldId id="338" r:id="rId12"/>
    <p:sldId id="340" r:id="rId13"/>
    <p:sldId id="339" r:id="rId14"/>
    <p:sldId id="309" r:id="rId15"/>
    <p:sldId id="319" r:id="rId16"/>
    <p:sldId id="341" r:id="rId17"/>
    <p:sldId id="331" r:id="rId18"/>
    <p:sldId id="317" r:id="rId19"/>
    <p:sldId id="342" r:id="rId20"/>
    <p:sldId id="329" r:id="rId21"/>
    <p:sldId id="343" r:id="rId22"/>
    <p:sldId id="345" r:id="rId23"/>
    <p:sldId id="327" r:id="rId24"/>
    <p:sldId id="330" r:id="rId25"/>
    <p:sldId id="348" r:id="rId26"/>
    <p:sldId id="323" r:id="rId27"/>
    <p:sldId id="346" r:id="rId28"/>
    <p:sldId id="351" r:id="rId29"/>
    <p:sldId id="352" r:id="rId30"/>
    <p:sldId id="353" r:id="rId31"/>
    <p:sldId id="354" r:id="rId32"/>
    <p:sldId id="355" r:id="rId33"/>
    <p:sldId id="349" r:id="rId34"/>
    <p:sldId id="344" r:id="rId35"/>
    <p:sldId id="293" r:id="rId36"/>
    <p:sldId id="314" r:id="rId37"/>
    <p:sldId id="306" r:id="rId38"/>
    <p:sldId id="336" r:id="rId3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5485" autoAdjust="0"/>
  </p:normalViewPr>
  <p:slideViewPr>
    <p:cSldViewPr snapToGrid="0">
      <p:cViewPr>
        <p:scale>
          <a:sx n="150" d="100"/>
          <a:sy n="150" d="100"/>
        </p:scale>
        <p:origin x="1464" y="14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13/10/26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250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586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835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614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493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61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480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81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55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48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30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0.png"/><Relationship Id="rId5" Type="http://schemas.openxmlformats.org/officeDocument/2006/relationships/image" Target="../media/image67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y1iZ5A8ilA" TargetMode="External"/><Relationship Id="rId4" Type="http://schemas.openxmlformats.org/officeDocument/2006/relationships/hyperlink" Target="https://youtu.be/T9yKyZfxUJg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svm.html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fXzAMu3H7adp_hWnblJfzjK2-DVQoG3dvmiOVQvkdnXI_Ocg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smtClean="0"/>
              <a:t>SVM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0"/>
          <p:cNvSpPr/>
          <p:nvPr/>
        </p:nvSpPr>
        <p:spPr>
          <a:xfrm>
            <a:off x="4993554" y="885154"/>
            <a:ext cx="221158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PROPOSTA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149688" y="1647296"/>
            <a:ext cx="94929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Proposta de uma </a:t>
            </a:r>
            <a:r>
              <a:rPr lang="pt-BR" dirty="0"/>
              <a:t>abordagem que procura controlar </a:t>
            </a:r>
            <a:r>
              <a:rPr lang="pt-BR" dirty="0" err="1" smtClean="0"/>
              <a:t>sobreajuste</a:t>
            </a:r>
            <a:r>
              <a:rPr lang="pt-BR" dirty="0" smtClean="0"/>
              <a:t> por </a:t>
            </a:r>
            <a:r>
              <a:rPr lang="pt-BR" dirty="0"/>
              <a:t>meio da geometria da fronteira de decisão e da otimização matemática</a:t>
            </a:r>
            <a:r>
              <a:rPr lang="pt-BR" dirty="0" smtClean="0"/>
              <a:t>.</a:t>
            </a:r>
          </a:p>
          <a:p>
            <a:pPr algn="ctr"/>
            <a:endParaRPr lang="pt-BR" dirty="0" smtClean="0"/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Construir </a:t>
            </a:r>
            <a:r>
              <a:rPr lang="pt-BR" dirty="0"/>
              <a:t>classificadores com capacidade de separar duas classes de </a:t>
            </a:r>
            <a:r>
              <a:rPr lang="pt-BR" dirty="0" smtClean="0"/>
              <a:t>padrões.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Maximizar </a:t>
            </a:r>
            <a:r>
              <a:rPr lang="pt-BR" dirty="0"/>
              <a:t>a margem entre a fronteira de decisão e os exemplos das </a:t>
            </a:r>
            <a:r>
              <a:rPr lang="pt-BR" dirty="0" smtClean="0"/>
              <a:t>classes.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Estender </a:t>
            </a:r>
            <a:r>
              <a:rPr lang="pt-BR" dirty="0"/>
              <a:t>o método para conjuntos de dados que não são perfeitamente </a:t>
            </a:r>
            <a:r>
              <a:rPr lang="pt-BR" dirty="0" smtClean="0"/>
              <a:t>separáveis.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Utilizar </a:t>
            </a:r>
            <a:r>
              <a:rPr lang="pt-BR" dirty="0"/>
              <a:t>transformações não lineares para construir fronteiras de decisão </a:t>
            </a:r>
            <a:r>
              <a:rPr lang="pt-BR" dirty="0" smtClean="0"/>
              <a:t>complexas.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Avaliar </a:t>
            </a:r>
            <a:r>
              <a:rPr lang="pt-BR" dirty="0"/>
              <a:t>experimentalmente o método em problemas artificiais e no reconhecimento de dígitos </a:t>
            </a:r>
            <a:r>
              <a:rPr lang="pt-BR" dirty="0" smtClean="0"/>
              <a:t>manuscritos.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Comparar </a:t>
            </a:r>
            <a:r>
              <a:rPr lang="pt-BR" dirty="0"/>
              <a:t>os resultados com classificadores lineares, árvores de decisão, vizinhos mais próximos e redes neurais.</a:t>
            </a:r>
          </a:p>
        </p:txBody>
      </p:sp>
      <p:sp>
        <p:nvSpPr>
          <p:cNvPr id="7" name="Retângulo 6"/>
          <p:cNvSpPr/>
          <p:nvPr/>
        </p:nvSpPr>
        <p:spPr>
          <a:xfrm>
            <a:off x="1330940" y="5249863"/>
            <a:ext cx="9492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Demonstrar </a:t>
            </a:r>
            <a:r>
              <a:rPr lang="pt-BR" dirty="0"/>
              <a:t>que um classificador pode operar em espaços de características de dimensão extremamente elevada sem precisar construir explicitamente todas essas características.</a:t>
            </a:r>
          </a:p>
        </p:txBody>
      </p:sp>
    </p:spTree>
    <p:extLst>
      <p:ext uri="{BB962C8B-B14F-4D97-AF65-F5344CB8AC3E}">
        <p14:creationId xmlns:p14="http://schemas.microsoft.com/office/powerpoint/2010/main" val="174121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158" y="585196"/>
            <a:ext cx="10281684" cy="1134066"/>
          </a:xfrm>
        </p:spPr>
        <p:txBody>
          <a:bodyPr>
            <a:noAutofit/>
          </a:bodyPr>
          <a:lstStyle/>
          <a:p>
            <a:pPr algn="ctr"/>
            <a:r>
              <a:rPr lang="pt-BR" sz="3600" dirty="0"/>
              <a:t>A IDEIA CENTRAL: SEPARAR MELHOR PARA GENERALIZAR MELHOR</a:t>
            </a:r>
            <a:br>
              <a:rPr lang="pt-BR" sz="3600" dirty="0"/>
            </a:br>
            <a:endParaRPr lang="pt-BR" sz="36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1"/>
          <p:cNvSpPr/>
          <p:nvPr/>
        </p:nvSpPr>
        <p:spPr>
          <a:xfrm>
            <a:off x="955158" y="1414461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7" name="Text 2"/>
          <p:cNvSpPr/>
          <p:nvPr/>
        </p:nvSpPr>
        <p:spPr>
          <a:xfrm>
            <a:off x="1111026" y="1516061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590142" y="1491169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Mapeamento não linear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590142" y="1989731"/>
            <a:ext cx="6217784" cy="6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Mapear os vetores de entrada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para um espaço de características de alta dimensão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155" y="2065405"/>
            <a:ext cx="749777" cy="31680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919" y="2400795"/>
            <a:ext cx="212124" cy="29775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55158" y="2984449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3" name="Text 6"/>
          <p:cNvSpPr/>
          <p:nvPr/>
        </p:nvSpPr>
        <p:spPr>
          <a:xfrm>
            <a:off x="1111026" y="3086049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590142" y="3061157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Hiperplano ótimo de separação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590142" y="3559719"/>
            <a:ext cx="6217784" cy="996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Construir em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uma superfície linear de decisão com propriedades especiais de generalização teórica.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694" y="3614588"/>
            <a:ext cx="212124" cy="29775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55158" y="4802484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8" name="Text 10"/>
          <p:cNvSpPr/>
          <p:nvPr/>
        </p:nvSpPr>
        <p:spPr>
          <a:xfrm>
            <a:off x="1111026" y="4904084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590142" y="4879192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Robustez estrutural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590142" y="5377754"/>
            <a:ext cx="621778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Controlar a capacidade do classificador geometricamente, desacoplando o erro de teste da dimensionalidade do espaço.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55158" y="281920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2" name="Shape 14"/>
          <p:cNvSpPr/>
          <p:nvPr/>
        </p:nvSpPr>
        <p:spPr>
          <a:xfrm>
            <a:off x="955158" y="4669134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794" y="1296143"/>
            <a:ext cx="396746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/>
          <p:cNvSpPr/>
          <p:nvPr/>
        </p:nvSpPr>
        <p:spPr>
          <a:xfrm>
            <a:off x="805055" y="604996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POR QUE CLASSIFICADORES LINEARES IMPORTAM?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457189" y="1517067"/>
            <a:ext cx="221158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 regra de </a:t>
            </a:r>
            <a:r>
              <a:rPr lang="en-US" sz="2200" b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Fisher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457189" y="2019121"/>
            <a:ext cx="688828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Fisher provou que, sob distribuições gaussianas com matrizes de covariância distintas, a fronteira bayesiana ótima é quadrática. Quando as matrizes de covariância coincidem, a regra ótima reduz-se exatamente a uma função linear.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457189" y="3385562"/>
            <a:ext cx="344409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Quadrática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815755"/>
            <a:ext cx="3215500" cy="46841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189" y="4449584"/>
            <a:ext cx="3215500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Parâmetros livres exigidos; cresce com o quadrado da dimensão.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29877" y="3385562"/>
            <a:ext cx="321559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Linear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877" y="3815755"/>
            <a:ext cx="3215599" cy="433983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29877" y="4415155"/>
            <a:ext cx="321559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Parâmetros livres; estimativa muito mais confiável com dados finitos.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57189" y="5493464"/>
            <a:ext cx="688828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 err="1" smtClean="0">
                <a:latin typeface="Calibri" charset="0"/>
                <a:ea typeface="Calibri" charset="0"/>
                <a:cs typeface="Calibri" charset="0"/>
              </a:rPr>
              <a:t>Princ</a:t>
            </a:r>
            <a:r>
              <a:rPr lang="pt-BR" sz="1800" dirty="0" err="1" smtClean="0">
                <a:latin typeface="Calibri" charset="0"/>
                <a:ea typeface="Calibri" charset="0"/>
                <a:cs typeface="Calibri" charset="0"/>
              </a:rPr>
              <a:t>ípio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 prático: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com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amostras limitadas, restringir a classe de funções é indispensável para evitar variância excessiva.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467" y="1295400"/>
            <a:ext cx="3881043" cy="497840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3894933" y="3369370"/>
            <a:ext cx="12700" cy="1955502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9" name="Shape 9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762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DO PERCEPTRON À SUPERFÍCIE EM ESPAÇO DE CARACTERÍSTICAS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8" y="1257618"/>
            <a:ext cx="5674178" cy="4038600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685783" y="5163925"/>
            <a:ext cx="56741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1 do artigo original: mapeamento não linear 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seguido de separador linear.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709" y="5219140"/>
            <a:ext cx="854252" cy="293390"/>
          </a:xfrm>
          <a:prstGeom prst="rect">
            <a:avLst/>
          </a:prstGeom>
        </p:spPr>
      </p:pic>
      <p:sp>
        <p:nvSpPr>
          <p:cNvPr id="21" name="Text 2"/>
          <p:cNvSpPr/>
          <p:nvPr/>
        </p:nvSpPr>
        <p:spPr>
          <a:xfrm>
            <a:off x="7045645" y="1557851"/>
            <a:ext cx="468886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Estrutura de representação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7045645" y="2088277"/>
            <a:ext cx="4688862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perceptron transforma o vetor de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entrada 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por meio de funções nas camadas ocultas e projeta os dados em um novo espaço de representação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5339" y="2105650"/>
            <a:ext cx="163990" cy="331951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9890" y="3054743"/>
            <a:ext cx="179581" cy="267990"/>
          </a:xfrm>
          <a:prstGeom prst="rect">
            <a:avLst/>
          </a:prstGeom>
        </p:spPr>
      </p:pic>
      <p:sp>
        <p:nvSpPr>
          <p:cNvPr id="25" name="Shape 4"/>
          <p:cNvSpPr/>
          <p:nvPr/>
        </p:nvSpPr>
        <p:spPr>
          <a:xfrm>
            <a:off x="7045645" y="3413125"/>
            <a:ext cx="4688862" cy="264398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6" name="Text 5"/>
          <p:cNvSpPr/>
          <p:nvPr/>
        </p:nvSpPr>
        <p:spPr>
          <a:xfrm>
            <a:off x="7248840" y="3610483"/>
            <a:ext cx="428247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dilema clássico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248840" y="4112538"/>
            <a:ext cx="4282472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Enquanto redes neurais ajustam heurística e iterativamente os pesos de todas as camadas, as SVNs fixam o mapeamento e resolvem a última camada por otimização convexa global com controle estrito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VIRADA: MARGEM MÁXIMA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103415"/>
            <a:ext cx="5674178" cy="4053880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685783" y="5275087"/>
            <a:ext cx="56741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2 do artigo original: hiperplano central e planos canônicos de suporte delimitando 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2"/>
          <p:cNvSpPr/>
          <p:nvPr/>
        </p:nvSpPr>
        <p:spPr>
          <a:xfrm>
            <a:off x="7045645" y="1143566"/>
            <a:ext cx="4688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GEOMÉTRICO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3"/>
          <p:cNvSpPr/>
          <p:nvPr/>
        </p:nvSpPr>
        <p:spPr>
          <a:xfrm>
            <a:off x="7045645" y="1559739"/>
            <a:ext cx="468886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Critério do hiperplano ótimo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4"/>
          <p:cNvSpPr/>
          <p:nvPr/>
        </p:nvSpPr>
        <p:spPr>
          <a:xfrm>
            <a:off x="7045645" y="2090165"/>
            <a:ext cx="4688862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Entre as infinitas superfícies que separam perfeitamente duas classes separáveis, escolhe-se a que maximiza a distância mínima aos pontos mais próximos de ambas.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45" y="3712174"/>
            <a:ext cx="4688862" cy="780455"/>
          </a:xfrm>
          <a:prstGeom prst="rect">
            <a:avLst/>
          </a:prstGeom>
        </p:spPr>
      </p:pic>
      <p:sp>
        <p:nvSpPr>
          <p:cNvPr id="30" name="Text 5"/>
          <p:cNvSpPr/>
          <p:nvPr/>
        </p:nvSpPr>
        <p:spPr>
          <a:xfrm>
            <a:off x="7045645" y="4635821"/>
            <a:ext cx="4688862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margem geométrica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formaliza a regularização: margem maior implica menor capacidade (dimensão VC) e classificação mais estável.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053" y="4667720"/>
            <a:ext cx="115488" cy="2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0"/>
          <p:cNvSpPr/>
          <p:nvPr/>
        </p:nvSpPr>
        <p:spPr>
          <a:xfrm>
            <a:off x="679433" y="491569"/>
            <a:ext cx="11124921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VETORES DE SUPORTE: OS PONTOS QUE DEFINEM A MARGEM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57189" y="1226145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3" name="Text 2"/>
          <p:cNvSpPr/>
          <p:nvPr/>
        </p:nvSpPr>
        <p:spPr>
          <a:xfrm>
            <a:off x="639151" y="1321395"/>
            <a:ext cx="6901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079473" y="1277453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Localização crítica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79473" y="1671300"/>
            <a:ext cx="6215205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Somente os exemplos situados exatamente sobre as fronteiras da margem possuem multiplicadores </a:t>
            </a:r>
            <a:r>
              <a:rPr lang="en-US" sz="15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366" y="1994983"/>
            <a:ext cx="548567" cy="250924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457189" y="2767310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8" name="Text 6"/>
          <p:cNvSpPr/>
          <p:nvPr/>
        </p:nvSpPr>
        <p:spPr>
          <a:xfrm>
            <a:off x="634587" y="2862560"/>
            <a:ext cx="6992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1079473" y="2818618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Indiferença aos pontos internos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079473" y="3211810"/>
            <a:ext cx="6215205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Afastar ou remover qualquer ponto com </a:t>
            </a:r>
            <a:r>
              <a:rPr lang="en-US" sz="15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deixa o hiperplano ótimo rigorosamente idêntico.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900" y="3284151"/>
            <a:ext cx="548567" cy="250924"/>
          </a:xfrm>
          <a:prstGeom prst="rect">
            <a:avLst/>
          </a:prstGeom>
        </p:spPr>
      </p:pic>
      <p:sp>
        <p:nvSpPr>
          <p:cNvPr id="22" name="Shape 9"/>
          <p:cNvSpPr/>
          <p:nvPr/>
        </p:nvSpPr>
        <p:spPr>
          <a:xfrm>
            <a:off x="457189" y="4308475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3" name="Text 10"/>
          <p:cNvSpPr/>
          <p:nvPr/>
        </p:nvSpPr>
        <p:spPr>
          <a:xfrm>
            <a:off x="633397" y="4403725"/>
            <a:ext cx="7015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1079473" y="4359783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Representação condensada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1079473" y="4753723"/>
            <a:ext cx="621520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vetor normal do hiperplano é uma combinação linear direta apenas desse subconjunto crítico de treino: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209" y="5354023"/>
            <a:ext cx="6215205" cy="819944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66" y="1320800"/>
            <a:ext cx="3830244" cy="4927600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457189" y="2532360"/>
            <a:ext cx="6837489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9" name="Shape 14"/>
          <p:cNvSpPr/>
          <p:nvPr/>
        </p:nvSpPr>
        <p:spPr>
          <a:xfrm>
            <a:off x="457189" y="4073525"/>
            <a:ext cx="6837489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0" name="Shape 15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393306" y="475192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LIMITE DE GENERALIZAÇÃO BASEADO EM VETORES DE SUPORTE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93306" y="1991192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TEOREMA DE VAPNIK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6" y="2600145"/>
            <a:ext cx="5410065" cy="730548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56886"/>
              </p:ext>
            </p:extLst>
          </p:nvPr>
        </p:nvGraphicFramePr>
        <p:xfrm>
          <a:off x="6260559" y="1980609"/>
          <a:ext cx="5410065" cy="1955751"/>
        </p:xfrm>
        <a:graphic>
          <a:graphicData uri="http://schemas.openxmlformats.org/drawingml/2006/table">
            <a:tbl>
              <a:tblPr/>
              <a:tblGrid>
                <a:gridCol w="2434470"/>
                <a:gridCol w="2975595"/>
              </a:tblGrid>
              <a:tr h="546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Métrica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Valor conceitual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2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Vetores de suporte / treino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quanto menor, melhor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Erro esperado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limitado pela razão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2"/>
          <p:cNvSpPr/>
          <p:nvPr/>
        </p:nvSpPr>
        <p:spPr>
          <a:xfrm>
            <a:off x="393306" y="4177709"/>
            <a:ext cx="1127731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 dados separáveis, o erro esperado é limitado pela razão entre o número esperado de vetores de suporte e o número de exemplos de treino.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022440" y="1980609"/>
            <a:ext cx="19050" cy="19558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0"/>
          <p:cNvSpPr/>
          <p:nvPr/>
        </p:nvSpPr>
        <p:spPr>
          <a:xfrm>
            <a:off x="467821" y="368257"/>
            <a:ext cx="10611305" cy="880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340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FORMULAÇÃO </a:t>
            </a:r>
            <a:r>
              <a:rPr lang="en-US" sz="34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PRIMAL:</a:t>
            </a:r>
          </a:p>
          <a:p>
            <a:pPr marL="0" indent="0" algn="ctr">
              <a:lnSpc>
                <a:spcPct val="79000"/>
              </a:lnSpc>
              <a:buNone/>
            </a:pPr>
            <a:r>
              <a:rPr lang="en-US" sz="34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 </a:t>
            </a: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GEOMETRIA À PROGRAMAÇÃO QUADRÁTICA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67821" y="1467049"/>
            <a:ext cx="3759106" cy="3556794"/>
          </a:xfrm>
          <a:custGeom>
            <a:avLst/>
            <a:gdLst/>
            <a:ahLst/>
            <a:cxnLst/>
            <a:rect l="l" t="t" r="r" b="b"/>
            <a:pathLst>
              <a:path w="3759106" h="3556794">
                <a:moveTo>
                  <a:pt x="31749" y="0"/>
                </a:moveTo>
                <a:lnTo>
                  <a:pt x="3759106" y="0"/>
                </a:lnTo>
                <a:lnTo>
                  <a:pt x="3759106" y="3556794"/>
                </a:lnTo>
                <a:lnTo>
                  <a:pt x="31749" y="3556794"/>
                </a:lnTo>
                <a:arcTo wR="31749" hR="31750" stAng="5400000" swAng="5400000"/>
                <a:lnTo>
                  <a:pt x="0" y="31750"/>
                </a:lnTo>
                <a:arcTo wR="31749" hR="31750" stAng="10800000" swAng="5400000"/>
                <a:close/>
              </a:path>
            </a:pathLst>
          </a:custGeom>
          <a:solidFill>
            <a:srgbClr val="F1F4FD"/>
          </a:solidFill>
          <a:ln/>
        </p:spPr>
      </p:sp>
      <p:sp>
        <p:nvSpPr>
          <p:cNvPr id="13" name="Text 2"/>
          <p:cNvSpPr/>
          <p:nvPr/>
        </p:nvSpPr>
        <p:spPr>
          <a:xfrm>
            <a:off x="671015" y="1680832"/>
            <a:ext cx="3555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DADOS E RÓTULOS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71015" y="20962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Amostras canônicas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71015" y="2598262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Conjunto de treino com rótulos bipolares: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15" y="3325615"/>
            <a:ext cx="3352716" cy="861616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71015" y="4352648"/>
            <a:ext cx="3555911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15" y="4361855"/>
            <a:ext cx="1054867" cy="28704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4226927" y="1467049"/>
            <a:ext cx="3759106" cy="3556794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0" name="Text 7"/>
          <p:cNvSpPr/>
          <p:nvPr/>
        </p:nvSpPr>
        <p:spPr>
          <a:xfrm>
            <a:off x="4430121" y="1680832"/>
            <a:ext cx="33527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RESTRIÇÕES DE SEPARAÇÃO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4430121" y="24010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Faixa da margem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430121" y="2903062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Nenhum exemplo penetra o canal da margem: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21" y="3630415"/>
            <a:ext cx="3352716" cy="446683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430121" y="4242515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Garante separação estrita e correta.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7986032" y="1467049"/>
            <a:ext cx="3759106" cy="3556794"/>
          </a:xfrm>
          <a:custGeom>
            <a:avLst/>
            <a:gdLst/>
            <a:ahLst/>
            <a:cxnLst/>
            <a:rect l="l" t="t" r="r" b="b"/>
            <a:pathLst>
              <a:path w="3759106" h="3556794">
                <a:moveTo>
                  <a:pt x="0" y="0"/>
                </a:moveTo>
                <a:lnTo>
                  <a:pt x="3727357" y="0"/>
                </a:lnTo>
                <a:arcTo wR="31749" hR="31750" stAng="16200000" swAng="5400000"/>
                <a:lnTo>
                  <a:pt x="3759106" y="3525044"/>
                </a:lnTo>
                <a:arcTo wR="31749" hR="31750" stAng="0" swAng="5400000"/>
                <a:lnTo>
                  <a:pt x="0" y="35567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/>
        </p:spPr>
      </p:sp>
      <p:sp>
        <p:nvSpPr>
          <p:cNvPr id="26" name="Text 12"/>
          <p:cNvSpPr/>
          <p:nvPr/>
        </p:nvSpPr>
        <p:spPr>
          <a:xfrm>
            <a:off x="8189227" y="1680832"/>
            <a:ext cx="3555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E83D"/>
                </a:solidFill>
                <a:latin typeface="Calibri" charset="0"/>
                <a:ea typeface="Calibri" charset="0"/>
                <a:cs typeface="Calibri" charset="0"/>
              </a:rPr>
              <a:t>3. PROBLEMA PRIMAL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189227" y="20962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Minimizar ||w||²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189227" y="2598262"/>
            <a:ext cx="3352716" cy="641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Maximizar </a:t>
            </a:r>
            <a:r>
              <a:rPr lang="en-US" sz="1700" i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 equivale a resolver: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024" y="2607469"/>
            <a:ext cx="755532" cy="319286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9227" y="3373140"/>
            <a:ext cx="3352716" cy="630932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8189227" y="4169490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Programação quadrática estritamente convexa.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467821" y="5150247"/>
            <a:ext cx="11277318" cy="899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</p:sp>
      <p:sp>
        <p:nvSpPr>
          <p:cNvPr id="33" name="Text 17"/>
          <p:cNvSpPr/>
          <p:nvPr/>
        </p:nvSpPr>
        <p:spPr>
          <a:xfrm>
            <a:off x="721814" y="5318839"/>
            <a:ext cx="1076933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Propriedade fundamental: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como a função custo é puramente quadrática e as restrições são lineares, não existem mínimos locais; a solução ótima é única e global.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217402" y="1467049"/>
            <a:ext cx="19050" cy="3556794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35" name="Shape 19"/>
          <p:cNvSpPr/>
          <p:nvPr/>
        </p:nvSpPr>
        <p:spPr>
          <a:xfrm>
            <a:off x="7976508" y="1467049"/>
            <a:ext cx="19050" cy="3556794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0"/>
          <p:cNvSpPr/>
          <p:nvPr/>
        </p:nvSpPr>
        <p:spPr>
          <a:xfrm>
            <a:off x="393306" y="297564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MULTIPLICADORES DE LAGRANGE E A FORMA DUAL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93306" y="1457299"/>
            <a:ext cx="5770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LAGRANGIANO PRIMAL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2" y="1941458"/>
            <a:ext cx="3901086" cy="1437747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393306" y="3620684"/>
            <a:ext cx="5770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Gradientes primais nulos: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6621111" y="1002414"/>
            <a:ext cx="5049513" cy="56642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7" name="Text 4"/>
          <p:cNvSpPr/>
          <p:nvPr/>
        </p:nvSpPr>
        <p:spPr>
          <a:xfrm>
            <a:off x="6875104" y="1766762"/>
            <a:ext cx="4795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PROBLEMA DUAL DE WOLFE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042" y="2146174"/>
            <a:ext cx="3617728" cy="1989263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6875104" y="4575797"/>
            <a:ext cx="479551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Sujeito a: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967" y="4585005"/>
            <a:ext cx="617324" cy="287040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9368" y="4658050"/>
            <a:ext cx="1329696" cy="304800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6875104" y="5037462"/>
            <a:ext cx="454152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Conclus</a:t>
            </a:r>
            <a:r>
              <a:rPr lang="pt-BR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os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dados aparecem exclusivamente através de produtos internos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jamais de forma isolada.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1199" y="5394368"/>
            <a:ext cx="755730" cy="27434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2" r="26938" b="64897"/>
          <a:stretch/>
        </p:blipFill>
        <p:spPr>
          <a:xfrm>
            <a:off x="1875856" y="4135860"/>
            <a:ext cx="2069611" cy="622408"/>
          </a:xfrm>
          <a:prstGeom prst="rect">
            <a:avLst/>
          </a:prstGeom>
        </p:spPr>
      </p:pic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t="32785" r="66308" b="17308"/>
          <a:stretch/>
        </p:blipFill>
        <p:spPr>
          <a:xfrm>
            <a:off x="3955511" y="4091943"/>
            <a:ext cx="1316558" cy="923127"/>
          </a:xfrm>
          <a:prstGeom prst="rect">
            <a:avLst/>
          </a:prstGeom>
        </p:spPr>
      </p:pic>
      <p:pic>
        <p:nvPicPr>
          <p:cNvPr id="36" name="Imagem 3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3" t="31626" r="1963" b="25628"/>
          <a:stretch/>
        </p:blipFill>
        <p:spPr>
          <a:xfrm>
            <a:off x="1893421" y="5040876"/>
            <a:ext cx="2625634" cy="757952"/>
          </a:xfrm>
          <a:prstGeom prst="rect">
            <a:avLst/>
          </a:prstGeom>
        </p:spPr>
      </p:pic>
      <p:pic>
        <p:nvPicPr>
          <p:cNvPr id="37" name="Imagem 36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4" t="71268" r="44409" b="11051"/>
          <a:stretch/>
        </p:blipFill>
        <p:spPr>
          <a:xfrm>
            <a:off x="4345972" y="5237613"/>
            <a:ext cx="346166" cy="3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CONDIÇÃO DE KARUSH–KUHN–TUCKER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189" y="1578483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1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266299" y="1579483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Viabilidade Primal: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506" y="1582341"/>
            <a:ext cx="2585973" cy="293390"/>
          </a:xfrm>
          <a:prstGeom prst="rect">
            <a:avLst/>
          </a:prstGeom>
        </p:spPr>
      </p:pic>
      <p:sp>
        <p:nvSpPr>
          <p:cNvPr id="39" name="Text 3"/>
          <p:cNvSpPr/>
          <p:nvPr/>
        </p:nvSpPr>
        <p:spPr>
          <a:xfrm>
            <a:off x="457189" y="2630003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2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4"/>
          <p:cNvSpPr/>
          <p:nvPr/>
        </p:nvSpPr>
        <p:spPr>
          <a:xfrm>
            <a:off x="3266299" y="2631003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Viabilidade Dual: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039" y="2640211"/>
            <a:ext cx="1141186" cy="287040"/>
          </a:xfrm>
          <a:prstGeom prst="rect">
            <a:avLst/>
          </a:prstGeom>
        </p:spPr>
      </p:pic>
      <p:sp>
        <p:nvSpPr>
          <p:cNvPr id="42" name="Text 5"/>
          <p:cNvSpPr/>
          <p:nvPr/>
        </p:nvSpPr>
        <p:spPr>
          <a:xfrm>
            <a:off x="457189" y="3681524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3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6"/>
          <p:cNvSpPr/>
          <p:nvPr/>
        </p:nvSpPr>
        <p:spPr>
          <a:xfrm>
            <a:off x="3266299" y="3682524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Folga Complementar: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280" y="3685381"/>
            <a:ext cx="2955355" cy="293390"/>
          </a:xfrm>
          <a:prstGeom prst="rect">
            <a:avLst/>
          </a:prstGeom>
        </p:spPr>
      </p:pic>
      <p:sp>
        <p:nvSpPr>
          <p:cNvPr id="45" name="Shape 7"/>
          <p:cNvSpPr/>
          <p:nvPr/>
        </p:nvSpPr>
        <p:spPr>
          <a:xfrm>
            <a:off x="457189" y="4684162"/>
            <a:ext cx="11277318" cy="142624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8"/>
          <p:cNvSpPr/>
          <p:nvPr/>
        </p:nvSpPr>
        <p:spPr>
          <a:xfrm>
            <a:off x="736582" y="4774418"/>
            <a:ext cx="107185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Origem da esparsidade na solução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36582" y="5276473"/>
            <a:ext cx="10718532" cy="93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 o exemplo está estritamente fora da margem (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), a folga complementar </a:t>
            </a:r>
            <a:r>
              <a:rPr lang="en-US" sz="1800" dirty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força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rigorosamente</a:t>
            </a:r>
            <a:endParaRPr lang="en-US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 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, o ponto está obrigatoriamente na margem canônica (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82" y="5329535"/>
            <a:ext cx="1677549" cy="293390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4303" y="5346496"/>
            <a:ext cx="617324" cy="287040"/>
          </a:xfrm>
          <a:prstGeom prst="rect">
            <a:avLst/>
          </a:prstGeom>
        </p:spPr>
      </p:pic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760" y="5633536"/>
            <a:ext cx="617324" cy="287040"/>
          </a:xfrm>
          <a:prstGeom prst="rect">
            <a:avLst/>
          </a:prstGeom>
        </p:spPr>
      </p:pic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2704" y="5652384"/>
            <a:ext cx="1677549" cy="293390"/>
          </a:xfrm>
          <a:prstGeom prst="rect">
            <a:avLst/>
          </a:prstGeom>
        </p:spPr>
      </p:pic>
      <p:sp>
        <p:nvSpPr>
          <p:cNvPr id="52" name="Shape 10"/>
          <p:cNvSpPr/>
          <p:nvPr/>
        </p:nvSpPr>
        <p:spPr>
          <a:xfrm>
            <a:off x="3082153" y="1193800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3" name="Shape 11"/>
          <p:cNvSpPr/>
          <p:nvPr/>
        </p:nvSpPr>
        <p:spPr>
          <a:xfrm>
            <a:off x="457189" y="2238970"/>
            <a:ext cx="263131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4" name="Shape 12"/>
          <p:cNvSpPr/>
          <p:nvPr/>
        </p:nvSpPr>
        <p:spPr>
          <a:xfrm>
            <a:off x="3082153" y="2245320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5" name="Shape 13"/>
          <p:cNvSpPr/>
          <p:nvPr/>
        </p:nvSpPr>
        <p:spPr>
          <a:xfrm>
            <a:off x="3088503" y="2238970"/>
            <a:ext cx="8646003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6" name="Shape 14"/>
          <p:cNvSpPr/>
          <p:nvPr/>
        </p:nvSpPr>
        <p:spPr>
          <a:xfrm>
            <a:off x="457189" y="3290491"/>
            <a:ext cx="263131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7" name="Shape 15"/>
          <p:cNvSpPr/>
          <p:nvPr/>
        </p:nvSpPr>
        <p:spPr>
          <a:xfrm>
            <a:off x="3082153" y="3296841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8" name="Shape 16"/>
          <p:cNvSpPr/>
          <p:nvPr/>
        </p:nvSpPr>
        <p:spPr>
          <a:xfrm>
            <a:off x="3088503" y="3290491"/>
            <a:ext cx="8646003" cy="127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276436" y="488699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CLASSIFICADOR VISTO COMO UMA REDE DE DUAS CAMADAS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100167"/>
            <a:ext cx="5313527" cy="3756720"/>
          </a:xfrm>
          <a:prstGeom prst="rect">
            <a:avLst/>
          </a:prstGeom>
        </p:spPr>
      </p:pic>
      <p:sp>
        <p:nvSpPr>
          <p:cNvPr id="32" name="Text 1"/>
          <p:cNvSpPr/>
          <p:nvPr/>
        </p:nvSpPr>
        <p:spPr>
          <a:xfrm>
            <a:off x="685783" y="5296912"/>
            <a:ext cx="5313527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3 do artigo original: rede de convolução de produto interno e combinação linear dos pesos.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2"/>
          <p:cNvSpPr/>
          <p:nvPr/>
        </p:nvSpPr>
        <p:spPr>
          <a:xfrm>
            <a:off x="6684994" y="1766061"/>
            <a:ext cx="5049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ARQUITETURA FEEDFORWARD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684994" y="2182234"/>
            <a:ext cx="504951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Regra de decisão da SVN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994" y="2661543"/>
            <a:ext cx="5049513" cy="1077714"/>
          </a:xfrm>
          <a:prstGeom prst="rect">
            <a:avLst/>
          </a:prstGeom>
        </p:spPr>
      </p:pic>
      <p:sp>
        <p:nvSpPr>
          <p:cNvPr id="36" name="Text 4"/>
          <p:cNvSpPr/>
          <p:nvPr/>
        </p:nvSpPr>
        <p:spPr>
          <a:xfrm>
            <a:off x="6684994" y="3907850"/>
            <a:ext cx="5049513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1ª Camada: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computa os produtos internos entre a entrada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cada vetor de suporte fixado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093" y="4259531"/>
            <a:ext cx="135529" cy="274340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3904" y="4259531"/>
            <a:ext cx="166485" cy="274340"/>
          </a:xfrm>
          <a:prstGeom prst="rect">
            <a:avLst/>
          </a:prstGeom>
        </p:spPr>
      </p:pic>
      <p:sp>
        <p:nvSpPr>
          <p:cNvPr id="39" name="Text 5"/>
          <p:cNvSpPr/>
          <p:nvPr/>
        </p:nvSpPr>
        <p:spPr>
          <a:xfrm>
            <a:off x="6684994" y="4948555"/>
            <a:ext cx="5405406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2ª Camada: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combina os produtos ponderados por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adiciona o limiar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aplica a função degrau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9118" y="5009872"/>
            <a:ext cx="905150" cy="287040"/>
          </a:xfrm>
          <a:prstGeom prst="rect">
            <a:avLst/>
          </a:prstGeom>
        </p:spPr>
      </p:pic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256" y="5296912"/>
            <a:ext cx="95843" cy="28704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4543" y="5315962"/>
            <a:ext cx="559679" cy="2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0"/>
          <p:cNvSpPr/>
          <p:nvPr/>
        </p:nvSpPr>
        <p:spPr>
          <a:xfrm>
            <a:off x="1871320" y="488949"/>
            <a:ext cx="85273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QUANDO A SEPARAÇÃO PERFEITA FALHA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542249" y="2289193"/>
            <a:ext cx="6583495" cy="25701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40" name="Text 2"/>
          <p:cNvSpPr/>
          <p:nvPr/>
        </p:nvSpPr>
        <p:spPr>
          <a:xfrm>
            <a:off x="770842" y="2818255"/>
            <a:ext cx="6126307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Dados reais podem se sobrepor, conter ruído ou possuir rótulos incompatíveis.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Forçar margem rígida pode produzir um classificador frágil ou inviável.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06" y="1135505"/>
            <a:ext cx="3931941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0"/>
          <p:cNvSpPr/>
          <p:nvPr/>
        </p:nvSpPr>
        <p:spPr>
          <a:xfrm>
            <a:off x="1137551" y="517208"/>
            <a:ext cx="98975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MARGEM SUAVE: PERMITIR VIOLAÇÕES CONTROLADAS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189" y="1407583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VARIÁVEIS DE FOLGA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851025"/>
            <a:ext cx="5384665" cy="446683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457189" y="2466300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As variáveis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quantificam desvios individuais: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174" y="2519066"/>
            <a:ext cx="162913" cy="287040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457189" y="2927965"/>
            <a:ext cx="53846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ponto perfeitamente classificado fora ou na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82" y="3026707"/>
            <a:ext cx="572279" cy="287040"/>
          </a:xfrm>
          <a:prstGeom prst="rect">
            <a:avLst/>
          </a:prstGeom>
        </p:spPr>
      </p:pic>
      <p:sp>
        <p:nvSpPr>
          <p:cNvPr id="31" name="Text 4"/>
          <p:cNvSpPr/>
          <p:nvPr/>
        </p:nvSpPr>
        <p:spPr>
          <a:xfrm>
            <a:off x="457189" y="3686790"/>
            <a:ext cx="53846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ponto no lado correto, mas dentro da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28" y="3737015"/>
            <a:ext cx="981646" cy="287040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457189" y="4445615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erro de classificação no conjunto de treino.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983" y="4515793"/>
            <a:ext cx="572279" cy="287040"/>
          </a:xfrm>
          <a:prstGeom prst="rect">
            <a:avLst/>
          </a:prstGeom>
        </p:spPr>
      </p:pic>
      <p:sp>
        <p:nvSpPr>
          <p:cNvPr id="35" name="Shape 6"/>
          <p:cNvSpPr/>
          <p:nvPr/>
        </p:nvSpPr>
        <p:spPr>
          <a:xfrm>
            <a:off x="6095848" y="1168400"/>
            <a:ext cx="5638659" cy="5232400"/>
          </a:xfrm>
          <a:custGeom>
            <a:avLst/>
            <a:gdLst/>
            <a:ahLst/>
            <a:cxnLst/>
            <a:rect l="l" t="t" r="r" b="b"/>
            <a:pathLst>
              <a:path w="5638659" h="5232400">
                <a:moveTo>
                  <a:pt x="0" y="0"/>
                </a:moveTo>
                <a:lnTo>
                  <a:pt x="5606910" y="0"/>
                </a:lnTo>
                <a:arcTo wR="31749" hR="31750" stAng="16200000" swAng="5400000"/>
                <a:lnTo>
                  <a:pt x="5638659" y="5200650"/>
                </a:lnTo>
                <a:arcTo wR="31749" hR="31750" stAng="0" swAng="5400000"/>
                <a:lnTo>
                  <a:pt x="0" y="5232400"/>
                </a:lnTo>
                <a:lnTo>
                  <a:pt x="0" y="0"/>
                </a:lnTo>
                <a:close/>
              </a:path>
            </a:pathLst>
          </a:custGeom>
          <a:solidFill>
            <a:srgbClr val="F1F4FD"/>
          </a:solidFill>
          <a:ln/>
        </p:spPr>
      </p:sp>
      <p:sp>
        <p:nvSpPr>
          <p:cNvPr id="36" name="Text 7"/>
          <p:cNvSpPr/>
          <p:nvPr/>
        </p:nvSpPr>
        <p:spPr>
          <a:xfrm>
            <a:off x="6349841" y="1407583"/>
            <a:ext cx="53846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OBJETIVO COM REGULARIZAÇÃO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485" y="1951566"/>
            <a:ext cx="3194599" cy="995350"/>
          </a:xfrm>
          <a:prstGeom prst="rect">
            <a:avLst/>
          </a:prstGeom>
        </p:spPr>
      </p:pic>
      <p:sp>
        <p:nvSpPr>
          <p:cNvPr id="38" name="Text 8"/>
          <p:cNvSpPr/>
          <p:nvPr/>
        </p:nvSpPr>
        <p:spPr>
          <a:xfrm>
            <a:off x="6349841" y="3096141"/>
            <a:ext cx="53846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objetivo concilia duas forças concorrentes: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349841" y="3542526"/>
            <a:ext cx="5156071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maximiza a largura da margem (simplicidade do modelo).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841" y="3545384"/>
            <a:ext cx="633397" cy="286544"/>
          </a:xfrm>
          <a:prstGeom prst="rect">
            <a:avLst/>
          </a:prstGeom>
        </p:spPr>
      </p:pic>
      <p:sp>
        <p:nvSpPr>
          <p:cNvPr id="41" name="Text 10"/>
          <p:cNvSpPr/>
          <p:nvPr/>
        </p:nvSpPr>
        <p:spPr>
          <a:xfrm>
            <a:off x="6349841" y="4294505"/>
            <a:ext cx="51560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penaliza o montante acumulado de violações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841" y="4303712"/>
            <a:ext cx="648577" cy="287040"/>
          </a:xfrm>
          <a:prstGeom prst="rect">
            <a:avLst/>
          </a:prstGeom>
        </p:spPr>
      </p:pic>
      <p:sp>
        <p:nvSpPr>
          <p:cNvPr id="43" name="Shape 11"/>
          <p:cNvSpPr/>
          <p:nvPr/>
        </p:nvSpPr>
        <p:spPr>
          <a:xfrm>
            <a:off x="6086323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PAPEL DE C NA PRÁTICA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189" y="1432983"/>
            <a:ext cx="5486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CONFIGURAÇÃO DE HIPERPARÂMETRO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189" y="1849157"/>
            <a:ext cx="548626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compromisso fundamental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57189" y="2379583"/>
            <a:ext cx="5486263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parâmetro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age como uma constante de regularização inversa: dita o peso atribuído aos erros de treinamento em relação à largura geométrica da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432" y="2393900"/>
            <a:ext cx="247234" cy="404333"/>
          </a:xfrm>
          <a:prstGeom prst="rect">
            <a:avLst/>
          </a:prstGeom>
        </p:spPr>
      </p:pic>
      <p:sp>
        <p:nvSpPr>
          <p:cNvPr id="34" name="Shape 4"/>
          <p:cNvSpPr/>
          <p:nvPr/>
        </p:nvSpPr>
        <p:spPr>
          <a:xfrm>
            <a:off x="6248244" y="1193800"/>
            <a:ext cx="5486263" cy="26021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5" name="Text 5"/>
          <p:cNvSpPr/>
          <p:nvPr/>
        </p:nvSpPr>
        <p:spPr>
          <a:xfrm>
            <a:off x="6476838" y="1423035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kern="100" spc="11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IMPACTO NO PROJETO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76838" y="1944013"/>
            <a:ext cx="5029074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Em canais muito ruidosos com baixa relação sinal-ruído (SNR), um 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moderado ou baixo é mandatório para impedir que ruído térmico aleatório deforme a superfície de decisão.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666" y="2260993"/>
            <a:ext cx="239800" cy="392175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777174"/>
              </p:ext>
            </p:extLst>
          </p:nvPr>
        </p:nvGraphicFramePr>
        <p:xfrm>
          <a:off x="457189" y="4024511"/>
          <a:ext cx="11277319" cy="1625559"/>
        </p:xfrm>
        <a:graphic>
          <a:graphicData uri="http://schemas.openxmlformats.org/drawingml/2006/table">
            <a:tbl>
              <a:tblPr/>
              <a:tblGrid>
                <a:gridCol w="2932095"/>
                <a:gridCol w="2706465"/>
                <a:gridCol w="2932095"/>
                <a:gridCol w="2706664"/>
              </a:tblGrid>
              <a:tr h="546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Configuração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Margem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Penalidade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Risco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 baixo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Mais ampla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Menor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Subajuste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 alto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Mais estreita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Sobreajuste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Shape 0"/>
          <p:cNvSpPr/>
          <p:nvPr/>
        </p:nvSpPr>
        <p:spPr>
          <a:xfrm>
            <a:off x="0" y="1"/>
            <a:ext cx="4470288" cy="5681762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8" name="Text 1"/>
          <p:cNvSpPr/>
          <p:nvPr/>
        </p:nvSpPr>
        <p:spPr>
          <a:xfrm>
            <a:off x="457189" y="541592"/>
            <a:ext cx="3555911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FFE83D"/>
                </a:solidFill>
                <a:latin typeface="Calibri" charset="0"/>
                <a:ea typeface="Calibri" charset="0"/>
                <a:cs typeface="Calibri" charset="0"/>
              </a:rPr>
              <a:t>BOX</a:t>
            </a:r>
            <a:endParaRPr lang="en-US" sz="8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57189" y="1666101"/>
            <a:ext cx="3555911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A restrição de caixa (box constraint) é a única alteração funcional no problema dual ao passar da margem rígida para a suave.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57189" y="6146919"/>
            <a:ext cx="4013100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5341263"/>
            <a:ext cx="1090585" cy="287040"/>
          </a:xfrm>
          <a:prstGeom prst="rect">
            <a:avLst/>
          </a:prstGeom>
        </p:spPr>
      </p:pic>
      <p:sp>
        <p:nvSpPr>
          <p:cNvPr id="42" name="Text 4"/>
          <p:cNvSpPr/>
          <p:nvPr/>
        </p:nvSpPr>
        <p:spPr>
          <a:xfrm>
            <a:off x="4825879" y="488950"/>
            <a:ext cx="690862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DUAL DA MARGEM SUAVE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879" y="1168400"/>
            <a:ext cx="6908627" cy="1123652"/>
          </a:xfrm>
          <a:prstGeom prst="rect">
            <a:avLst/>
          </a:prstGeom>
        </p:spPr>
      </p:pic>
      <p:sp>
        <p:nvSpPr>
          <p:cNvPr id="44" name="Text 5"/>
          <p:cNvSpPr/>
          <p:nvPr/>
        </p:nvSpPr>
        <p:spPr>
          <a:xfrm>
            <a:off x="4825879" y="2666702"/>
            <a:ext cx="6908627" cy="6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</a:t>
            </a:r>
            <a:r>
              <a:rPr lang="en-US" sz="1900" i="1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Caixa</a:t>
            </a:r>
            <a:r>
              <a:rPr lang="en-US" sz="19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Superior: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limita o impacto máximo de qualquer amostra anômala individual.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752" y="2736335"/>
            <a:ext cx="1212026" cy="316805"/>
          </a:xfrm>
          <a:prstGeom prst="rect">
            <a:avLst/>
          </a:prstGeom>
        </p:spPr>
      </p:pic>
      <p:sp>
        <p:nvSpPr>
          <p:cNvPr id="46" name="Text 6"/>
          <p:cNvSpPr/>
          <p:nvPr/>
        </p:nvSpPr>
        <p:spPr>
          <a:xfrm>
            <a:off x="4825879" y="4113907"/>
            <a:ext cx="6908627" cy="6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 </a:t>
            </a: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Equil</a:t>
            </a:r>
            <a:r>
              <a:rPr lang="pt-BR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íbrio</a:t>
            </a:r>
            <a:r>
              <a:rPr lang="pt-BR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 Classe: 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restrição de igualdade linear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permanece inalterada.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7997" y="4161551"/>
            <a:ext cx="1477727" cy="340023"/>
          </a:xfrm>
          <a:prstGeom prst="rect">
            <a:avLst/>
          </a:prstGeom>
        </p:spPr>
      </p:pic>
      <p:sp>
        <p:nvSpPr>
          <p:cNvPr id="48" name="Text 7"/>
          <p:cNvSpPr/>
          <p:nvPr/>
        </p:nvSpPr>
        <p:spPr>
          <a:xfrm>
            <a:off x="4825879" y="5351562"/>
            <a:ext cx="2964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smtClean="0"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825878" y="5756043"/>
            <a:ext cx="6908627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Pontos na margem possuem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); pontos violadores ou com erro têm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058" y="5839121"/>
            <a:ext cx="1090585" cy="287040"/>
          </a:xfrm>
          <a:prstGeom prst="rect">
            <a:avLst/>
          </a:prstGeom>
        </p:spPr>
      </p:pic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2908" y="5819090"/>
            <a:ext cx="572279" cy="287040"/>
          </a:xfrm>
          <a:prstGeom prst="rect">
            <a:avLst/>
          </a:prstGeom>
        </p:spPr>
      </p:pic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800" y="6133499"/>
            <a:ext cx="681219" cy="287040"/>
          </a:xfrm>
          <a:prstGeom prst="rect">
            <a:avLst/>
          </a:prstGeom>
        </p:spPr>
      </p:pic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5958" y="6114597"/>
            <a:ext cx="572279" cy="287040"/>
          </a:xfrm>
          <a:prstGeom prst="rect">
            <a:avLst/>
          </a:prstGeom>
        </p:spPr>
      </p:pic>
      <p:sp>
        <p:nvSpPr>
          <p:cNvPr id="54" name="Shape 9"/>
          <p:cNvSpPr/>
          <p:nvPr/>
        </p:nvSpPr>
        <p:spPr>
          <a:xfrm>
            <a:off x="4825879" y="3771007"/>
            <a:ext cx="690862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5" name="Shape 10"/>
          <p:cNvSpPr/>
          <p:nvPr/>
        </p:nvSpPr>
        <p:spPr>
          <a:xfrm>
            <a:off x="4825879" y="5103912"/>
            <a:ext cx="690862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6" name="Text 8"/>
          <p:cNvSpPr/>
          <p:nvPr/>
        </p:nvSpPr>
        <p:spPr>
          <a:xfrm>
            <a:off x="5122333" y="5341263"/>
            <a:ext cx="1967781" cy="350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Tipos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 </a:t>
            </a: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Suporte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0"/>
          <p:cNvSpPr/>
          <p:nvPr/>
        </p:nvSpPr>
        <p:spPr>
          <a:xfrm>
            <a:off x="571485" y="612197"/>
            <a:ext cx="110487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PROBLEMA TÉCNICO: ESPAÇOS DE DIMENSÃO ENORME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189" y="2067785"/>
            <a:ext cx="37591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2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2"/>
          <p:cNvSpPr/>
          <p:nvPr/>
        </p:nvSpPr>
        <p:spPr>
          <a:xfrm>
            <a:off x="457189" y="2535547"/>
            <a:ext cx="3530512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~33.000</a:t>
            </a:r>
            <a:endParaRPr lang="en-US" sz="6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1" name="Text 3"/>
          <p:cNvSpPr/>
          <p:nvPr/>
        </p:nvSpPr>
        <p:spPr>
          <a:xfrm>
            <a:off x="457189" y="3493710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dimensões no espaço expandido de características.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2" name="Text 4"/>
          <p:cNvSpPr/>
          <p:nvPr/>
        </p:nvSpPr>
        <p:spPr>
          <a:xfrm>
            <a:off x="4444889" y="2067785"/>
            <a:ext cx="35305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4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444889" y="2535547"/>
            <a:ext cx="3301917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</a:t>
            </a:r>
            <a:r>
              <a:rPr lang="en-US" sz="6800" kern="100" spc="-34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10⁹</a:t>
            </a:r>
            <a:endParaRPr lang="en-US" sz="6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4444889" y="3493710"/>
            <a:ext cx="33019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um bilhão de coordenadas para cada amostra.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8203995" y="2067785"/>
            <a:ext cx="35305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7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8203995" y="3493710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quatrilhões de coordenadas; intratável na memória.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457189" y="4392831"/>
            <a:ext cx="11277318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Construir e armazenar explicitamente o vetor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coordenada a coordenada é impossível em hardware computacional. A solução consiste em nunca calcular as coordenadas individuais, mas apenas seus produtos internos.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22" y="4471888"/>
            <a:ext cx="442405" cy="293390"/>
          </a:xfrm>
          <a:prstGeom prst="rect">
            <a:avLst/>
          </a:prstGeom>
        </p:spPr>
      </p:pic>
      <p:sp>
        <p:nvSpPr>
          <p:cNvPr id="50" name="Shape 11"/>
          <p:cNvSpPr/>
          <p:nvPr/>
        </p:nvSpPr>
        <p:spPr>
          <a:xfrm>
            <a:off x="4206770" y="2057202"/>
            <a:ext cx="19050" cy="2014637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51" name="Shape 12"/>
          <p:cNvSpPr/>
          <p:nvPr/>
        </p:nvSpPr>
        <p:spPr>
          <a:xfrm>
            <a:off x="7965876" y="2057202"/>
            <a:ext cx="19050" cy="2014637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52" name="Text 5"/>
          <p:cNvSpPr/>
          <p:nvPr/>
        </p:nvSpPr>
        <p:spPr>
          <a:xfrm>
            <a:off x="8203995" y="2573298"/>
            <a:ext cx="3301917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</a:t>
            </a:r>
            <a:r>
              <a:rPr lang="en-US" sz="6800" kern="100" spc="-34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10</a:t>
            </a:r>
            <a:r>
              <a:rPr lang="en-US" sz="6800" kern="100" spc="-34" baseline="30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16</a:t>
            </a:r>
            <a:endParaRPr lang="en-US" sz="6800" baseline="30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0"/>
          <p:cNvSpPr/>
          <p:nvPr/>
        </p:nvSpPr>
        <p:spPr>
          <a:xfrm>
            <a:off x="685783" y="488950"/>
            <a:ext cx="1063241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TRICK: CALCULAR SIMILARIDADES SEM MAPEAR EXPLICITAMENTE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905000"/>
            <a:ext cx="5674178" cy="327412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685783" y="5296912"/>
            <a:ext cx="5674178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4 do artigo original: cálculo implícito do produto interno em alta dimensão via função núcleo.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390212" y="1999234"/>
            <a:ext cx="37832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PRODUTO INTERNO CONVOLUÍDO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 rotWithShape="1">
          <a:blip r:embed="rId4"/>
          <a:srcRect l="5940" r="36820"/>
          <a:stretch/>
        </p:blipFill>
        <p:spPr>
          <a:xfrm>
            <a:off x="7939856" y="2445143"/>
            <a:ext cx="2683933" cy="446683"/>
          </a:xfrm>
          <a:prstGeom prst="rect">
            <a:avLst/>
          </a:prstGeom>
        </p:spPr>
      </p:pic>
      <p:sp>
        <p:nvSpPr>
          <p:cNvPr id="26" name="Text 3"/>
          <p:cNvSpPr/>
          <p:nvPr/>
        </p:nvSpPr>
        <p:spPr>
          <a:xfrm>
            <a:off x="7045645" y="3008432"/>
            <a:ext cx="4688862" cy="151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Substituindo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todo o treinamento dual e a função de decisão operam em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consumindo apenas o custo computacional do espaço original de entrada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262" y="3057360"/>
            <a:ext cx="755730" cy="27434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732" y="3082141"/>
            <a:ext cx="899197" cy="29339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032" y="3681561"/>
            <a:ext cx="190793" cy="267990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0913" y="3987643"/>
            <a:ext cx="266098" cy="280690"/>
          </a:xfrm>
          <a:prstGeom prst="rect">
            <a:avLst/>
          </a:prstGeom>
        </p:spPr>
      </p:pic>
      <p:pic>
        <p:nvPicPr>
          <p:cNvPr id="31" name="Imag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142" y="4366524"/>
            <a:ext cx="3789461" cy="17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44180" y="493402"/>
            <a:ext cx="1074961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MERCER: QUANDO UMA FUNÇÃO PODE SER UM KERNEL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457189" y="2060443"/>
            <a:ext cx="60144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TEOREMA DE MERCER (1909)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457189" y="2475817"/>
            <a:ext cx="576049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Condição necessária e suficiente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189" y="2977872"/>
            <a:ext cx="5760497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 que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represente um produto interno em algum espaço de Hilbert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a forma quadrática integral correspondente deve ser semidefinida positiva: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476" y="3016957"/>
            <a:ext cx="914525" cy="35286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208" y="3340963"/>
            <a:ext cx="190793" cy="267990"/>
          </a:xfrm>
          <a:prstGeom prst="rect">
            <a:avLst/>
          </a:prstGeom>
        </p:spPr>
      </p:pic>
      <p:pic>
        <p:nvPicPr>
          <p:cNvPr id="18" name="Imag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21" y="4149904"/>
            <a:ext cx="4514043" cy="931148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457189" y="5248493"/>
            <a:ext cx="6014490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Para qualquer função 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de quadrado integrável.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92" y="5249150"/>
            <a:ext cx="516927" cy="325164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6725672" y="1815869"/>
            <a:ext cx="50088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MATRIZ DE GRAM VISUAL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672" y="2259310"/>
            <a:ext cx="5008834" cy="190053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6725672" y="4303038"/>
            <a:ext cx="5008834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Simetria: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199" y="4305895"/>
            <a:ext cx="2096142" cy="29339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6725672" y="4764703"/>
            <a:ext cx="500883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Positividade: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0651" y="4767560"/>
            <a:ext cx="1788373" cy="27434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6725672" y="5211088"/>
            <a:ext cx="500883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Similaridade: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diagonal mede auto-similaridade máxima.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6462154" y="1193800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4021458" y="488950"/>
            <a:ext cx="414867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POLINOMIAL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189" y="1643365"/>
            <a:ext cx="3530512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1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 rotWithShape="1">
          <a:blip r:embed="rId3"/>
          <a:srcRect r="29262"/>
          <a:stretch/>
        </p:blipFill>
        <p:spPr>
          <a:xfrm>
            <a:off x="1189799" y="3137770"/>
            <a:ext cx="2065291" cy="446683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57189" y="3737895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Hiperplano linear com termo de bias integrado.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444839" y="1643365"/>
            <a:ext cx="3301917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2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 rotWithShape="1">
          <a:blip r:embed="rId4"/>
          <a:srcRect l="2" t="-3541" r="-2" b="65893"/>
          <a:stretch/>
        </p:blipFill>
        <p:spPr>
          <a:xfrm>
            <a:off x="4792543" y="3123900"/>
            <a:ext cx="3301917" cy="324383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4444889" y="3758005"/>
            <a:ext cx="33019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Fronteiras</a:t>
            </a:r>
            <a:r>
              <a:rPr lang="en-US" sz="1800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C</a:t>
            </a:r>
            <a:r>
              <a:rPr lang="pt-BR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ônicas</a:t>
            </a:r>
            <a:r>
              <a:rPr lang="pt-BR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elipses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, parábolas e hipérboles.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203995" y="1277917"/>
            <a:ext cx="3530512" cy="187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4 \DOTS 7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 rotWithShape="1">
          <a:blip r:embed="rId5"/>
          <a:srcRect r="27758"/>
          <a:stretch/>
        </p:blipFill>
        <p:spPr>
          <a:xfrm>
            <a:off x="8762191" y="3241873"/>
            <a:ext cx="2407023" cy="446683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8203995" y="3853974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Interações de alta ordem sem custo combinatorial.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57189" y="5655302"/>
            <a:ext cx="112773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Cortes e Vapnik avaliaram graus de 1 a 7 no artigo original, comprovando viabilidade de execução idêntica em qualquer grau.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206770" y="1193800"/>
            <a:ext cx="19050" cy="4409480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29" name="Shape 9"/>
          <p:cNvSpPr/>
          <p:nvPr/>
        </p:nvSpPr>
        <p:spPr>
          <a:xfrm>
            <a:off x="7965876" y="1193800"/>
            <a:ext cx="19050" cy="4409480"/>
          </a:xfrm>
          <a:prstGeom prst="rect">
            <a:avLst/>
          </a:prstGeom>
          <a:solidFill>
            <a:srgbClr val="0A1540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 rotWithShape="1">
          <a:blip r:embed="rId4"/>
          <a:srcRect l="23884" t="31250" r="58680" b="29951"/>
          <a:stretch/>
        </p:blipFill>
        <p:spPr>
          <a:xfrm>
            <a:off x="6663786" y="3135875"/>
            <a:ext cx="575734" cy="3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457189" y="488950"/>
            <a:ext cx="75861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RBF E CONHECIMENTO PRÉVIO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457190" y="1351158"/>
            <a:ext cx="43264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DE BASE RADIAL (GAUSSIANA)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516" y="1794600"/>
            <a:ext cx="3919702" cy="843955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457189" y="2920317"/>
            <a:ext cx="651235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Espaço de Hilbert de dimensão infinita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7189" y="3333659"/>
            <a:ext cx="651235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expansão de Taylor do exponencial revela que o kernel RBF projeta os dados em um espaço com infinitas dimensões. A métrica avalia similaridade puramente local baseada na distância euclidiana.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57189" y="4614372"/>
            <a:ext cx="651235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Injeção de conhecimento a priori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57189" y="4960854"/>
            <a:ext cx="6512357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Kernels podem ser desenhados para embutir invariâncias físicas: rotação de fase, atraso de grupo em canais, correlação espectral e simetrias de modulação.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536" y="1320800"/>
            <a:ext cx="4256973" cy="4953000"/>
          </a:xfrm>
          <a:prstGeom prst="rect">
            <a:avLst/>
          </a:prstGeom>
        </p:spPr>
      </p:pic>
      <p:sp>
        <p:nvSpPr>
          <p:cNvPr id="24" name="Shape 6"/>
          <p:cNvSpPr/>
          <p:nvPr/>
        </p:nvSpPr>
        <p:spPr>
          <a:xfrm>
            <a:off x="7214015" y="1193800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DE CAPACIDADE E RISCO ESTRUTURAL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189" y="2428346"/>
            <a:ext cx="71422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ERRO DE TESTE E CAPACIDADE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189" y="2884487"/>
            <a:ext cx="688828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erro de teste combina frequência de erro no treino e um intervalo de confiança.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189" y="3694112"/>
            <a:ext cx="34440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Erro de teste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57189" y="4173537"/>
            <a:ext cx="321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dimensão VC mede a capacidade da classe de funções.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129877" y="3694112"/>
            <a:ext cx="321559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Princípio de Occam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129877" y="4173537"/>
            <a:ext cx="3215599" cy="666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Minimizar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reduz sobreajuste.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97" y="4262867"/>
            <a:ext cx="557695" cy="304105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467" y="1295400"/>
            <a:ext cx="3881043" cy="4978400"/>
          </a:xfrm>
          <a:prstGeom prst="rect">
            <a:avLst/>
          </a:prstGeom>
        </p:spPr>
      </p:pic>
      <p:sp>
        <p:nvSpPr>
          <p:cNvPr id="39" name="Shape 7"/>
          <p:cNvSpPr/>
          <p:nvPr/>
        </p:nvSpPr>
        <p:spPr>
          <a:xfrm>
            <a:off x="3894933" y="3681413"/>
            <a:ext cx="12700" cy="1470025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40" name="Shape 8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1871232" y="389143"/>
            <a:ext cx="843695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 GEOMÉTRICO NO PLANO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00" y="1071525"/>
            <a:ext cx="6034929" cy="39624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21900" y="5227918"/>
            <a:ext cx="60349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5 do artigo original: separação por </a:t>
            </a:r>
            <a:r>
              <a:rPr lang="en-US" sz="1800" dirty="0" err="1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polinômio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quadrático</a:t>
            </a:r>
            <a:endParaRPr lang="en-US" sz="1800" dirty="0" smtClean="0">
              <a:solidFill>
                <a:srgbClr val="44507A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) no plano bidimensional.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23" y="5581860"/>
            <a:ext cx="525449" cy="287040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8470356" y="1082108"/>
            <a:ext cx="207242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VISUALIZAÇÃO 2D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7342512" y="1498282"/>
            <a:ext cx="43281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Geometria da fronteira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342512" y="2028708"/>
            <a:ext cx="4328111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Com o kernel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o classificador sintetiza superfícies curvas no plano original enquanto calcula apenas um hiperplano linear no espaço tridimensional estendido.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336" y="2091213"/>
            <a:ext cx="2230381" cy="304511"/>
          </a:xfrm>
          <a:prstGeom prst="rect">
            <a:avLst/>
          </a:prstGeom>
        </p:spPr>
      </p:pic>
      <p:sp>
        <p:nvSpPr>
          <p:cNvPr id="24" name="Shape 5"/>
          <p:cNvSpPr/>
          <p:nvPr/>
        </p:nvSpPr>
        <p:spPr>
          <a:xfrm>
            <a:off x="7342512" y="3665996"/>
            <a:ext cx="4328111" cy="180588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5" name="Text 6"/>
          <p:cNvSpPr/>
          <p:nvPr/>
        </p:nvSpPr>
        <p:spPr>
          <a:xfrm>
            <a:off x="7545707" y="3834589"/>
            <a:ext cx="3921721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Identificação direta: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os vetores de suporte (marcados com círculos na figura) tocam as fronteiras da margem curva e os poucos erros de treino são tolerados pelas folgas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8803" y="5084398"/>
            <a:ext cx="162913" cy="2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511839" y="495329"/>
            <a:ext cx="1105362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RECONHECIMENTO DE DÍGITOS: O PROBLEMA EXPERIMENTAL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422400"/>
            <a:ext cx="5674178" cy="405388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85783" y="4999645"/>
            <a:ext cx="56741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do artigo original: dígitos manuscritos padronizados em escala de cinza.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045645" y="1213358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Base USPS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045645" y="1715413"/>
            <a:ext cx="4688862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7.300 padrões de treino, 2.000 de teste; resolução de 16×16 pixels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dimensões).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016" y="2099704"/>
            <a:ext cx="766545" cy="2870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045645" y="3106452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Base NIST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7045645" y="3608507"/>
            <a:ext cx="4688862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60.000 padrões de treino, 10.000 de teste; resolução de 28×28 pixels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dimensões).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315" y="3982165"/>
            <a:ext cx="766545" cy="2870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045645" y="4999645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Estratégia One-vs-All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045645" y="5501700"/>
            <a:ext cx="4688862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classificadores binários independentes (um dígito versus todos os demais); decisão final por pontuação máxima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045645" y="2851944"/>
            <a:ext cx="4688862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9" name="Shape 9"/>
          <p:cNvSpPr/>
          <p:nvPr/>
        </p:nvSpPr>
        <p:spPr>
          <a:xfrm>
            <a:off x="7045645" y="4745137"/>
            <a:ext cx="4688862" cy="127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2629628" y="315690"/>
            <a:ext cx="712382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EFEITO DO GRAU POLINOMIAL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82" y="1400770"/>
            <a:ext cx="5079873" cy="31750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552882" y="4693563"/>
            <a:ext cx="54100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Erro bruto (%) no conjunto de teste USPS.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3419"/>
              </p:ext>
            </p:extLst>
          </p:nvPr>
        </p:nvGraphicFramePr>
        <p:xfrm>
          <a:off x="6420135" y="679450"/>
          <a:ext cx="5410065" cy="5016373"/>
        </p:xfrm>
        <a:graphic>
          <a:graphicData uri="http://schemas.openxmlformats.org/drawingml/2006/table">
            <a:tbl>
              <a:tblPr/>
              <a:tblGrid>
                <a:gridCol w="981249"/>
                <a:gridCol w="1690943"/>
                <a:gridCol w="2737873"/>
              </a:tblGrid>
              <a:tr h="1206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Grau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Vetores de suporte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Dimensão do espaço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200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256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127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~33000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148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165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~1×10^9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175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~1×10^12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185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~1×10^14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7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190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2"/>
          <p:cNvSpPr/>
          <p:nvPr/>
        </p:nvSpPr>
        <p:spPr>
          <a:xfrm>
            <a:off x="1103855" y="5813616"/>
            <a:ext cx="101753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O erro despenca de 12,0% (linear) para 4,7% com grau 2, e depois estabiliza entre 4,2% e 4,4% até o grau 7.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6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457189" y="48895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RESULTADO MAIS 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INSTRUTIVO:</a:t>
            </a:r>
          </a:p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DIMENSÃO </a:t>
            </a: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CRESCE, ERRO QUASE NÃO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189" y="1686983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PARADOXO DA DIMENSIONALIDADE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189" y="2103157"/>
            <a:ext cx="535926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Do grau 3 ao grau 7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189" y="2576433"/>
            <a:ext cx="53592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dimensionalidade do espaço de características cresce em 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ordens de magnitude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57189" y="3297753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57189" y="3759418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Text 6"/>
          <p:cNvSpPr/>
          <p:nvPr/>
        </p:nvSpPr>
        <p:spPr>
          <a:xfrm>
            <a:off x="457189" y="4221083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57189" y="4685923"/>
            <a:ext cx="535926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Sob o dogma do aprendizado estatístico clássico, uma explosão de parâmetros dessa ordem deveria provocar sobreajuste severo.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1" name="Text 8"/>
          <p:cNvSpPr/>
          <p:nvPr/>
        </p:nvSpPr>
        <p:spPr>
          <a:xfrm>
            <a:off x="6375241" y="1686983"/>
            <a:ext cx="53592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EVIDÊNCIA EXPERIMENTAL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375241" y="2103157"/>
            <a:ext cx="535926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Imunidade ao sobreajuste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375241" y="2576433"/>
            <a:ext cx="535926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número de vetores de suporte cresce em ritmo extremamente lento (de 148 no grau 3 para apenas 190 no grau 7).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6375241" y="3594914"/>
            <a:ext cx="53592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erro em dados de teste não vistos permanece rigidamente </a:t>
            </a:r>
            <a:r>
              <a:rPr lang="en-US" sz="1800" dirty="0" err="1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confinado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em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4,2% - 4,4%.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6375241" y="4341634"/>
            <a:ext cx="5359266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tese de Vapnik confirmada: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capacidade do classificador é governada pela norma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pela margem geométrica, não pela dimensionalidade do espaço de imersão.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061" y="4714784"/>
            <a:ext cx="412343" cy="27434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6" y="3206501"/>
            <a:ext cx="2487608" cy="141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297701" y="531918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BENCHMARK NIST: PRECISÃO COMPETITIVA E LEITURA CRÍTICA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417340"/>
            <a:ext cx="5841854" cy="40640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457189" y="5362806"/>
            <a:ext cx="613136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Comparativo histórico de erro de teste (%) na base de dígitos NIST (Cortes e Vapnik, 1995).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045645" y="2648849"/>
            <a:ext cx="4223488" cy="35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Paridade com redes convolucionais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045645" y="3001420"/>
            <a:ext cx="4688862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SVN empata rigorosamente com a LeNet4 (1,1%), o estado da arte convolucional da época nos laboratórios da AT&amp;T Bell Labs.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045645" y="4374334"/>
            <a:ext cx="4688862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Leitura Crítica: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comparação é histórica e depende de pré-processamento. O valor duradouro está na formulação: um modelo convexo sem mínimos locais competindo com redes profundas convolucionais ajustadas por backpropagation.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969444" y="1481024"/>
            <a:ext cx="2284622" cy="116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0" b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1,1%</a:t>
            </a:r>
            <a:endParaRPr lang="en-US" sz="8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2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08" y="2593374"/>
            <a:ext cx="4413105" cy="223804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377713" y="1394835"/>
            <a:ext cx="1344831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MNIST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44" y="2257752"/>
            <a:ext cx="3945455" cy="257367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752577" y="5098671"/>
            <a:ext cx="667956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ARTIGO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8108610" y="5098671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2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2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75" y="2427084"/>
            <a:ext cx="5132431" cy="2127981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150041" y="1394835"/>
            <a:ext cx="402875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POLINÔMIO GRAU 2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418" y="2159000"/>
            <a:ext cx="5055296" cy="232785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752577" y="4655348"/>
            <a:ext cx="667956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ARTIGO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8108610" y="4655348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0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1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0"/>
          <p:cNvSpPr/>
          <p:nvPr/>
        </p:nvSpPr>
        <p:spPr>
          <a:xfrm>
            <a:off x="5818658" y="1394835"/>
            <a:ext cx="345759" cy="43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402" y="1925866"/>
            <a:ext cx="5104031" cy="337826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580961" y="5401198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97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0"/>
          <p:cNvSpPr/>
          <p:nvPr/>
        </p:nvSpPr>
        <p:spPr>
          <a:xfrm>
            <a:off x="404620" y="387321"/>
            <a:ext cx="239784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LIMITAÇ</a:t>
            </a:r>
            <a:r>
              <a:rPr lang="pt-BR" sz="36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Õ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895" y="1113896"/>
            <a:ext cx="3881043" cy="4953000"/>
          </a:xfrm>
          <a:prstGeom prst="rect">
            <a:avLst/>
          </a:prstGeom>
        </p:spPr>
      </p:pic>
      <p:sp>
        <p:nvSpPr>
          <p:cNvPr id="22" name="Shape 2"/>
          <p:cNvSpPr/>
          <p:nvPr/>
        </p:nvSpPr>
        <p:spPr>
          <a:xfrm>
            <a:off x="7664373" y="969963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3" name="Retângulo 2"/>
          <p:cNvSpPr/>
          <p:nvPr/>
        </p:nvSpPr>
        <p:spPr>
          <a:xfrm>
            <a:off x="286087" y="969963"/>
            <a:ext cx="7029113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sz="1700" b="1" dirty="0"/>
              <a:t>Dependência da função </a:t>
            </a:r>
            <a:r>
              <a:rPr lang="pt-BR" sz="1700" b="1" dirty="0" err="1" smtClean="0"/>
              <a:t>kernel</a:t>
            </a:r>
            <a:r>
              <a:rPr lang="pt-BR" sz="1700" b="1" dirty="0" smtClean="0"/>
              <a:t>: </a:t>
            </a:r>
            <a:r>
              <a:rPr lang="pt-BR" sz="1700" dirty="0"/>
              <a:t>O desempenho depende da função escolhida e dos parâmetros associados. Uma representação inadequada pode não capturar as relações importantes dos dados</a:t>
            </a:r>
            <a:r>
              <a:rPr lang="pt-BR" sz="17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sz="1700" b="1" dirty="0" smtClean="0"/>
              <a:t>Custo </a:t>
            </a:r>
            <a:r>
              <a:rPr lang="pt-BR" sz="1700" b="1" dirty="0"/>
              <a:t>de </a:t>
            </a:r>
            <a:r>
              <a:rPr lang="pt-BR" sz="1700" b="1" dirty="0" smtClean="0"/>
              <a:t>treinamento: </a:t>
            </a:r>
            <a:r>
              <a:rPr lang="pt-BR" sz="1700" dirty="0"/>
              <a:t>A possibilidade de usar espaços de características muito grandes não significa que o treinamento seja sempre barato. O problema de otimização envolve relações entre exemplos de treinamento, e o custo pode crescer significativamente em conjuntos de dados grandes</a:t>
            </a:r>
            <a:r>
              <a:rPr lang="pt-BR" sz="17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sz="1700" b="1" dirty="0" smtClean="0"/>
              <a:t>Sensibilidade </a:t>
            </a:r>
            <a:r>
              <a:rPr lang="pt-BR" sz="1700" b="1" dirty="0"/>
              <a:t>à preparação dos </a:t>
            </a:r>
            <a:r>
              <a:rPr lang="pt-BR" sz="1700" b="1" dirty="0" smtClean="0"/>
              <a:t>dados: </a:t>
            </a:r>
            <a:r>
              <a:rPr lang="pt-BR" sz="1700" dirty="0" smtClean="0"/>
              <a:t>Nos </a:t>
            </a:r>
            <a:r>
              <a:rPr lang="pt-BR" sz="1700" dirty="0"/>
              <a:t>experimentos USPS, centralização, correção de inclinação e suavização fazem parte do procedimento. Portanto, os resultados não dependem exclusivamente do classificador</a:t>
            </a:r>
            <a:r>
              <a:rPr lang="pt-BR" sz="17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sz="1700" b="1" dirty="0" smtClean="0"/>
              <a:t>Escopo </a:t>
            </a:r>
            <a:r>
              <a:rPr lang="pt-BR" sz="1700" b="1" dirty="0"/>
              <a:t>das </a:t>
            </a:r>
            <a:r>
              <a:rPr lang="pt-BR" sz="1700" b="1" dirty="0" smtClean="0"/>
              <a:t>experiências: </a:t>
            </a:r>
            <a:r>
              <a:rPr lang="pt-BR" sz="1700" dirty="0"/>
              <a:t>Os experimentos concentram-se em reconhecimento de dígitos manuscritos e conjuntos artificiais. Eles demonstram o potencial do método, mas não comprovam que a mesma configuração será ideal para todos os domínios</a:t>
            </a:r>
            <a:r>
              <a:rPr lang="pt-BR" sz="17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sz="1700" b="1" dirty="0" smtClean="0"/>
              <a:t>Ausência </a:t>
            </a:r>
            <a:r>
              <a:rPr lang="pt-BR" sz="1700" b="1" dirty="0"/>
              <a:t>de garantia de erro </a:t>
            </a:r>
            <a:r>
              <a:rPr lang="pt-BR" sz="1700" b="1" dirty="0" smtClean="0"/>
              <a:t>zero: </a:t>
            </a:r>
            <a:r>
              <a:rPr lang="pt-BR" sz="1700" dirty="0"/>
              <a:t>As margens suaves permitem que alguns exemplos sejam classificados incorretamente. O objetivo é encontrar um equilíbrio adequado entre ajuste aos dados e capacidade de generalização, e não eliminar necessariamente todos os erros.</a:t>
            </a:r>
          </a:p>
        </p:txBody>
      </p:sp>
    </p:spTree>
    <p:extLst>
      <p:ext uri="{BB962C8B-B14F-4D97-AF65-F5344CB8AC3E}">
        <p14:creationId xmlns:p14="http://schemas.microsoft.com/office/powerpoint/2010/main" val="84704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0"/>
          <p:cNvSpPr/>
          <p:nvPr/>
        </p:nvSpPr>
        <p:spPr>
          <a:xfrm>
            <a:off x="404620" y="387321"/>
            <a:ext cx="239784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CONCLUSÃO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895" y="1113896"/>
            <a:ext cx="3881043" cy="4953000"/>
          </a:xfrm>
          <a:prstGeom prst="rect">
            <a:avLst/>
          </a:prstGeom>
        </p:spPr>
      </p:pic>
      <p:sp>
        <p:nvSpPr>
          <p:cNvPr id="22" name="Shape 2"/>
          <p:cNvSpPr/>
          <p:nvPr/>
        </p:nvSpPr>
        <p:spPr>
          <a:xfrm>
            <a:off x="7664373" y="969963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3" name="Retângulo 2"/>
          <p:cNvSpPr/>
          <p:nvPr/>
        </p:nvSpPr>
        <p:spPr>
          <a:xfrm>
            <a:off x="393306" y="1261284"/>
            <a:ext cx="70291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Constitui </a:t>
            </a:r>
            <a:r>
              <a:rPr lang="pt-BR" dirty="0"/>
              <a:t>uma abordagem poderosa e flexível para problemas de classificação</a:t>
            </a:r>
            <a:r>
              <a:rPr lang="pt-B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A </a:t>
            </a:r>
            <a:r>
              <a:rPr lang="pt-BR" dirty="0"/>
              <a:t>proposta combina hiperplanos ótimos, transformação da função de similaridade por </a:t>
            </a:r>
            <a:r>
              <a:rPr lang="pt-BR" dirty="0" err="1"/>
              <a:t>kernels</a:t>
            </a:r>
            <a:r>
              <a:rPr lang="pt-BR" dirty="0"/>
              <a:t> e margens suaves. Os experimentos demonstram que essa combinação consegue produzir fronteiras não lineares e alcançar taxas de erro reduzidas em reconhecimento de dígitos manuscritos</a:t>
            </a:r>
            <a:r>
              <a:rPr lang="pt-B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Capacidade de </a:t>
            </a:r>
            <a:r>
              <a:rPr lang="pt-BR" dirty="0"/>
              <a:t>explorar espaços de características de dimensão extremamente elevada sem que a quantidade de vetores de suporte cresça na mesma proporção</a:t>
            </a:r>
            <a:r>
              <a:rPr lang="pt-B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Destaca </a:t>
            </a:r>
            <a:r>
              <a:rPr lang="pt-BR" dirty="0"/>
              <a:t>o controle da capacidade do modelo e a possibilidade de alterar a forma da fronteira de decisão por meio da função </a:t>
            </a:r>
            <a:r>
              <a:rPr lang="pt-BR" dirty="0" err="1"/>
              <a:t>kernel</a:t>
            </a:r>
            <a:r>
              <a:rPr lang="pt-BR" dirty="0"/>
              <a:t> </a:t>
            </a:r>
            <a:r>
              <a:rPr lang="pt-BR" dirty="0" smtClean="0"/>
              <a:t>escolhida.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A </a:t>
            </a:r>
            <a:r>
              <a:rPr lang="pt-BR" dirty="0"/>
              <a:t>qualidade do classificador depende não apenas de sua capacidade de ajustar os exemplos de treinamento, mas também da geometria da solução e do controle de sua complexidade.</a:t>
            </a:r>
          </a:p>
        </p:txBody>
      </p:sp>
    </p:spTree>
    <p:extLst>
      <p:ext uri="{BB962C8B-B14F-4D97-AF65-F5344CB8AC3E}">
        <p14:creationId xmlns:p14="http://schemas.microsoft.com/office/powerpoint/2010/main" val="122189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TRÊS IDEIAS PARA LEVAR PARA TELECOMUNICAÇÕES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57189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4" y="1384300"/>
            <a:ext cx="253994" cy="25400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57189" y="2026957"/>
            <a:ext cx="3530512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Representação do Sinal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57189" y="2907824"/>
            <a:ext cx="3530512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representação é tão importante quanto o classificador. Extrair parâmetros ortogonais (constelação I/Q, decomposição em subportadoras OFDM) condiciona a separabilidade no espaço de características.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4444889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384" y="1384300"/>
            <a:ext cx="253994" cy="25400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4444889" y="2026957"/>
            <a:ext cx="3301917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Robustez Geométrica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444889" y="2907824"/>
            <a:ext cx="3301917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margem máxima confere tolerância intrínseca a perturbações de ruído aditivo e desvanecimento. Maximizar a margem equivale a maximizar a distância mínima euclidiana entre símbolos de comunicação.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8203995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490" y="1384300"/>
            <a:ext cx="253994" cy="254000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8203995" y="2026957"/>
            <a:ext cx="353051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Similaridade Física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8203995" y="2557383"/>
            <a:ext cx="3530512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kernel permite injetar a física do canal de rádio diretamente na geometria do modelo, incorporando invariâncias de fase e atraso temporal sem depender de aumento artificial de dados.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4209945" y="1193800"/>
            <a:ext cx="12700" cy="52070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1" name="Shape 11"/>
          <p:cNvSpPr/>
          <p:nvPr/>
        </p:nvSpPr>
        <p:spPr>
          <a:xfrm>
            <a:off x="7969051" y="1193800"/>
            <a:ext cx="12700" cy="52070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8222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11182" y="488950"/>
            <a:ext cx="108373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UM PIPELINE SVM PARA SINAIS DE TELECOMUNICAÇÕES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457189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457189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Text 3"/>
          <p:cNvSpPr/>
          <p:nvPr/>
        </p:nvSpPr>
        <p:spPr>
          <a:xfrm>
            <a:off x="457189" y="1779897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Extração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189" y="2445734"/>
            <a:ext cx="2011610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Amostragem em I/Q, espectrograma, cumilantes de ordem superior ou coeficientes wavelet.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773492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2773492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8" name="Text 7"/>
          <p:cNvSpPr/>
          <p:nvPr/>
        </p:nvSpPr>
        <p:spPr>
          <a:xfrm>
            <a:off x="2773492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Normalização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2808763" y="2454565"/>
            <a:ext cx="2011709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automático de ganho (AGC), remoção de offset de frequência e padronização escalar.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089894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5089894" y="1588889"/>
            <a:ext cx="2011808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22" name="Text 11"/>
          <p:cNvSpPr/>
          <p:nvPr/>
        </p:nvSpPr>
        <p:spPr>
          <a:xfrm>
            <a:off x="5089894" y="1779897"/>
            <a:ext cx="201180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Escolha do Kernel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089894" y="2603222"/>
            <a:ext cx="2011808" cy="181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Definição da função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(RBF, polinomial) e calibração de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hiperparâmetros</a:t>
            </a:r>
            <a:endParaRPr lang="en-US" sz="1800" dirty="0" smtClean="0">
              <a:solidFill>
                <a:srgbClr val="0A1540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63" y="2678460"/>
            <a:ext cx="205477" cy="287040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894" y="3842950"/>
            <a:ext cx="584086" cy="2870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406395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7406395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28" name="Text 15"/>
          <p:cNvSpPr/>
          <p:nvPr/>
        </p:nvSpPr>
        <p:spPr>
          <a:xfrm>
            <a:off x="7406395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4. Resolução Dual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7406395" y="2603222"/>
            <a:ext cx="2011709" cy="209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Programação quadrática convexa offline para determinação dos vetores de </a:t>
            </a:r>
            <a:r>
              <a:rPr lang="en-US" sz="1800" dirty="0" err="1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suporte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627" y="4130327"/>
            <a:ext cx="207957" cy="28704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9722797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9722797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33" name="Text 19"/>
          <p:cNvSpPr/>
          <p:nvPr/>
        </p:nvSpPr>
        <p:spPr>
          <a:xfrm>
            <a:off x="9722797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5. Decisão em Tempo Real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9722797" y="2603222"/>
            <a:ext cx="2011709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Classificação do sinal recebido por produto interno apenas com os vetores de suporte retidos.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457189" y="4730750"/>
            <a:ext cx="11277318" cy="119628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36" name="Text 22"/>
          <p:cNvSpPr/>
          <p:nvPr/>
        </p:nvSpPr>
        <p:spPr>
          <a:xfrm>
            <a:off x="711182" y="4899343"/>
            <a:ext cx="10769331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Aplicações em Telecom: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reconhecimento cego de modulações digitais (BPSK, QAM), detecção de interferência de banda estreita, classificação de estados de dispersão no canal e diagnóstico de falhas em enlaces ópticos.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Cortes, C.;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Vapnik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V. Support-Vector Networks. Machine Learning, v. 20, p. 273–297, 1995. doi:10.1007/BF00994018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https://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scikit-learn.org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/stable/modules/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svm.html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/>
              <a:t>[3] </a:t>
            </a:r>
            <a:r>
              <a:rPr lang="pt-BR" sz="1800" dirty="0" err="1" smtClean="0"/>
              <a:t>Support</a:t>
            </a:r>
            <a:r>
              <a:rPr lang="pt-BR" sz="1800" dirty="0" smtClean="0"/>
              <a:t> Vector </a:t>
            </a:r>
            <a:r>
              <a:rPr lang="pt-BR" sz="1800" dirty="0" err="1" smtClean="0"/>
              <a:t>Machine</a:t>
            </a:r>
            <a:r>
              <a:rPr lang="pt-BR" sz="1800" dirty="0" smtClean="0"/>
              <a:t>: tudo o que você precisa saber - </a:t>
            </a:r>
            <a:r>
              <a:rPr lang="pt-BR" sz="1800" dirty="0" smtClean="0">
                <a:hlinkClick r:id="rId3"/>
              </a:rPr>
              <a:t>https</a:t>
            </a:r>
            <a:r>
              <a:rPr lang="pt-BR" sz="1800" dirty="0">
                <a:hlinkClick r:id="rId3"/>
              </a:rPr>
              <a:t>://</a:t>
            </a:r>
            <a:r>
              <a:rPr lang="pt-BR" sz="1800" dirty="0" smtClean="0">
                <a:hlinkClick r:id="rId3"/>
              </a:rPr>
              <a:t>youtu.be/ny1iZ5A8ilA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 err="1" smtClean="0"/>
              <a:t>Siamese</a:t>
            </a:r>
            <a:r>
              <a:rPr lang="pt-BR" sz="1800" dirty="0" smtClean="0"/>
              <a:t> Neural Networks - </a:t>
            </a:r>
            <a:r>
              <a:rPr lang="pt-BR" sz="1800" dirty="0" smtClean="0">
                <a:hlinkClick r:id="rId4"/>
              </a:rPr>
              <a:t>https://youtu.be/T9yKyZfxUJg</a:t>
            </a:r>
            <a:endParaRPr lang="pt-BR" sz="18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52" y="1247798"/>
            <a:ext cx="3875559" cy="3875559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321994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/e/1FAIpQLSfXzAMu3H7adp_hWnblJfzjK2-DVQoG3dvmiOVQvkdnXI_Ocg/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14048</TotalTime>
  <Words>2265</Words>
  <Application>Microsoft Macintosh PowerPoint</Application>
  <PresentationFormat>Widescreen</PresentationFormat>
  <Paragraphs>328</Paragraphs>
  <Slides>38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Calibri</vt:lpstr>
      <vt:lpstr>Calibri Light</vt:lpstr>
      <vt:lpstr>Source Sans 3</vt:lpstr>
      <vt:lpstr>Arial</vt:lpstr>
      <vt:lpstr>Noto Sans</vt:lpstr>
      <vt:lpstr>Tema do Office</vt:lpstr>
      <vt:lpstr>TP558 - Tópicos avançados em Machine Learning: SVM</vt:lpstr>
      <vt:lpstr>Apresentação do PowerPoint</vt:lpstr>
      <vt:lpstr>A IDEIA CENTRAL: SEPARAR MELHOR PARA GENERALIZAR MELHOR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1869</cp:revision>
  <cp:lastPrinted>2026-10-14T16:50:17Z</cp:lastPrinted>
  <dcterms:created xsi:type="dcterms:W3CDTF">2020-01-20T13:50:05Z</dcterms:created>
  <dcterms:modified xsi:type="dcterms:W3CDTF">2026-10-14T19:31:59Z</dcterms:modified>
</cp:coreProperties>
</file>