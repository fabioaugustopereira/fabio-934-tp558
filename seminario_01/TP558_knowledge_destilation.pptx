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307" r:id="rId3"/>
    <p:sldId id="315" r:id="rId4"/>
    <p:sldId id="308" r:id="rId5"/>
    <p:sldId id="309" r:id="rId6"/>
    <p:sldId id="316" r:id="rId7"/>
    <p:sldId id="319" r:id="rId8"/>
    <p:sldId id="317" r:id="rId9"/>
    <p:sldId id="323" r:id="rId10"/>
    <p:sldId id="318" r:id="rId11"/>
    <p:sldId id="320" r:id="rId12"/>
    <p:sldId id="324" r:id="rId13"/>
    <p:sldId id="310" r:id="rId14"/>
    <p:sldId id="311" r:id="rId15"/>
    <p:sldId id="325" r:id="rId16"/>
    <p:sldId id="312" r:id="rId17"/>
    <p:sldId id="293" r:id="rId18"/>
    <p:sldId id="314" r:id="rId19"/>
    <p:sldId id="306" r:id="rId20"/>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0" autoAdjust="0"/>
    <p:restoredTop sz="79515" autoAdjust="0"/>
  </p:normalViewPr>
  <p:slideViewPr>
    <p:cSldViewPr snapToGrid="0">
      <p:cViewPr varScale="1">
        <p:scale>
          <a:sx n="121" d="100"/>
          <a:sy n="121" d="100"/>
        </p:scale>
        <p:origin x="2072" y="184"/>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microsoft.com/office/2016/11/relationships/changesInfo" Target="changesInfos/changesInfo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16/08/26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16/08/2026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1995935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xmlns=""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xmlns="" id="{9EDE2778-5372-4104-B96D-968184DA8288}"/>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5" name="Espaço Reservado para Rodapé 4">
            <a:extLst>
              <a:ext uri="{FF2B5EF4-FFF2-40B4-BE49-F238E27FC236}">
                <a16:creationId xmlns:a16="http://schemas.microsoft.com/office/drawing/2014/main" xmlns=""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F05BE1AF-51EA-425D-B188-DE7BD675009F}"/>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5" name="Espaço Reservado para Rodapé 4">
            <a:extLst>
              <a:ext uri="{FF2B5EF4-FFF2-40B4-BE49-F238E27FC236}">
                <a16:creationId xmlns:a16="http://schemas.microsoft.com/office/drawing/2014/main" xmlns=""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xmlns=""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xmlns="" id="{50F1D3FB-740A-4EBA-A309-2CE71D12ECFB}"/>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5" name="Espaço Reservado para Rodapé 4">
            <a:extLst>
              <a:ext uri="{FF2B5EF4-FFF2-40B4-BE49-F238E27FC236}">
                <a16:creationId xmlns:a16="http://schemas.microsoft.com/office/drawing/2014/main" xmlns=""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xmlns=""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xmlns="" id="{938070A4-BC2F-4D55-BD8D-DEAF11BB9EE9}"/>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6" name="Espaço Reservado para Rodapé 5">
            <a:extLst>
              <a:ext uri="{FF2B5EF4-FFF2-40B4-BE49-F238E27FC236}">
                <a16:creationId xmlns:a16="http://schemas.microsoft.com/office/drawing/2014/main" xmlns=""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xmlns=""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xmlns=""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xmlns=""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xmlns=""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xmlns="" id="{4172C0E5-5AF0-4805-BB51-443733CD2BD5}"/>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8" name="Espaço Reservado para Rodapé 7">
            <a:extLst>
              <a:ext uri="{FF2B5EF4-FFF2-40B4-BE49-F238E27FC236}">
                <a16:creationId xmlns:a16="http://schemas.microsoft.com/office/drawing/2014/main" xmlns=""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xmlns=""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xmlns="" id="{342600A9-7F92-4E22-9D94-E4717252A817}"/>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4" name="Espaço Reservado para Rodapé 3">
            <a:extLst>
              <a:ext uri="{FF2B5EF4-FFF2-40B4-BE49-F238E27FC236}">
                <a16:creationId xmlns:a16="http://schemas.microsoft.com/office/drawing/2014/main" xmlns=""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xmlns=""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xmlns="" id="{DD19515C-212C-4EAE-84A3-8FF4BC844F1B}"/>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3" name="Espaço Reservado para Rodapé 2">
            <a:extLst>
              <a:ext uri="{FF2B5EF4-FFF2-40B4-BE49-F238E27FC236}">
                <a16:creationId xmlns:a16="http://schemas.microsoft.com/office/drawing/2014/main" xmlns=""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xmlns=""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xmlns=""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xmlns=""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A4DC363A-5000-472E-8B17-02E7DCB8840A}"/>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6" name="Espaço Reservado para Rodapé 5">
            <a:extLst>
              <a:ext uri="{FF2B5EF4-FFF2-40B4-BE49-F238E27FC236}">
                <a16:creationId xmlns:a16="http://schemas.microsoft.com/office/drawing/2014/main" xmlns=""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xmlns=""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xmlns=""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02113D81-8665-4516-BD81-C6A1F254EECD}"/>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6" name="Espaço Reservado para Rodapé 5">
            <a:extLst>
              <a:ext uri="{FF2B5EF4-FFF2-40B4-BE49-F238E27FC236}">
                <a16:creationId xmlns:a16="http://schemas.microsoft.com/office/drawing/2014/main" xmlns=""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99E8855C-D8FD-48F6-B14E-861E0DE4D915}"/>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5" name="Espaço Reservado para Rodapé 4">
            <a:extLst>
              <a:ext uri="{FF2B5EF4-FFF2-40B4-BE49-F238E27FC236}">
                <a16:creationId xmlns:a16="http://schemas.microsoft.com/office/drawing/2014/main" xmlns=""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721D5734-7B1F-425D-942F-6EB73344027C}"/>
              </a:ext>
            </a:extLst>
          </p:cNvPr>
          <p:cNvSpPr>
            <a:spLocks noGrp="1"/>
          </p:cNvSpPr>
          <p:nvPr>
            <p:ph type="dt" sz="half" idx="10"/>
          </p:nvPr>
        </p:nvSpPr>
        <p:spPr/>
        <p:txBody>
          <a:bodyPr/>
          <a:lstStyle/>
          <a:p>
            <a:fld id="{63289F7E-B80B-496E-81B4-D396C37C9454}" type="datetimeFigureOut">
              <a:rPr lang="pt-BR" smtClean="0"/>
              <a:t>16/08/2026</a:t>
            </a:fld>
            <a:endParaRPr lang="pt-BR"/>
          </a:p>
        </p:txBody>
      </p:sp>
      <p:sp>
        <p:nvSpPr>
          <p:cNvPr id="5" name="Espaço Reservado para Rodapé 4">
            <a:extLst>
              <a:ext uri="{FF2B5EF4-FFF2-40B4-BE49-F238E27FC236}">
                <a16:creationId xmlns:a16="http://schemas.microsoft.com/office/drawing/2014/main" xmlns=""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xmlns=""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xmlns=""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16/08/2026</a:t>
            </a:fld>
            <a:endParaRPr lang="pt-BR"/>
          </a:p>
        </p:txBody>
      </p:sp>
      <p:sp>
        <p:nvSpPr>
          <p:cNvPr id="5" name="Espaço Reservado para Rodapé 4">
            <a:extLst>
              <a:ext uri="{FF2B5EF4-FFF2-40B4-BE49-F238E27FC236}">
                <a16:creationId xmlns:a16="http://schemas.microsoft.com/office/drawing/2014/main" xmlns=""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xmlns=""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jpe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016/B978-0-32-385787-1.00013-0" TargetMode="External"/><Relationship Id="rId4" Type="http://schemas.openxmlformats.org/officeDocument/2006/relationships/hyperlink" Target="https://doi.org/10.48550/arXiv.1910.01348" TargetMode="External"/><Relationship Id="rId5" Type="http://schemas.openxmlformats.org/officeDocument/2006/relationships/hyperlink" Target="https://doi.org/10.48550/arXiv.2002.03532" TargetMode="External"/><Relationship Id="rId6" Type="http://schemas.openxmlformats.org/officeDocument/2006/relationships/hyperlink" Target="https://link.springer.com/article/10.1007/s11263-021-01453-z" TargetMode="External"/><Relationship Id="rId1" Type="http://schemas.openxmlformats.org/officeDocument/2006/relationships/slideLayout" Target="../slideLayouts/slideLayout2.xml"/><Relationship Id="rId2" Type="http://schemas.openxmlformats.org/officeDocument/2006/relationships/hyperlink" Target="https://doi.org/10.48550/arXiv.1503.0253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TP558 - Tópicos avançados em Machine Learning:</a:t>
            </a:r>
            <a:r>
              <a:rPr lang="pt-BR" dirty="0"/>
              <a:t/>
            </a:r>
            <a:br>
              <a:rPr lang="pt-BR" dirty="0"/>
            </a:br>
            <a:r>
              <a:rPr lang="pt-BR" b="1" i="1" dirty="0" err="1"/>
              <a:t>Knowledge</a:t>
            </a:r>
            <a:r>
              <a:rPr lang="pt-BR" b="1" i="1" dirty="0"/>
              <a:t> </a:t>
            </a:r>
            <a:r>
              <a:rPr lang="pt-BR" b="1" i="1" dirty="0" err="1"/>
              <a:t>Distillation</a:t>
            </a:r>
            <a:endParaRPr lang="pt-BR" b="1" i="1" dirty="0"/>
          </a:p>
        </p:txBody>
      </p:sp>
      <p:sp>
        <p:nvSpPr>
          <p:cNvPr id="4" name="CaixaDeTexto 3">
            <a:extLst>
              <a:ext uri="{FF2B5EF4-FFF2-40B4-BE49-F238E27FC236}">
                <a16:creationId xmlns:a16="http://schemas.microsoft.com/office/drawing/2014/main" xmlns=""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smtClean="0"/>
              <a:t>Fábio Augusto Pereira</a:t>
            </a:r>
            <a:endParaRPr lang="pt-BR" sz="2000" dirty="0"/>
          </a:p>
          <a:p>
            <a:r>
              <a:rPr lang="pt-BR" dirty="0" err="1" smtClean="0"/>
              <a:t>fabio.pereira@mtel.inatel.br</a:t>
            </a:r>
            <a:endParaRPr lang="pt-BR" dirty="0"/>
          </a:p>
        </p:txBody>
      </p:sp>
      <p:pic>
        <p:nvPicPr>
          <p:cNvPr id="1026" name="Picture 2" descr="Logo">
            <a:extLst>
              <a:ext uri="{FF2B5EF4-FFF2-40B4-BE49-F238E27FC236}">
                <a16:creationId xmlns:a16="http://schemas.microsoft.com/office/drawing/2014/main" xmlns=""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xmlns=""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F5FF925-67DE-CC62-E869-C6E3C1D771E6}"/>
              </a:ext>
            </a:extLst>
          </p:cNvPr>
          <p:cNvSpPr>
            <a:spLocks noGrp="1"/>
          </p:cNvSpPr>
          <p:nvPr>
            <p:ph type="title"/>
          </p:nvPr>
        </p:nvSpPr>
        <p:spPr>
          <a:xfrm>
            <a:off x="4928038" y="365125"/>
            <a:ext cx="2335924" cy="1325563"/>
          </a:xfrm>
        </p:spPr>
        <p:txBody>
          <a:bodyPr/>
          <a:lstStyle/>
          <a:p>
            <a:pPr algn="ctr"/>
            <a:r>
              <a:rPr lang="pt-BR" dirty="0"/>
              <a:t>Abertura</a:t>
            </a:r>
          </a:p>
        </p:txBody>
      </p:sp>
      <p:sp>
        <p:nvSpPr>
          <p:cNvPr id="3" name="Espaço Reservado para Conteúdo 2">
            <a:extLst>
              <a:ext uri="{FF2B5EF4-FFF2-40B4-BE49-F238E27FC236}">
                <a16:creationId xmlns:a16="http://schemas.microsoft.com/office/drawing/2014/main" xmlns="" id="{7DA84068-671A-9D40-4F76-2C57E4F720C2}"/>
              </a:ext>
            </a:extLst>
          </p:cNvPr>
          <p:cNvSpPr>
            <a:spLocks noGrp="1"/>
          </p:cNvSpPr>
          <p:nvPr>
            <p:ph idx="1"/>
          </p:nvPr>
        </p:nvSpPr>
        <p:spPr/>
        <p:txBody>
          <a:bodyPr/>
          <a:lstStyle/>
          <a:p>
            <a:pPr fontAlgn="base"/>
            <a:r>
              <a:rPr lang="pt-BR" dirty="0" smtClean="0"/>
              <a:t>Uma </a:t>
            </a:r>
            <a:r>
              <a:rPr lang="pt-BR" dirty="0"/>
              <a:t>técnica de compressão de </a:t>
            </a:r>
            <a:r>
              <a:rPr lang="pt-BR" dirty="0" err="1" smtClean="0"/>
              <a:t>Machine</a:t>
            </a:r>
            <a:r>
              <a:rPr lang="pt-BR" dirty="0" smtClean="0"/>
              <a:t> Learning chamada </a:t>
            </a:r>
            <a:r>
              <a:rPr lang="pt-BR" dirty="0"/>
              <a:t>de </a:t>
            </a:r>
            <a:r>
              <a:rPr lang="pt-BR" dirty="0" err="1" smtClean="0"/>
              <a:t>Knowledge</a:t>
            </a:r>
            <a:r>
              <a:rPr lang="pt-BR" dirty="0" smtClean="0"/>
              <a:t> </a:t>
            </a:r>
            <a:r>
              <a:rPr lang="pt-BR" dirty="0" err="1" smtClean="0"/>
              <a:t>Distillation</a:t>
            </a:r>
            <a:r>
              <a:rPr lang="pt-BR" dirty="0"/>
              <a:t> </a:t>
            </a:r>
            <a:r>
              <a:rPr lang="pt-BR" dirty="0" smtClean="0"/>
              <a:t>(destilação de conhecimento)</a:t>
            </a:r>
            <a:endParaRPr lang="pt-BR" dirty="0" smtClean="0"/>
          </a:p>
          <a:p>
            <a:pPr fontAlgn="base"/>
            <a:r>
              <a:rPr lang="pt-BR" dirty="0" smtClean="0"/>
              <a:t>Propósito </a:t>
            </a:r>
            <a:r>
              <a:rPr lang="pt-BR" dirty="0"/>
              <a:t>do método é pegar o vasto conhecimento de modelos gigantes ou de múltiplos modelos agrupados (ensembles) - que costumam ser lentos e caros para processar na prática - e transferi-lo para um único modelo </a:t>
            </a:r>
            <a:r>
              <a:rPr lang="pt-BR" dirty="0" smtClean="0"/>
              <a:t>menor</a:t>
            </a:r>
            <a:endParaRPr lang="pt-BR" dirty="0" smtClean="0"/>
          </a:p>
          <a:p>
            <a:pPr fontAlgn="base"/>
            <a:r>
              <a:rPr lang="pt-BR" dirty="0" smtClean="0"/>
              <a:t>um modelo reduzido que atinge </a:t>
            </a:r>
            <a:r>
              <a:rPr lang="pt-BR" dirty="0"/>
              <a:t>um alto desempenho preditivo ao mesmo tempo em que consome muito menos </a:t>
            </a:r>
            <a:r>
              <a:rPr lang="pt-BR" dirty="0" smtClean="0"/>
              <a:t>recursos</a:t>
            </a:r>
            <a:endParaRPr lang="pt-BR" dirty="0"/>
          </a:p>
        </p:txBody>
      </p:sp>
    </p:spTree>
    <p:extLst>
      <p:ext uri="{BB962C8B-B14F-4D97-AF65-F5344CB8AC3E}">
        <p14:creationId xmlns:p14="http://schemas.microsoft.com/office/powerpoint/2010/main" val="364118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5D7944B-3372-1D90-B28C-FB39520968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0452B460-304F-8D6A-49E2-170E86973EFE}"/>
              </a:ext>
            </a:extLst>
          </p:cNvPr>
          <p:cNvSpPr>
            <a:spLocks noGrp="1"/>
          </p:cNvSpPr>
          <p:nvPr>
            <p:ph type="title"/>
          </p:nvPr>
        </p:nvSpPr>
        <p:spPr>
          <a:xfrm>
            <a:off x="3693072" y="365125"/>
            <a:ext cx="4805855" cy="1325563"/>
          </a:xfrm>
        </p:spPr>
        <p:txBody>
          <a:bodyPr/>
          <a:lstStyle/>
          <a:p>
            <a:r>
              <a:rPr lang="pt-BR" dirty="0"/>
              <a:t>Introdução do artigo</a:t>
            </a:r>
          </a:p>
        </p:txBody>
      </p:sp>
      <p:sp>
        <p:nvSpPr>
          <p:cNvPr id="3" name="Espaço Reservado para Conteúdo 2">
            <a:extLst>
              <a:ext uri="{FF2B5EF4-FFF2-40B4-BE49-F238E27FC236}">
                <a16:creationId xmlns:a16="http://schemas.microsoft.com/office/drawing/2014/main" xmlns="" id="{A9FDF00C-07E3-57DD-2C43-753297609C4B}"/>
              </a:ext>
            </a:extLst>
          </p:cNvPr>
          <p:cNvSpPr>
            <a:spLocks noGrp="1"/>
          </p:cNvSpPr>
          <p:nvPr>
            <p:ph idx="1"/>
          </p:nvPr>
        </p:nvSpPr>
        <p:spPr/>
        <p:txBody>
          <a:bodyPr/>
          <a:lstStyle/>
          <a:p>
            <a:pPr fontAlgn="base"/>
            <a:r>
              <a:rPr lang="pt-BR" dirty="0" smtClean="0"/>
              <a:t>O</a:t>
            </a:r>
            <a:r>
              <a:rPr lang="pt-BR" dirty="0" smtClean="0"/>
              <a:t>bter </a:t>
            </a:r>
            <a:r>
              <a:rPr lang="pt-BR" dirty="0"/>
              <a:t>um modelo pequeno e barato para inferência que preserve grande parte do conhecimento aprendido por um modelo grande ou por um ensemble de </a:t>
            </a:r>
            <a:r>
              <a:rPr lang="pt-BR" dirty="0" smtClean="0"/>
              <a:t>modelos</a:t>
            </a:r>
            <a:endParaRPr lang="pt-BR" b="1" dirty="0"/>
          </a:p>
          <a:p>
            <a:pPr fontAlgn="base"/>
            <a:r>
              <a:rPr lang="pt-BR" dirty="0" smtClean="0"/>
              <a:t>Questionam </a:t>
            </a:r>
            <a:r>
              <a:rPr lang="pt-BR" dirty="0"/>
              <a:t>a ideia de que o conhecimento de uma rede está simplesmente armazenado em seus </a:t>
            </a:r>
            <a:r>
              <a:rPr lang="pt-BR" dirty="0" smtClean="0"/>
              <a:t>pesos e propõem que o conhecimento é aprendido </a:t>
            </a:r>
            <a:r>
              <a:rPr lang="pt-BR" dirty="0"/>
              <a:t>entre entrada e </a:t>
            </a:r>
            <a:r>
              <a:rPr lang="pt-BR" dirty="0" smtClean="0"/>
              <a:t>saída</a:t>
            </a:r>
            <a:r>
              <a:rPr lang="pt-BR" dirty="0"/>
              <a:t>	​</a:t>
            </a:r>
            <a:r>
              <a:rPr lang="pt-BR" dirty="0" smtClean="0"/>
              <a:t>, assim pode-se </a:t>
            </a:r>
            <a:r>
              <a:rPr lang="pt-BR" dirty="0"/>
              <a:t>mudar a arquitetura e ainda preservar parte do conhecimento </a:t>
            </a:r>
            <a:r>
              <a:rPr lang="pt-BR" dirty="0" smtClean="0"/>
              <a:t>aprendido</a:t>
            </a:r>
            <a:endParaRPr lang="pt-BR" b="1" dirty="0"/>
          </a:p>
          <a:p>
            <a:pPr fontAlgn="base"/>
            <a:r>
              <a:rPr lang="pt-BR" dirty="0"/>
              <a:t>Contribuições </a:t>
            </a:r>
            <a:r>
              <a:rPr lang="pt-BR" dirty="0" smtClean="0"/>
              <a:t>é o conceito que a </a:t>
            </a:r>
            <a:r>
              <a:rPr lang="pt-BR" dirty="0"/>
              <a:t>estrutura de similaridade aprendida pelo </a:t>
            </a:r>
            <a:r>
              <a:rPr lang="pt-BR" dirty="0" smtClean="0"/>
              <a:t>modelo</a:t>
            </a:r>
            <a:endParaRPr lang="pt-BR" b="1" dirty="0"/>
          </a:p>
        </p:txBody>
      </p:sp>
    </p:spTree>
    <p:extLst>
      <p:ext uri="{BB962C8B-B14F-4D97-AF65-F5344CB8AC3E}">
        <p14:creationId xmlns:p14="http://schemas.microsoft.com/office/powerpoint/2010/main" val="2982830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4AB8438-E56E-2412-517C-8456E4CA773C}"/>
              </a:ext>
            </a:extLst>
          </p:cNvPr>
          <p:cNvSpPr>
            <a:spLocks noGrp="1"/>
          </p:cNvSpPr>
          <p:nvPr>
            <p:ph type="title"/>
          </p:nvPr>
        </p:nvSpPr>
        <p:spPr>
          <a:xfrm>
            <a:off x="3283169" y="365125"/>
            <a:ext cx="5625662" cy="1325563"/>
          </a:xfrm>
        </p:spPr>
        <p:txBody>
          <a:bodyPr/>
          <a:lstStyle/>
          <a:p>
            <a:r>
              <a:rPr lang="pt-BR" dirty="0"/>
              <a:t>Fundamentação teórica</a:t>
            </a:r>
          </a:p>
        </p:txBody>
      </p:sp>
      <p:sp>
        <p:nvSpPr>
          <p:cNvPr id="3" name="Espaço Reservado para Conteúdo 2">
            <a:extLst>
              <a:ext uri="{FF2B5EF4-FFF2-40B4-BE49-F238E27FC236}">
                <a16:creationId xmlns:a16="http://schemas.microsoft.com/office/drawing/2014/main" xmlns="" id="{F7E2B09C-6D56-4C9F-A364-B904CCE2F1A0}"/>
              </a:ext>
            </a:extLst>
          </p:cNvPr>
          <p:cNvSpPr>
            <a:spLocks noGrp="1"/>
          </p:cNvSpPr>
          <p:nvPr>
            <p:ph idx="1"/>
          </p:nvPr>
        </p:nvSpPr>
        <p:spPr>
          <a:xfrm>
            <a:off x="838200" y="1825625"/>
            <a:ext cx="10515600" cy="1443092"/>
          </a:xfrm>
        </p:spPr>
        <p:txBody>
          <a:bodyPr>
            <a:normAutofit fontScale="92500" lnSpcReduction="20000"/>
          </a:bodyPr>
          <a:lstStyle/>
          <a:p>
            <a:pPr fontAlgn="base"/>
            <a:r>
              <a:rPr lang="pt-BR" dirty="0" smtClean="0"/>
              <a:t>Transferência conhecimento de um modelo mais complexo(professor) para um modelo menor(aluno)</a:t>
            </a:r>
            <a:endParaRPr lang="pt-BR" b="1" dirty="0"/>
          </a:p>
          <a:p>
            <a:pPr fontAlgn="base"/>
            <a:r>
              <a:rPr lang="pt-BR" dirty="0" smtClean="0"/>
              <a:t>Utiliza temperatura para classificar na camada de função de ativação </a:t>
            </a:r>
            <a:r>
              <a:rPr lang="pt-BR" dirty="0" err="1" smtClean="0"/>
              <a:t>softmax</a:t>
            </a:r>
            <a:r>
              <a:rPr lang="pt-BR" dirty="0" smtClean="0"/>
              <a:t>, valores mais altos probabilidades mais suaves</a:t>
            </a:r>
            <a:endParaRPr lang="pt-BR" b="1" dirty="0"/>
          </a:p>
        </p:txBody>
      </p:sp>
      <p:sp>
        <p:nvSpPr>
          <p:cNvPr id="4" name="Espaço Reservado para Conteúdo 2">
            <a:extLst>
              <a:ext uri="{FF2B5EF4-FFF2-40B4-BE49-F238E27FC236}">
                <a16:creationId xmlns:a16="http://schemas.microsoft.com/office/drawing/2014/main" xmlns="" id="{F7E2B09C-6D56-4C9F-A364-B904CCE2F1A0}"/>
              </a:ext>
            </a:extLst>
          </p:cNvPr>
          <p:cNvSpPr txBox="1">
            <a:spLocks/>
          </p:cNvSpPr>
          <p:nvPr/>
        </p:nvSpPr>
        <p:spPr>
          <a:xfrm>
            <a:off x="838200" y="4989239"/>
            <a:ext cx="10515600" cy="144309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pt-BR" dirty="0" smtClean="0"/>
              <a:t>Quando </a:t>
            </a:r>
            <a:r>
              <a:rPr lang="pt-BR" dirty="0"/>
              <a:t>o modelo destilado é demasiado pequeno para capturar todo o conhecimento do modelo complexo, as temperaturas </a:t>
            </a:r>
            <a:r>
              <a:rPr lang="pt-BR" dirty="0" smtClean="0"/>
              <a:t>intermediárias funcionam </a:t>
            </a:r>
            <a:r>
              <a:rPr lang="pt-BR" dirty="0"/>
              <a:t>melhor, o que sugere fortemente que ignorar os </a:t>
            </a:r>
            <a:r>
              <a:rPr lang="pt-BR" dirty="0" err="1"/>
              <a:t>logits</a:t>
            </a:r>
            <a:r>
              <a:rPr lang="pt-BR" dirty="0"/>
              <a:t> negativos elevados pode ser útil.</a:t>
            </a:r>
            <a:endParaRPr lang="pt-BR" b="1"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410" y="3656177"/>
            <a:ext cx="2463800" cy="965200"/>
          </a:xfrm>
          <a:prstGeom prst="rect">
            <a:avLst/>
          </a:prstGeom>
        </p:spPr>
      </p:pic>
      <p:pic>
        <p:nvPicPr>
          <p:cNvPr id="6" name="Image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0520" y="3826670"/>
            <a:ext cx="2197100" cy="736600"/>
          </a:xfrm>
          <a:prstGeom prst="rect">
            <a:avLst/>
          </a:prstGeom>
        </p:spPr>
      </p:pic>
      <p:sp>
        <p:nvSpPr>
          <p:cNvPr id="7" name="Espaço Reservado para Conteúdo 2">
            <a:extLst>
              <a:ext uri="{FF2B5EF4-FFF2-40B4-BE49-F238E27FC236}">
                <a16:creationId xmlns:a16="http://schemas.microsoft.com/office/drawing/2014/main" xmlns="" id="{F7E2B09C-6D56-4C9F-A364-B904CCE2F1A0}"/>
              </a:ext>
            </a:extLst>
          </p:cNvPr>
          <p:cNvSpPr txBox="1">
            <a:spLocks/>
          </p:cNvSpPr>
          <p:nvPr/>
        </p:nvSpPr>
        <p:spPr>
          <a:xfrm>
            <a:off x="3146534" y="4507077"/>
            <a:ext cx="433552" cy="36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pt-BR" sz="1600" dirty="0" smtClean="0"/>
              <a:t>(1)</a:t>
            </a:r>
            <a:endParaRPr lang="pt-BR" sz="1600" b="1" dirty="0"/>
          </a:p>
        </p:txBody>
      </p:sp>
      <p:sp>
        <p:nvSpPr>
          <p:cNvPr id="8" name="Espaço Reservado para Conteúdo 2">
            <a:extLst>
              <a:ext uri="{FF2B5EF4-FFF2-40B4-BE49-F238E27FC236}">
                <a16:creationId xmlns:a16="http://schemas.microsoft.com/office/drawing/2014/main" xmlns="" id="{F7E2B09C-6D56-4C9F-A364-B904CCE2F1A0}"/>
              </a:ext>
            </a:extLst>
          </p:cNvPr>
          <p:cNvSpPr txBox="1">
            <a:spLocks/>
          </p:cNvSpPr>
          <p:nvPr/>
        </p:nvSpPr>
        <p:spPr>
          <a:xfrm>
            <a:off x="8202010" y="4507077"/>
            <a:ext cx="433552" cy="36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pt-BR" sz="1600" dirty="0" smtClean="0"/>
              <a:t>(2)</a:t>
            </a:r>
            <a:endParaRPr lang="pt-BR" sz="1600" b="1" dirty="0"/>
          </a:p>
        </p:txBody>
      </p:sp>
    </p:spTree>
    <p:extLst>
      <p:ext uri="{BB962C8B-B14F-4D97-AF65-F5344CB8AC3E}">
        <p14:creationId xmlns:p14="http://schemas.microsoft.com/office/powerpoint/2010/main" val="3187071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65431" y="365125"/>
            <a:ext cx="3061138" cy="1325563"/>
          </a:xfrm>
        </p:spPr>
        <p:txBody>
          <a:bodyPr/>
          <a:lstStyle/>
          <a:p>
            <a:r>
              <a:rPr lang="pt-BR" dirty="0"/>
              <a:t>Metodologia</a:t>
            </a:r>
          </a:p>
        </p:txBody>
      </p:sp>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a:xfrm>
            <a:off x="838200" y="1690688"/>
            <a:ext cx="10515600" cy="4762664"/>
          </a:xfrm>
        </p:spPr>
        <p:txBody>
          <a:bodyPr>
            <a:normAutofit fontScale="92500" lnSpcReduction="20000"/>
          </a:bodyPr>
          <a:lstStyle/>
          <a:p>
            <a:pPr fontAlgn="base"/>
            <a:r>
              <a:rPr lang="pt-BR" dirty="0" err="1" smtClean="0"/>
              <a:t>Datasets</a:t>
            </a:r>
            <a:r>
              <a:rPr lang="pt-BR" dirty="0" smtClean="0"/>
              <a:t> = MNIST e JFT</a:t>
            </a:r>
            <a:endParaRPr lang="pt-BR" dirty="0"/>
          </a:p>
          <a:p>
            <a:pPr fontAlgn="base"/>
            <a:r>
              <a:rPr lang="pt-BR" dirty="0"/>
              <a:t>modelos robustos aprendem a reconhecer a classe correta, mas também atribuem probabilidades ínfimas às opções incorretas. A proporção entre essas probabilidades incorretas contém dados cruciais sobre como o modelo </a:t>
            </a:r>
            <a:r>
              <a:rPr lang="pt-BR" dirty="0" smtClean="0"/>
              <a:t>generaliza</a:t>
            </a:r>
          </a:p>
          <a:p>
            <a:pPr fontAlgn="base"/>
            <a:r>
              <a:rPr lang="pt-BR" dirty="0" smtClean="0"/>
              <a:t>Destilação </a:t>
            </a:r>
            <a:r>
              <a:rPr lang="pt-BR" dirty="0"/>
              <a:t>utiliza essas distribuições de probabilidade geradas pelo modelo pesado como "alvos suaves" (soft </a:t>
            </a:r>
            <a:r>
              <a:rPr lang="pt-BR" dirty="0" err="1"/>
              <a:t>targets</a:t>
            </a:r>
            <a:r>
              <a:rPr lang="pt-BR" dirty="0"/>
              <a:t>) para treinar o modelo </a:t>
            </a:r>
            <a:r>
              <a:rPr lang="pt-BR" dirty="0" smtClean="0"/>
              <a:t>menor</a:t>
            </a:r>
          </a:p>
          <a:p>
            <a:pPr fontAlgn="base"/>
            <a:r>
              <a:rPr lang="pt-BR" dirty="0" smtClean="0"/>
              <a:t>O </a:t>
            </a:r>
            <a:r>
              <a:rPr lang="pt-BR" dirty="0"/>
              <a:t>algoritmo ajusta um parâmetro matemático chamado "temperatura" (</a:t>
            </a:r>
            <a:r>
              <a:rPr lang="pt-BR" dirty="0" err="1"/>
              <a:t>temperature</a:t>
            </a:r>
            <a:r>
              <a:rPr lang="pt-BR" dirty="0"/>
              <a:t>) na camada </a:t>
            </a:r>
            <a:r>
              <a:rPr lang="pt-BR" dirty="0" err="1" smtClean="0"/>
              <a:t>softmaxe</a:t>
            </a:r>
            <a:r>
              <a:rPr lang="pt-BR" dirty="0" smtClean="0"/>
              <a:t>, aumentado </a:t>
            </a:r>
            <a:r>
              <a:rPr lang="pt-BR" dirty="0"/>
              <a:t>a temperatura gera distribuições mais suaves e revela os padrões escondidos sobre os </a:t>
            </a:r>
            <a:r>
              <a:rPr lang="pt-BR" dirty="0" smtClean="0"/>
              <a:t>dados</a:t>
            </a:r>
          </a:p>
          <a:p>
            <a:pPr fontAlgn="base"/>
            <a:r>
              <a:rPr lang="pt-BR" dirty="0"/>
              <a:t>A otimização utiliza uma média ponderada entre duas funções: a primeira tenta replicar os soft </a:t>
            </a:r>
            <a:r>
              <a:rPr lang="pt-BR" dirty="0" err="1"/>
              <a:t>targets</a:t>
            </a:r>
            <a:r>
              <a:rPr lang="pt-BR" dirty="0"/>
              <a:t> (usando alta temperatura) e a segunda foca em acertar os rótulos absolutos originais (usando a temperatura normal de 1)</a:t>
            </a:r>
            <a:endParaRPr lang="pt-BR" dirty="0" smtClean="0"/>
          </a:p>
        </p:txBody>
      </p:sp>
    </p:spTree>
    <p:extLst>
      <p:ext uri="{BB962C8B-B14F-4D97-AF65-F5344CB8AC3E}">
        <p14:creationId xmlns:p14="http://schemas.microsoft.com/office/powerpoint/2010/main" val="1547259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p:txBody>
          <a:bodyPr>
            <a:normAutofit fontScale="85000" lnSpcReduction="10000"/>
          </a:bodyPr>
          <a:lstStyle/>
          <a:p>
            <a:pPr fontAlgn="base"/>
            <a:r>
              <a:rPr lang="pt-BR" dirty="0" smtClean="0"/>
              <a:t>Como elas codificam conhecimentos (características</a:t>
            </a:r>
            <a:r>
              <a:rPr lang="pt-BR" dirty="0"/>
              <a:t>)</a:t>
            </a:r>
            <a:r>
              <a:rPr lang="pt-BR" dirty="0" smtClean="0"/>
              <a:t> nas camadas intermediárias, métodos de multicamadas </a:t>
            </a:r>
            <a:r>
              <a:rPr lang="pt-BR" dirty="0"/>
              <a:t>codificam conhecimentos vitais </a:t>
            </a:r>
            <a:r>
              <a:rPr lang="pt-BR" dirty="0" smtClean="0"/>
              <a:t>para obter resultados</a:t>
            </a:r>
            <a:endParaRPr lang="pt-BR" dirty="0"/>
          </a:p>
          <a:p>
            <a:pPr fontAlgn="base"/>
            <a:r>
              <a:rPr lang="pt-BR" b="1" dirty="0"/>
              <a:t>Destilação Baseada em Dicas (</a:t>
            </a:r>
            <a:r>
              <a:rPr lang="pt-BR" b="1" dirty="0" err="1"/>
              <a:t>Hint-based</a:t>
            </a:r>
            <a:r>
              <a:rPr lang="pt-BR" b="1" dirty="0"/>
              <a:t>): </a:t>
            </a:r>
            <a:r>
              <a:rPr lang="pt-BR" dirty="0"/>
              <a:t>Combina uma camada intermediária específica do professor a uma do aluno usando um módulo </a:t>
            </a:r>
            <a:r>
              <a:rPr lang="pt-BR" dirty="0" err="1"/>
              <a:t>regressor</a:t>
            </a:r>
            <a:r>
              <a:rPr lang="pt-BR" dirty="0"/>
              <a:t> para igualar a dimensionalidade entre as duas redes.</a:t>
            </a:r>
          </a:p>
          <a:p>
            <a:pPr fontAlgn="base"/>
            <a:r>
              <a:rPr lang="pt-BR" b="1" dirty="0" smtClean="0"/>
              <a:t>Procedimento </a:t>
            </a:r>
            <a:r>
              <a:rPr lang="pt-BR" b="1" dirty="0"/>
              <a:t>de Fluxo de Solução (FSP):</a:t>
            </a:r>
            <a:r>
              <a:rPr lang="pt-BR" dirty="0"/>
              <a:t> Emprega matrizes que descrevem como a representação dos recursos se transforma de uma camada para </a:t>
            </a:r>
            <a:r>
              <a:rPr lang="pt-BR" dirty="0" smtClean="0"/>
              <a:t>outra</a:t>
            </a:r>
            <a:endParaRPr lang="pt-BR" dirty="0" smtClean="0"/>
          </a:p>
          <a:p>
            <a:pPr fontAlgn="base"/>
            <a:r>
              <a:rPr lang="pt-BR" b="1" dirty="0"/>
              <a:t>Requisitos do FSP:</a:t>
            </a:r>
            <a:r>
              <a:rPr lang="pt-BR" dirty="0"/>
              <a:t> O FSP calcula perdas minimizando a diferença entre as transformações do professor e do aluno, mas exige que as camadas comparadas possuam o mesmo número de </a:t>
            </a:r>
            <a:r>
              <a:rPr lang="pt-BR" dirty="0" smtClean="0"/>
              <a:t>canais</a:t>
            </a:r>
          </a:p>
          <a:p>
            <a:pPr fontAlgn="base"/>
            <a:r>
              <a:rPr lang="pt-BR" dirty="0"/>
              <a:t>Existem também transferências baseadas em mapas de atenção, transferência de fatores (</a:t>
            </a:r>
            <a:r>
              <a:rPr lang="pt-BR" dirty="0" err="1"/>
              <a:t>Factor</a:t>
            </a:r>
            <a:r>
              <a:rPr lang="pt-BR" dirty="0"/>
              <a:t> </a:t>
            </a:r>
            <a:r>
              <a:rPr lang="pt-BR" dirty="0" err="1"/>
              <a:t>Transfer</a:t>
            </a:r>
            <a:r>
              <a:rPr lang="pt-BR" dirty="0"/>
              <a:t>) e em fronteiras de ativação</a:t>
            </a:r>
            <a:endParaRPr lang="pt-BR" dirty="0" smtClean="0"/>
          </a:p>
        </p:txBody>
      </p:sp>
      <p:sp>
        <p:nvSpPr>
          <p:cNvPr id="6"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23389" y="365125"/>
            <a:ext cx="3145221" cy="1325563"/>
          </a:xfrm>
        </p:spPr>
        <p:txBody>
          <a:bodyPr/>
          <a:lstStyle/>
          <a:p>
            <a:r>
              <a:rPr lang="pt-BR" dirty="0"/>
              <a:t>Metodologia</a:t>
            </a:r>
          </a:p>
        </p:txBody>
      </p:sp>
    </p:spTree>
    <p:extLst>
      <p:ext uri="{BB962C8B-B14F-4D97-AF65-F5344CB8AC3E}">
        <p14:creationId xmlns:p14="http://schemas.microsoft.com/office/powerpoint/2010/main" val="1499089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p:txBody>
          <a:bodyPr>
            <a:normAutofit fontScale="92500" lnSpcReduction="20000"/>
          </a:bodyPr>
          <a:lstStyle/>
          <a:p>
            <a:pPr fontAlgn="base"/>
            <a:r>
              <a:rPr lang="pt-BR" dirty="0"/>
              <a:t>Categorias de </a:t>
            </a:r>
            <a:r>
              <a:rPr lang="pt-BR" dirty="0" smtClean="0"/>
              <a:t>Conhecimento</a:t>
            </a:r>
          </a:p>
          <a:p>
            <a:pPr fontAlgn="base"/>
            <a:r>
              <a:rPr lang="pt-BR" b="1" dirty="0"/>
              <a:t>Baseado em Resposta (Response-</a:t>
            </a:r>
            <a:r>
              <a:rPr lang="pt-BR" b="1" dirty="0" err="1"/>
              <a:t>Based</a:t>
            </a:r>
            <a:r>
              <a:rPr lang="pt-BR" dirty="0"/>
              <a:t>): Utiliza as respostas neurais da última camada de saída do modelo professor. A ideia principal é fazer com que o aluno imite diretamente a previsão final (frequentemente chamada de "soft </a:t>
            </a:r>
            <a:r>
              <a:rPr lang="pt-BR" dirty="0" err="1"/>
              <a:t>targets</a:t>
            </a:r>
            <a:r>
              <a:rPr lang="pt-BR" dirty="0"/>
              <a:t>" ou </a:t>
            </a:r>
            <a:r>
              <a:rPr lang="pt-BR" dirty="0" err="1"/>
              <a:t>logits</a:t>
            </a:r>
            <a:r>
              <a:rPr lang="pt-BR" dirty="0"/>
              <a:t>) do professor.</a:t>
            </a:r>
          </a:p>
          <a:p>
            <a:pPr fontAlgn="base"/>
            <a:r>
              <a:rPr lang="pt-BR" b="1" dirty="0"/>
              <a:t>Baseado em Características (</a:t>
            </a:r>
            <a:r>
              <a:rPr lang="pt-BR" b="1" dirty="0" err="1"/>
              <a:t>Feature-Based</a:t>
            </a:r>
            <a:r>
              <a:rPr lang="pt-BR" b="1" dirty="0"/>
              <a:t>)</a:t>
            </a:r>
            <a:r>
              <a:rPr lang="pt-BR" dirty="0"/>
              <a:t>: Utiliza as saídas de mapas de características (</a:t>
            </a:r>
            <a:r>
              <a:rPr lang="pt-BR" dirty="0" err="1"/>
              <a:t>feature</a:t>
            </a:r>
            <a:r>
              <a:rPr lang="pt-BR" dirty="0"/>
              <a:t> </a:t>
            </a:r>
            <a:r>
              <a:rPr lang="pt-BR" dirty="0" err="1"/>
              <a:t>maps</a:t>
            </a:r>
            <a:r>
              <a:rPr lang="pt-BR" dirty="0"/>
              <a:t>) das camadas intermediárias do professor. Serve para fornecer níveis intermediários de supervisão ou "dicas" (</a:t>
            </a:r>
            <a:r>
              <a:rPr lang="pt-BR" dirty="0" err="1"/>
              <a:t>hints</a:t>
            </a:r>
            <a:r>
              <a:rPr lang="pt-BR" dirty="0"/>
              <a:t>) ao aluno, sendo muito importante para treinar redes mais finas e profundas.</a:t>
            </a:r>
            <a:endParaRPr lang="pt-BR" dirty="0" smtClean="0"/>
          </a:p>
          <a:p>
            <a:pPr fontAlgn="base"/>
            <a:r>
              <a:rPr lang="pt-BR" b="1" dirty="0"/>
              <a:t>Baseado em Relação (</a:t>
            </a:r>
            <a:r>
              <a:rPr lang="pt-BR" b="1" dirty="0" err="1"/>
              <a:t>Relation-Based</a:t>
            </a:r>
            <a:r>
              <a:rPr lang="pt-BR" b="1" dirty="0"/>
              <a:t>): </a:t>
            </a:r>
            <a:r>
              <a:rPr lang="pt-BR" dirty="0"/>
              <a:t>Explora não apenas os mapas de características isolados, mas as relações estruturais entre diferentes camadas ou entre amostras de dados </a:t>
            </a:r>
            <a:r>
              <a:rPr lang="pt-BR" dirty="0" smtClean="0"/>
              <a:t>individuais</a:t>
            </a:r>
          </a:p>
        </p:txBody>
      </p:sp>
      <p:sp>
        <p:nvSpPr>
          <p:cNvPr id="5"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23389" y="365125"/>
            <a:ext cx="3145221" cy="1325563"/>
          </a:xfrm>
        </p:spPr>
        <p:txBody>
          <a:bodyPr/>
          <a:lstStyle/>
          <a:p>
            <a:r>
              <a:rPr lang="pt-BR" dirty="0"/>
              <a:t>Metodologia</a:t>
            </a:r>
          </a:p>
        </p:txBody>
      </p:sp>
    </p:spTree>
    <p:extLst>
      <p:ext uri="{BB962C8B-B14F-4D97-AF65-F5344CB8AC3E}">
        <p14:creationId xmlns:p14="http://schemas.microsoft.com/office/powerpoint/2010/main" val="535182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p:txBody>
          <a:bodyPr>
            <a:normAutofit lnSpcReduction="10000"/>
          </a:bodyPr>
          <a:lstStyle/>
          <a:p>
            <a:pPr fontAlgn="base"/>
            <a:r>
              <a:rPr lang="pt-BR" dirty="0"/>
              <a:t>O desempenho do processo de destilação também é afetado pela forma como o modelo professor é preparado e </a:t>
            </a:r>
            <a:r>
              <a:rPr lang="pt-BR" dirty="0" smtClean="0"/>
              <a:t>gerenciado</a:t>
            </a:r>
            <a:endParaRPr lang="pt-BR" dirty="0"/>
          </a:p>
          <a:p>
            <a:pPr fontAlgn="base"/>
            <a:r>
              <a:rPr lang="pt-BR" b="1" dirty="0"/>
              <a:t>Destilação </a:t>
            </a:r>
            <a:r>
              <a:rPr lang="pt-BR" b="1" dirty="0" err="1"/>
              <a:t>Offline</a:t>
            </a:r>
            <a:r>
              <a:rPr lang="pt-BR" b="1" dirty="0"/>
              <a:t>: </a:t>
            </a:r>
            <a:r>
              <a:rPr lang="pt-BR" dirty="0"/>
              <a:t>O modelo professor é totalmente </a:t>
            </a:r>
            <a:r>
              <a:rPr lang="pt-BR" dirty="0" err="1"/>
              <a:t>pré</a:t>
            </a:r>
            <a:r>
              <a:rPr lang="pt-BR" dirty="0"/>
              <a:t>-treinado e seus pesos são fixados antes do início do treinamento do modelo aluno</a:t>
            </a:r>
            <a:r>
              <a:rPr lang="pt-BR" dirty="0" smtClean="0"/>
              <a:t>.</a:t>
            </a:r>
          </a:p>
          <a:p>
            <a:pPr fontAlgn="base"/>
            <a:r>
              <a:rPr lang="pt-BR" b="1" dirty="0"/>
              <a:t>Destilação Online</a:t>
            </a:r>
            <a:r>
              <a:rPr lang="pt-BR" dirty="0"/>
              <a:t>: O modelo professor e o modelo aluno são treinados de maneira simultânea</a:t>
            </a:r>
            <a:r>
              <a:rPr lang="pt-BR" dirty="0" smtClean="0"/>
              <a:t>.</a:t>
            </a:r>
          </a:p>
          <a:p>
            <a:pPr fontAlgn="base"/>
            <a:r>
              <a:rPr lang="pt-BR" b="1" dirty="0" err="1"/>
              <a:t>Auto-destilação</a:t>
            </a:r>
            <a:r>
              <a:rPr lang="pt-BR" b="1" dirty="0"/>
              <a:t> (Self-</a:t>
            </a:r>
            <a:r>
              <a:rPr lang="pt-BR" b="1" dirty="0" err="1"/>
              <a:t>distillation</a:t>
            </a:r>
            <a:r>
              <a:rPr lang="pt-BR" b="1" dirty="0"/>
              <a:t>): </a:t>
            </a:r>
            <a:r>
              <a:rPr lang="pt-BR" dirty="0"/>
              <a:t>O próprio modelo aluno atua como seu professor, utilizando versões anteriores (gerações) de si mesmo ou extraindo conhecimento de suas próprias camadas mais profundas para aprimorar as camadas iniciais.</a:t>
            </a:r>
            <a:endParaRPr lang="pt-BR" dirty="0" smtClean="0"/>
          </a:p>
        </p:txBody>
      </p:sp>
      <p:sp>
        <p:nvSpPr>
          <p:cNvPr id="5"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23389" y="365125"/>
            <a:ext cx="3145221" cy="1325563"/>
          </a:xfrm>
        </p:spPr>
        <p:txBody>
          <a:bodyPr/>
          <a:lstStyle/>
          <a:p>
            <a:r>
              <a:rPr lang="pt-BR" dirty="0"/>
              <a:t>Metodologia</a:t>
            </a:r>
          </a:p>
        </p:txBody>
      </p:sp>
    </p:spTree>
    <p:extLst>
      <p:ext uri="{BB962C8B-B14F-4D97-AF65-F5344CB8AC3E}">
        <p14:creationId xmlns:p14="http://schemas.microsoft.com/office/powerpoint/2010/main" val="40654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p:txBody>
          <a:bodyPr>
            <a:normAutofit fontScale="85000" lnSpcReduction="20000"/>
          </a:bodyPr>
          <a:lstStyle/>
          <a:p>
            <a:pPr fontAlgn="base"/>
            <a:r>
              <a:rPr lang="pt-BR" b="1" dirty="0"/>
              <a:t>Destilação </a:t>
            </a:r>
            <a:r>
              <a:rPr lang="pt-BR" b="1" dirty="0" err="1"/>
              <a:t>Adversarial</a:t>
            </a:r>
            <a:r>
              <a:rPr lang="pt-BR" b="1" dirty="0"/>
              <a:t>: </a:t>
            </a:r>
            <a:r>
              <a:rPr lang="pt-BR" dirty="0"/>
              <a:t>Utiliza métodos inspirados em Redes Adversárias Generativas (</a:t>
            </a:r>
            <a:r>
              <a:rPr lang="pt-BR" dirty="0" err="1"/>
              <a:t>GANs</a:t>
            </a:r>
            <a:r>
              <a:rPr lang="pt-BR" dirty="0"/>
              <a:t>) para produzir dados sintéticos valiosos para o treinamento ou para forçar discriminadores a fazer com que o aluno compreenda melhor a distribuição real de dados em relação ao </a:t>
            </a:r>
            <a:r>
              <a:rPr lang="pt-BR" dirty="0" smtClean="0"/>
              <a:t>professor.</a:t>
            </a:r>
          </a:p>
          <a:p>
            <a:pPr fontAlgn="base"/>
            <a:r>
              <a:rPr lang="pt-BR" b="1" dirty="0"/>
              <a:t>Múltiplos Professores (</a:t>
            </a:r>
            <a:r>
              <a:rPr lang="pt-BR" b="1" dirty="0" err="1"/>
              <a:t>Multi-teacher</a:t>
            </a:r>
            <a:r>
              <a:rPr lang="pt-BR" b="1" dirty="0"/>
              <a:t>):</a:t>
            </a:r>
            <a:r>
              <a:rPr lang="pt-BR" dirty="0"/>
              <a:t> Redes com arquiteturas diferentes fornecem uma fusão de conhecimentos variados para instruir um único modelo aluno, tornando-o altamente </a:t>
            </a:r>
            <a:r>
              <a:rPr lang="pt-BR" dirty="0" smtClean="0"/>
              <a:t>versátil.</a:t>
            </a:r>
          </a:p>
          <a:p>
            <a:pPr fontAlgn="base"/>
            <a:r>
              <a:rPr lang="pt-BR" b="1" dirty="0"/>
              <a:t>Multimodal (Cross-Modal): </a:t>
            </a:r>
            <a:r>
              <a:rPr lang="pt-BR" dirty="0"/>
              <a:t>Transfere conhecimento de uma modalidade rica em dados (como imagens RGB visuais) para treinar um modelo aluno cuja modalidade de entrada possa não ter dados rotulados (como dados de profundidade ou rádio).</a:t>
            </a:r>
            <a:endParaRPr lang="pt-BR" dirty="0" smtClean="0"/>
          </a:p>
          <a:p>
            <a:pPr fontAlgn="base"/>
            <a:r>
              <a:rPr lang="pt-BR" b="1" dirty="0"/>
              <a:t>Destilação Sem Dados (Data-</a:t>
            </a:r>
            <a:r>
              <a:rPr lang="pt-BR" b="1" dirty="0" err="1"/>
              <a:t>Free</a:t>
            </a:r>
            <a:r>
              <a:rPr lang="pt-BR" b="1" dirty="0"/>
              <a:t>)</a:t>
            </a:r>
            <a:r>
              <a:rPr lang="pt-BR" dirty="0"/>
              <a:t>: Desenvolvido para resolver restrições legais e problemas de privacidade, gerando dados de treinamento sintéticos diretamente das ativações do modelo professor, sem acessar os dados originais confidenciais.</a:t>
            </a:r>
            <a:endParaRPr lang="pt-BR" dirty="0" smtClean="0"/>
          </a:p>
        </p:txBody>
      </p:sp>
      <p:sp>
        <p:nvSpPr>
          <p:cNvPr id="5"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23389" y="365125"/>
            <a:ext cx="3145221" cy="1325563"/>
          </a:xfrm>
        </p:spPr>
        <p:txBody>
          <a:bodyPr/>
          <a:lstStyle/>
          <a:p>
            <a:r>
              <a:rPr lang="pt-BR" dirty="0"/>
              <a:t>Metodologia</a:t>
            </a:r>
          </a:p>
        </p:txBody>
      </p:sp>
    </p:spTree>
    <p:extLst>
      <p:ext uri="{BB962C8B-B14F-4D97-AF65-F5344CB8AC3E}">
        <p14:creationId xmlns:p14="http://schemas.microsoft.com/office/powerpoint/2010/main" val="57214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p:txBody>
          <a:bodyPr>
            <a:normAutofit fontScale="77500" lnSpcReduction="20000"/>
          </a:bodyPr>
          <a:lstStyle/>
          <a:p>
            <a:pPr fontAlgn="base"/>
            <a:r>
              <a:rPr lang="pt-BR" dirty="0" smtClean="0"/>
              <a:t>A relação </a:t>
            </a:r>
            <a:r>
              <a:rPr lang="pt-BR" dirty="0"/>
              <a:t>entre as arquiteturas dos modelos "professor" (redes maiores e complexas) e "aluno" (redes menores</a:t>
            </a:r>
            <a:r>
              <a:rPr lang="pt-BR" dirty="0" smtClean="0"/>
              <a:t>)</a:t>
            </a:r>
          </a:p>
          <a:p>
            <a:pPr fontAlgn="base"/>
            <a:r>
              <a:rPr lang="pt-BR" b="1" dirty="0"/>
              <a:t>Modelos Maiores não são Melhores Professores: </a:t>
            </a:r>
            <a:r>
              <a:rPr lang="pt-BR" dirty="0"/>
              <a:t>Contrariando a intuição comum, o aumento na capacidade e na precisão do modelo professor não resulta necessariamente em um modelo aluno mais preciso.</a:t>
            </a:r>
            <a:endParaRPr lang="pt-BR" dirty="0" smtClean="0"/>
          </a:p>
          <a:p>
            <a:pPr fontAlgn="base"/>
            <a:r>
              <a:rPr lang="pt-BR" b="1" dirty="0"/>
              <a:t>Incompatibilidade de Capacidade (</a:t>
            </a:r>
            <a:r>
              <a:rPr lang="pt-BR" b="1" dirty="0" err="1"/>
              <a:t>Capacity</a:t>
            </a:r>
            <a:r>
              <a:rPr lang="pt-BR" b="1" dirty="0"/>
              <a:t> </a:t>
            </a:r>
            <a:r>
              <a:rPr lang="pt-BR" b="1" dirty="0" err="1"/>
              <a:t>Mismatch</a:t>
            </a:r>
            <a:r>
              <a:rPr lang="pt-BR" b="1" dirty="0"/>
              <a:t>): </a:t>
            </a:r>
            <a:r>
              <a:rPr lang="pt-BR" dirty="0"/>
              <a:t>O fracasso dos professores maiores ocorre porque os alunos pequenos não possuem capacidade suficiente para imitar ou emular as soluções complexas encontradas pelos professores grandes.</a:t>
            </a:r>
            <a:endParaRPr lang="pt-BR" dirty="0" smtClean="0"/>
          </a:p>
          <a:p>
            <a:pPr fontAlgn="base"/>
            <a:r>
              <a:rPr lang="pt-BR" b="1" dirty="0"/>
              <a:t>A Destilação Pode Prejudicar o Treinamento: </a:t>
            </a:r>
            <a:r>
              <a:rPr lang="pt-BR" dirty="0"/>
              <a:t>Em conjuntos de dados complexos como o </a:t>
            </a:r>
            <a:r>
              <a:rPr lang="pt-BR" dirty="0" err="1"/>
              <a:t>ImageNet</a:t>
            </a:r>
            <a:r>
              <a:rPr lang="pt-BR" dirty="0"/>
              <a:t>, a destilação de conhecimento padrão pode levar o modelo aluno a um desempenho inferior ao que ele teria se fosse treinado do zero. O aluno não consegue minimizar simultaneamente a perda de treinamento (</a:t>
            </a:r>
            <a:r>
              <a:rPr lang="pt-BR" dirty="0" err="1"/>
              <a:t>cross-entropy</a:t>
            </a:r>
            <a:r>
              <a:rPr lang="pt-BR" dirty="0"/>
              <a:t>) e a perda da destilação</a:t>
            </a:r>
            <a:r>
              <a:rPr lang="pt-BR" dirty="0" smtClean="0"/>
              <a:t>.</a:t>
            </a:r>
          </a:p>
          <a:p>
            <a:pPr fontAlgn="base"/>
            <a:r>
              <a:rPr lang="pt-BR" b="1" dirty="0"/>
              <a:t>Ineficácia da Destilação Sequencial: </a:t>
            </a:r>
            <a:r>
              <a:rPr lang="pt-BR" dirty="0" smtClean="0"/>
              <a:t>mesmo com o treinamento passando </a:t>
            </a:r>
            <a:r>
              <a:rPr lang="pt-BR" dirty="0"/>
              <a:t>por modelos </a:t>
            </a:r>
            <a:r>
              <a:rPr lang="pt-BR" dirty="0" smtClean="0"/>
              <a:t>intermediários ainda sim os resultados são ineficazes</a:t>
            </a:r>
            <a:endParaRPr lang="pt-BR" dirty="0" smtClean="0"/>
          </a:p>
        </p:txBody>
      </p:sp>
      <p:sp>
        <p:nvSpPr>
          <p:cNvPr id="5"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23389" y="365125"/>
            <a:ext cx="3145221" cy="1325563"/>
          </a:xfrm>
        </p:spPr>
        <p:txBody>
          <a:bodyPr/>
          <a:lstStyle/>
          <a:p>
            <a:r>
              <a:rPr lang="pt-BR" dirty="0"/>
              <a:t>Metodologia</a:t>
            </a:r>
          </a:p>
        </p:txBody>
      </p:sp>
    </p:spTree>
    <p:extLst>
      <p:ext uri="{BB962C8B-B14F-4D97-AF65-F5344CB8AC3E}">
        <p14:creationId xmlns:p14="http://schemas.microsoft.com/office/powerpoint/2010/main" val="1848577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83FFF02-0FC8-9F0B-AAB0-565FC99EA70D}"/>
              </a:ext>
            </a:extLst>
          </p:cNvPr>
          <p:cNvSpPr>
            <a:spLocks noGrp="1"/>
          </p:cNvSpPr>
          <p:nvPr>
            <p:ph type="title"/>
          </p:nvPr>
        </p:nvSpPr>
        <p:spPr>
          <a:xfrm>
            <a:off x="4523389" y="365125"/>
            <a:ext cx="3145221" cy="1325563"/>
          </a:xfrm>
        </p:spPr>
        <p:txBody>
          <a:bodyPr/>
          <a:lstStyle/>
          <a:p>
            <a:r>
              <a:rPr lang="pt-BR" dirty="0"/>
              <a:t>Metodologia</a:t>
            </a:r>
          </a:p>
        </p:txBody>
      </p:sp>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p:txBody>
          <a:bodyPr>
            <a:normAutofit fontScale="92500" lnSpcReduction="20000"/>
          </a:bodyPr>
          <a:lstStyle/>
          <a:p>
            <a:pPr marL="0" indent="0" algn="ctr" fontAlgn="base">
              <a:buNone/>
            </a:pPr>
            <a:r>
              <a:rPr lang="pt-BR" dirty="0" smtClean="0"/>
              <a:t>Soluções no caso de modelos professor e aluno muito distantes em complexidade  </a:t>
            </a:r>
          </a:p>
          <a:p>
            <a:pPr fontAlgn="base"/>
            <a:r>
              <a:rPr lang="pt-BR" b="1" dirty="0"/>
              <a:t>Interrupção Antecipada da Destilação (</a:t>
            </a:r>
            <a:r>
              <a:rPr lang="pt-BR" b="1" dirty="0" err="1"/>
              <a:t>Early-stopped</a:t>
            </a:r>
            <a:r>
              <a:rPr lang="pt-BR" b="1" dirty="0"/>
              <a:t> KD): </a:t>
            </a:r>
            <a:r>
              <a:rPr lang="pt-BR" dirty="0"/>
              <a:t>Interromper o processo de destilação de conhecimento perto da convergência permite que o modelo aluno foque apenas no aprendizado do conjunto de dados, melhorando a precisão final e superando os modelos treinados do zero.</a:t>
            </a:r>
            <a:endParaRPr lang="pt-BR" dirty="0" smtClean="0"/>
          </a:p>
          <a:p>
            <a:pPr fontAlgn="base"/>
            <a:r>
              <a:rPr lang="pt-BR" b="1" dirty="0" smtClean="0"/>
              <a:t>Interrupção </a:t>
            </a:r>
            <a:r>
              <a:rPr lang="pt-BR" b="1" dirty="0"/>
              <a:t>Antecipada do Professor (</a:t>
            </a:r>
            <a:r>
              <a:rPr lang="pt-BR" b="1" dirty="0" err="1"/>
              <a:t>Early-stopped</a:t>
            </a:r>
            <a:r>
              <a:rPr lang="pt-BR" b="1" dirty="0"/>
              <a:t> </a:t>
            </a:r>
            <a:r>
              <a:rPr lang="pt-BR" b="1" dirty="0" err="1"/>
              <a:t>Teachers</a:t>
            </a:r>
            <a:r>
              <a:rPr lang="pt-BR" b="1" dirty="0"/>
              <a:t>): </a:t>
            </a:r>
            <a:r>
              <a:rPr lang="pt-BR" dirty="0"/>
              <a:t>Regularizar o professor interrompendo seu treinamento prematuramente é uma técnica altamente eficaz. Modelos professores treinados por apenas um terço ou um quarto do tempo total se mostraram professores muito melhores do que suas versões totalmente treinadas</a:t>
            </a:r>
            <a:r>
              <a:rPr lang="pt-BR" dirty="0" smtClean="0"/>
              <a:t>.</a:t>
            </a:r>
          </a:p>
          <a:p>
            <a:pPr fontAlgn="base"/>
            <a:r>
              <a:rPr lang="pt-BR" dirty="0"/>
              <a:t>uma lacuna muito grande de capacidade (</a:t>
            </a:r>
            <a:r>
              <a:rPr lang="pt-BR" dirty="0" err="1"/>
              <a:t>capacity</a:t>
            </a:r>
            <a:r>
              <a:rPr lang="pt-BR" dirty="0"/>
              <a:t> gap) entre os modelos pode prejudicar a eficiência do aluno</a:t>
            </a:r>
            <a:endParaRPr lang="pt-BR" dirty="0" smtClean="0"/>
          </a:p>
        </p:txBody>
      </p:sp>
    </p:spTree>
    <p:extLst>
      <p:ext uri="{BB962C8B-B14F-4D97-AF65-F5344CB8AC3E}">
        <p14:creationId xmlns:p14="http://schemas.microsoft.com/office/powerpoint/2010/main" val="164124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83FFF02-0FC8-9F0B-AAB0-565FC99EA70D}"/>
              </a:ext>
            </a:extLst>
          </p:cNvPr>
          <p:cNvSpPr>
            <a:spLocks noGrp="1"/>
          </p:cNvSpPr>
          <p:nvPr>
            <p:ph type="title"/>
          </p:nvPr>
        </p:nvSpPr>
        <p:spPr>
          <a:xfrm>
            <a:off x="2221624" y="365125"/>
            <a:ext cx="7748752" cy="854075"/>
          </a:xfrm>
        </p:spPr>
        <p:txBody>
          <a:bodyPr/>
          <a:lstStyle/>
          <a:p>
            <a:r>
              <a:rPr lang="pt-BR" smtClean="0"/>
              <a:t>REPRODUÇÃO DO EXPERIMENTO</a:t>
            </a:r>
            <a:endParaRPr lang="pt-BR" dirty="0"/>
          </a:p>
        </p:txBody>
      </p:sp>
      <p:sp>
        <p:nvSpPr>
          <p:cNvPr id="3" name="Espaço Reservado para Conteúdo 2">
            <a:extLst>
              <a:ext uri="{FF2B5EF4-FFF2-40B4-BE49-F238E27FC236}">
                <a16:creationId xmlns:a16="http://schemas.microsoft.com/office/drawing/2014/main" xmlns="" id="{8C5488AE-34B4-EF1D-F674-507FF2FCD122}"/>
              </a:ext>
            </a:extLst>
          </p:cNvPr>
          <p:cNvSpPr>
            <a:spLocks noGrp="1"/>
          </p:cNvSpPr>
          <p:nvPr>
            <p:ph idx="1"/>
          </p:nvPr>
        </p:nvSpPr>
        <p:spPr>
          <a:xfrm>
            <a:off x="838200" y="1825625"/>
            <a:ext cx="10515600" cy="3576692"/>
          </a:xfrm>
        </p:spPr>
        <p:txBody>
          <a:bodyPr>
            <a:normAutofit/>
          </a:bodyPr>
          <a:lstStyle/>
          <a:p>
            <a:pPr fontAlgn="base"/>
            <a:r>
              <a:rPr lang="pt-BR" dirty="0" smtClean="0"/>
              <a:t>Experimento </a:t>
            </a:r>
            <a:r>
              <a:rPr lang="pt-BR" dirty="0"/>
              <a:t>de destilação no MNIST </a:t>
            </a:r>
            <a:r>
              <a:rPr lang="pt-BR" dirty="0" smtClean="0"/>
              <a:t>usando </a:t>
            </a:r>
            <a:r>
              <a:rPr lang="pt-BR" dirty="0" err="1"/>
              <a:t>PyTorch</a:t>
            </a:r>
            <a:endParaRPr lang="pt-BR" dirty="0" smtClean="0"/>
          </a:p>
          <a:p>
            <a:pPr fontAlgn="base"/>
            <a:r>
              <a:rPr lang="pt-BR" dirty="0"/>
              <a:t>Professor: </a:t>
            </a:r>
            <a:r>
              <a:rPr lang="pt-BR" dirty="0" smtClean="0"/>
              <a:t>arquitetura grande, com </a:t>
            </a:r>
            <a:r>
              <a:rPr lang="pt-BR" dirty="0" err="1"/>
              <a:t>dropout</a:t>
            </a:r>
            <a:r>
              <a:rPr lang="pt-BR" dirty="0"/>
              <a:t>, treinado com </a:t>
            </a:r>
            <a:r>
              <a:rPr lang="pt-BR" dirty="0" err="1"/>
              <a:t>jitter</a:t>
            </a:r>
            <a:r>
              <a:rPr lang="pt-BR" dirty="0"/>
              <a:t>.</a:t>
            </a:r>
            <a:endParaRPr lang="pt-BR" dirty="0" smtClean="0"/>
          </a:p>
          <a:p>
            <a:pPr fontAlgn="base"/>
            <a:r>
              <a:rPr lang="pt-BR" dirty="0"/>
              <a:t>Aluno </a:t>
            </a:r>
            <a:r>
              <a:rPr lang="pt-BR" dirty="0" err="1"/>
              <a:t>baseline</a:t>
            </a:r>
            <a:r>
              <a:rPr lang="pt-BR" dirty="0"/>
              <a:t>: </a:t>
            </a:r>
            <a:r>
              <a:rPr lang="pt-BR" dirty="0" smtClean="0"/>
              <a:t>arquitetura pequena, sem </a:t>
            </a:r>
            <a:r>
              <a:rPr lang="pt-BR" dirty="0"/>
              <a:t>regularização, treinado só com rótulos verdadeiros</a:t>
            </a:r>
            <a:r>
              <a:rPr lang="pt-BR" dirty="0" smtClean="0"/>
              <a:t>.</a:t>
            </a:r>
          </a:p>
          <a:p>
            <a:pPr fontAlgn="base"/>
            <a:r>
              <a:rPr lang="pt-BR" dirty="0"/>
              <a:t>Aluno destilado: mesma arquitetura pequena, treinada com a </a:t>
            </a:r>
            <a:r>
              <a:rPr lang="pt-BR" dirty="0" err="1"/>
              <a:t>loss</a:t>
            </a:r>
            <a:r>
              <a:rPr lang="pt-BR" dirty="0"/>
              <a:t> combinada (soft </a:t>
            </a:r>
            <a:r>
              <a:rPr lang="pt-BR" dirty="0" err="1"/>
              <a:t>targets</a:t>
            </a:r>
            <a:r>
              <a:rPr lang="pt-BR" dirty="0"/>
              <a:t> em temperatura </a:t>
            </a:r>
            <a:r>
              <a:rPr lang="pt-BR" dirty="0" err="1"/>
              <a:t>T</a:t>
            </a:r>
            <a:r>
              <a:rPr lang="pt-BR" dirty="0"/>
              <a:t> + hard </a:t>
            </a:r>
            <a:r>
              <a:rPr lang="pt-BR" dirty="0" err="1"/>
              <a:t>targets</a:t>
            </a:r>
            <a:r>
              <a:rPr lang="pt-BR" dirty="0" smtClean="0"/>
              <a:t>). </a:t>
            </a:r>
            <a:r>
              <a:rPr lang="pt-BR" dirty="0"/>
              <a:t>Testa </a:t>
            </a:r>
            <a:r>
              <a:rPr lang="pt-BR" dirty="0" smtClean="0"/>
              <a:t>nas temperaturas </a:t>
            </a:r>
            <a:r>
              <a:rPr lang="pt-BR" dirty="0"/>
              <a:t>(1, 2.5, 4, 8, 20).</a:t>
            </a:r>
            <a:endParaRPr lang="pt-BR" dirty="0" smtClean="0"/>
          </a:p>
        </p:txBody>
      </p:sp>
    </p:spTree>
    <p:extLst>
      <p:ext uri="{BB962C8B-B14F-4D97-AF65-F5344CB8AC3E}">
        <p14:creationId xmlns:p14="http://schemas.microsoft.com/office/powerpoint/2010/main" val="2087386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C9F56A-97FC-7CCD-E5BA-3B5E230AD9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A979DAB9-0612-F0CD-7BB1-AF52B98B3210}"/>
              </a:ext>
            </a:extLst>
          </p:cNvPr>
          <p:cNvSpPr>
            <a:spLocks noGrp="1"/>
          </p:cNvSpPr>
          <p:nvPr>
            <p:ph type="title"/>
          </p:nvPr>
        </p:nvSpPr>
        <p:spPr>
          <a:xfrm>
            <a:off x="2473872" y="365126"/>
            <a:ext cx="7244255" cy="959178"/>
          </a:xfrm>
        </p:spPr>
        <p:txBody>
          <a:bodyPr/>
          <a:lstStyle/>
          <a:p>
            <a:r>
              <a:rPr lang="pt-BR" dirty="0" smtClean="0"/>
              <a:t>Resultados Treinamento MNIST</a:t>
            </a:r>
            <a:endParaRPr lang="pt-BR" dirty="0"/>
          </a:p>
        </p:txBody>
      </p:sp>
      <p:graphicFrame>
        <p:nvGraphicFramePr>
          <p:cNvPr id="5" name="Espaço Reservado para Conteúdo 4"/>
          <p:cNvGraphicFramePr>
            <a:graphicFrameLocks noGrp="1"/>
          </p:cNvGraphicFramePr>
          <p:nvPr>
            <p:ph idx="1"/>
            <p:extLst>
              <p:ext uri="{D42A27DB-BD31-4B8C-83A1-F6EECF244321}">
                <p14:modId xmlns:p14="http://schemas.microsoft.com/office/powerpoint/2010/main" val="767137756"/>
              </p:ext>
            </p:extLst>
          </p:nvPr>
        </p:nvGraphicFramePr>
        <p:xfrm>
          <a:off x="838200" y="1825625"/>
          <a:ext cx="10515600" cy="3708400"/>
        </p:xfrm>
        <a:graphic>
          <a:graphicData uri="http://schemas.openxmlformats.org/drawingml/2006/table">
            <a:tbl>
              <a:tblPr firstRow="1" bandRow="1">
                <a:tableStyleId>{3B4B98B0-60AC-42C2-AFA5-B58CD77FA1E5}</a:tableStyleId>
              </a:tblPr>
              <a:tblGrid>
                <a:gridCol w="3796862"/>
                <a:gridCol w="1902372"/>
                <a:gridCol w="1481959"/>
                <a:gridCol w="1219200"/>
                <a:gridCol w="2115207"/>
              </a:tblGrid>
              <a:tr h="370840">
                <a:tc gridSpan="5">
                  <a:txBody>
                    <a:bodyPr/>
                    <a:lstStyle/>
                    <a:p>
                      <a:pPr algn="ctr"/>
                      <a:r>
                        <a:rPr lang="pt-BR" dirty="0" smtClean="0"/>
                        <a:t> MODELO TRADICIONAL</a:t>
                      </a:r>
                      <a:endParaRPr lang="pt-BR" dirty="0"/>
                    </a:p>
                  </a:txBody>
                  <a:tcPr anchor="ctr"/>
                </a:tc>
                <a:tc hMerge="1">
                  <a:txBody>
                    <a:bodyPr/>
                    <a:lstStyle/>
                    <a:p>
                      <a:endParaRPr lang="pt-BR" dirty="0"/>
                    </a:p>
                  </a:txBody>
                  <a:tcPr/>
                </a:tc>
                <a:tc hMerge="1">
                  <a:txBody>
                    <a:bodyPr/>
                    <a:lstStyle/>
                    <a:p>
                      <a:endParaRPr lang="pt-BR" dirty="0"/>
                    </a:p>
                  </a:txBody>
                  <a:tcPr/>
                </a:tc>
                <a:tc hMerge="1">
                  <a:txBody>
                    <a:bodyPr/>
                    <a:lstStyle/>
                    <a:p>
                      <a:endParaRPr lang="pt-BR"/>
                    </a:p>
                  </a:txBody>
                  <a:tcPr/>
                </a:tc>
                <a:tc hMerge="1">
                  <a:txBody>
                    <a:bodyPr/>
                    <a:lstStyle/>
                    <a:p>
                      <a:endParaRPr lang="pt-BR"/>
                    </a:p>
                  </a:txBody>
                  <a:tcPr/>
                </a:tc>
              </a:tr>
              <a:tr h="370840">
                <a:tc>
                  <a:txBody>
                    <a:bodyPr/>
                    <a:lstStyle/>
                    <a:p>
                      <a:pPr algn="ctr"/>
                      <a:r>
                        <a:rPr lang="pt-BR" dirty="0" smtClean="0"/>
                        <a:t>MODELO</a:t>
                      </a:r>
                      <a:endParaRPr lang="pt-BR" dirty="0"/>
                    </a:p>
                  </a:txBody>
                  <a:tcPr/>
                </a:tc>
                <a:tc>
                  <a:txBody>
                    <a:bodyPr/>
                    <a:lstStyle/>
                    <a:p>
                      <a:pPr algn="ctr"/>
                      <a:r>
                        <a:rPr lang="pt-BR" dirty="0" smtClean="0"/>
                        <a:t>TEMPERATURA</a:t>
                      </a:r>
                      <a:endParaRPr lang="pt-BR" dirty="0"/>
                    </a:p>
                  </a:txBody>
                  <a:tcPr/>
                </a:tc>
                <a:tc>
                  <a:txBody>
                    <a:bodyPr/>
                    <a:lstStyle/>
                    <a:p>
                      <a:pPr algn="ctr"/>
                      <a:r>
                        <a:rPr lang="pt-BR" dirty="0" smtClean="0"/>
                        <a:t>ÉPOCAS</a:t>
                      </a:r>
                      <a:endParaRPr lang="pt-BR" dirty="0"/>
                    </a:p>
                  </a:txBody>
                  <a:tcPr/>
                </a:tc>
                <a:tc>
                  <a:txBody>
                    <a:bodyPr/>
                    <a:lstStyle/>
                    <a:p>
                      <a:pPr algn="ctr"/>
                      <a:r>
                        <a:rPr lang="pt-BR" dirty="0" smtClean="0"/>
                        <a:t>ERROS</a:t>
                      </a:r>
                      <a:endParaRPr lang="pt-BR" dirty="0"/>
                    </a:p>
                  </a:txBody>
                  <a:tcPr/>
                </a:tc>
                <a:tc>
                  <a:txBody>
                    <a:bodyPr/>
                    <a:lstStyle/>
                    <a:p>
                      <a:pPr algn="ctr"/>
                      <a:r>
                        <a:rPr lang="pt-BR" dirty="0" smtClean="0"/>
                        <a:t>ACURÁCIA</a:t>
                      </a:r>
                      <a:endParaRPr lang="pt-BR" dirty="0"/>
                    </a:p>
                  </a:txBody>
                  <a:tcPr/>
                </a:tc>
              </a:tr>
              <a:tr h="370840">
                <a:tc>
                  <a:txBody>
                    <a:bodyPr/>
                    <a:lstStyle/>
                    <a:p>
                      <a:r>
                        <a:rPr lang="pt-BR" sz="1400" dirty="0" smtClean="0"/>
                        <a:t>PROFESSOR </a:t>
                      </a:r>
                      <a:r>
                        <a:rPr lang="mr-IN" sz="1400" dirty="0" smtClean="0"/>
                        <a:t>–</a:t>
                      </a:r>
                      <a:r>
                        <a:rPr lang="pt-BR" sz="1400" dirty="0" smtClean="0"/>
                        <a:t> REDE GRANDE </a:t>
                      </a:r>
                      <a:r>
                        <a:rPr lang="mr-IN" sz="1400" dirty="0" smtClean="0"/>
                        <a:t>–</a:t>
                      </a:r>
                      <a:r>
                        <a:rPr lang="pt-BR" sz="1400" dirty="0" smtClean="0"/>
                        <a:t> DROPOUT</a:t>
                      </a:r>
                      <a:endParaRPr lang="pt-BR" sz="1400" dirty="0"/>
                    </a:p>
                  </a:txBody>
                  <a:tcPr/>
                </a:tc>
                <a:tc>
                  <a:txBody>
                    <a:bodyPr/>
                    <a:lstStyle/>
                    <a:p>
                      <a:pPr algn="ctr"/>
                      <a:r>
                        <a:rPr lang="pt-BR" sz="1400" dirty="0" smtClean="0"/>
                        <a:t>-</a:t>
                      </a:r>
                      <a:endParaRPr lang="pt-BR" sz="1400" dirty="0"/>
                    </a:p>
                  </a:txBody>
                  <a:tcPr/>
                </a:tc>
                <a:tc>
                  <a:txBody>
                    <a:bodyPr/>
                    <a:lstStyle/>
                    <a:p>
                      <a:pPr algn="ctr"/>
                      <a:r>
                        <a:rPr lang="pt-BR" sz="1400" dirty="0" smtClean="0"/>
                        <a:t>15</a:t>
                      </a:r>
                      <a:endParaRPr lang="pt-BR" sz="1400" dirty="0"/>
                    </a:p>
                  </a:txBody>
                  <a:tcPr/>
                </a:tc>
                <a:tc>
                  <a:txBody>
                    <a:bodyPr/>
                    <a:lstStyle/>
                    <a:p>
                      <a:pPr algn="ctr"/>
                      <a:r>
                        <a:rPr lang="pt-BR" sz="1400" dirty="0" smtClean="0"/>
                        <a:t>139</a:t>
                      </a:r>
                      <a:endParaRPr lang="pt-BR" sz="1400" dirty="0"/>
                    </a:p>
                  </a:txBody>
                  <a:tcPr/>
                </a:tc>
                <a:tc>
                  <a:txBody>
                    <a:bodyPr/>
                    <a:lstStyle/>
                    <a:p>
                      <a:pPr algn="ctr"/>
                      <a:r>
                        <a:rPr lang="pt-BR" sz="1400" dirty="0" smtClean="0"/>
                        <a:t>98,61%</a:t>
                      </a:r>
                      <a:endParaRPr lang="pt-BR"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400" dirty="0" smtClean="0"/>
                        <a:t>ALUNO</a:t>
                      </a:r>
                      <a:r>
                        <a:rPr lang="mr-IN" sz="1400" dirty="0" smtClean="0"/>
                        <a:t>–</a:t>
                      </a:r>
                      <a:r>
                        <a:rPr lang="pt-BR" sz="1400" dirty="0" smtClean="0"/>
                        <a:t> REDE PEQUENA</a:t>
                      </a:r>
                      <a:r>
                        <a:rPr lang="pt-BR" sz="1400" baseline="0" dirty="0" smtClean="0"/>
                        <a:t> </a:t>
                      </a:r>
                      <a:r>
                        <a:rPr lang="mr-IN" sz="1400" baseline="0" dirty="0" smtClean="0"/>
                        <a:t>–</a:t>
                      </a:r>
                      <a:r>
                        <a:rPr lang="pt-BR" sz="1400" dirty="0" smtClean="0"/>
                        <a:t> SEM REGULARIZAÇÃO</a:t>
                      </a:r>
                    </a:p>
                  </a:txBody>
                  <a:tcPr/>
                </a:tc>
                <a:tc>
                  <a:txBody>
                    <a:bodyPr/>
                    <a:lstStyle/>
                    <a:p>
                      <a:pPr algn="ctr"/>
                      <a:r>
                        <a:rPr lang="pt-BR" sz="1400" dirty="0" smtClean="0"/>
                        <a:t>-</a:t>
                      </a:r>
                      <a:endParaRPr lang="pt-BR" sz="1400" dirty="0"/>
                    </a:p>
                  </a:txBody>
                  <a:tcPr/>
                </a:tc>
                <a:tc>
                  <a:txBody>
                    <a:bodyPr/>
                    <a:lstStyle/>
                    <a:p>
                      <a:pPr algn="ctr"/>
                      <a:r>
                        <a:rPr lang="pt-BR" sz="1400" smtClean="0"/>
                        <a:t>15</a:t>
                      </a:r>
                      <a:endParaRPr lang="pt-BR" sz="1400" dirty="0"/>
                    </a:p>
                  </a:txBody>
                  <a:tcPr/>
                </a:tc>
                <a:tc>
                  <a:txBody>
                    <a:bodyPr/>
                    <a:lstStyle/>
                    <a:p>
                      <a:pPr algn="ctr"/>
                      <a:r>
                        <a:rPr lang="pt-BR" sz="1400" dirty="0" smtClean="0"/>
                        <a:t>192</a:t>
                      </a:r>
                      <a:endParaRPr lang="pt-BR" sz="1400" dirty="0"/>
                    </a:p>
                  </a:txBody>
                  <a:tcPr/>
                </a:tc>
                <a:tc>
                  <a:txBody>
                    <a:bodyPr/>
                    <a:lstStyle/>
                    <a:p>
                      <a:pPr algn="ctr"/>
                      <a:r>
                        <a:rPr lang="pt-BR" sz="1400" dirty="0" smtClean="0"/>
                        <a:t>98,08%</a:t>
                      </a:r>
                      <a:endParaRPr lang="pt-BR" sz="1400" dirty="0"/>
                    </a:p>
                  </a:txBody>
                  <a:tcPr/>
                </a:tc>
              </a:tr>
              <a:tr h="370840">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800" b="1" dirty="0" smtClean="0"/>
                        <a:t>MODELO COM DESTILAÇÃO</a:t>
                      </a:r>
                    </a:p>
                  </a:txBody>
                  <a:tcPr/>
                </a:tc>
                <a:tc hMerge="1">
                  <a:txBody>
                    <a:bodyPr/>
                    <a:lstStyle/>
                    <a:p>
                      <a:pPr algn="ctr"/>
                      <a:endParaRPr lang="pt-BR" sz="1400" dirty="0"/>
                    </a:p>
                  </a:txBody>
                  <a:tcPr/>
                </a:tc>
                <a:tc hMerge="1">
                  <a:txBody>
                    <a:bodyPr/>
                    <a:lstStyle/>
                    <a:p>
                      <a:pPr algn="ctr"/>
                      <a:endParaRPr lang="pt-BR" sz="1400" dirty="0"/>
                    </a:p>
                  </a:txBody>
                  <a:tcPr/>
                </a:tc>
                <a:tc hMerge="1">
                  <a:txBody>
                    <a:bodyPr/>
                    <a:lstStyle/>
                    <a:p>
                      <a:endParaRPr lang="pt-BR"/>
                    </a:p>
                  </a:txBody>
                  <a:tcPr/>
                </a:tc>
                <a:tc hMerge="1">
                  <a:txBody>
                    <a:bodyPr/>
                    <a:lstStyle/>
                    <a:p>
                      <a:endParaRPr lang="pt-BR"/>
                    </a:p>
                  </a:txBody>
                  <a:tcPr/>
                </a:tc>
              </a:tr>
              <a:tr h="370840">
                <a:tc rowSpan="5">
                  <a:txBody>
                    <a:bodyPr/>
                    <a:lstStyle/>
                    <a:p>
                      <a:pPr algn="ctr"/>
                      <a:r>
                        <a:rPr lang="pt-BR" sz="1400" dirty="0" smtClean="0"/>
                        <a:t>ALUNO</a:t>
                      </a:r>
                      <a:r>
                        <a:rPr lang="pt-BR" sz="1400" baseline="0" dirty="0" smtClean="0"/>
                        <a:t> </a:t>
                      </a:r>
                      <a:r>
                        <a:rPr lang="mr-IN" sz="1400" baseline="0" dirty="0" smtClean="0"/>
                        <a:t>–</a:t>
                      </a:r>
                      <a:r>
                        <a:rPr lang="pt-BR" sz="1400" baseline="0" dirty="0" smtClean="0"/>
                        <a:t> DESTILAÇÃO</a:t>
                      </a:r>
                      <a:endParaRPr lang="pt-BR" sz="1400" dirty="0"/>
                    </a:p>
                  </a:txBody>
                  <a:tcPr anchor="ctr"/>
                </a:tc>
                <a:tc>
                  <a:txBody>
                    <a:bodyPr/>
                    <a:lstStyle/>
                    <a:p>
                      <a:pPr algn="ctr"/>
                      <a:r>
                        <a:rPr lang="pt-BR" sz="1400" dirty="0" smtClean="0"/>
                        <a:t>1</a:t>
                      </a:r>
                      <a:endParaRPr lang="pt-BR" sz="1400" dirty="0"/>
                    </a:p>
                  </a:txBody>
                  <a:tcPr/>
                </a:tc>
                <a:tc>
                  <a:txBody>
                    <a:bodyPr/>
                    <a:lstStyle/>
                    <a:p>
                      <a:pPr algn="ctr"/>
                      <a:r>
                        <a:rPr lang="pt-BR" sz="1400" smtClean="0"/>
                        <a:t>15</a:t>
                      </a:r>
                      <a:endParaRPr lang="pt-BR" sz="1400" dirty="0"/>
                    </a:p>
                  </a:txBody>
                  <a:tcPr/>
                </a:tc>
                <a:tc>
                  <a:txBody>
                    <a:bodyPr/>
                    <a:lstStyle/>
                    <a:p>
                      <a:pPr algn="ctr"/>
                      <a:r>
                        <a:rPr lang="pt-BR" sz="1400" dirty="0" smtClean="0"/>
                        <a:t>146</a:t>
                      </a:r>
                      <a:endParaRPr lang="pt-BR" sz="1400" dirty="0"/>
                    </a:p>
                  </a:txBody>
                  <a:tcPr/>
                </a:tc>
                <a:tc>
                  <a:txBody>
                    <a:bodyPr/>
                    <a:lstStyle/>
                    <a:p>
                      <a:pPr algn="ctr"/>
                      <a:r>
                        <a:rPr lang="pt-BR" sz="1400" dirty="0" smtClean="0"/>
                        <a:t>98,54%</a:t>
                      </a:r>
                      <a:endParaRPr lang="pt-BR" sz="1400" dirty="0"/>
                    </a:p>
                  </a:txBody>
                  <a:tcPr/>
                </a:tc>
              </a:tr>
              <a:tr h="370840">
                <a:tc vMerge="1">
                  <a:txBody>
                    <a:bodyPr/>
                    <a:lstStyle/>
                    <a:p>
                      <a:endParaRPr lang="pt-BR" sz="1400" dirty="0"/>
                    </a:p>
                  </a:txBody>
                  <a:tcPr/>
                </a:tc>
                <a:tc>
                  <a:txBody>
                    <a:bodyPr/>
                    <a:lstStyle/>
                    <a:p>
                      <a:pPr algn="ctr"/>
                      <a:r>
                        <a:rPr lang="pt-BR" sz="1400" dirty="0" smtClean="0"/>
                        <a:t>2.5</a:t>
                      </a:r>
                      <a:endParaRPr lang="pt-BR" sz="1400" dirty="0"/>
                    </a:p>
                  </a:txBody>
                  <a:tcPr/>
                </a:tc>
                <a:tc>
                  <a:txBody>
                    <a:bodyPr/>
                    <a:lstStyle/>
                    <a:p>
                      <a:pPr algn="ctr"/>
                      <a:r>
                        <a:rPr lang="pt-BR" sz="1400" smtClean="0"/>
                        <a:t>15</a:t>
                      </a:r>
                      <a:endParaRPr lang="pt-BR" sz="1400" dirty="0"/>
                    </a:p>
                  </a:txBody>
                  <a:tcPr/>
                </a:tc>
                <a:tc>
                  <a:txBody>
                    <a:bodyPr/>
                    <a:lstStyle/>
                    <a:p>
                      <a:pPr algn="ctr"/>
                      <a:r>
                        <a:rPr lang="pt-BR" sz="1400" dirty="0" smtClean="0"/>
                        <a:t>147</a:t>
                      </a:r>
                      <a:endParaRPr lang="pt-BR" sz="1400" dirty="0"/>
                    </a:p>
                  </a:txBody>
                  <a:tcPr/>
                </a:tc>
                <a:tc>
                  <a:txBody>
                    <a:bodyPr/>
                    <a:lstStyle/>
                    <a:p>
                      <a:pPr algn="ctr"/>
                      <a:r>
                        <a:rPr lang="pt-BR" sz="1400" dirty="0" smtClean="0"/>
                        <a:t>98,53%</a:t>
                      </a:r>
                      <a:endParaRPr lang="pt-BR" sz="1400" dirty="0"/>
                    </a:p>
                  </a:txBody>
                  <a:tcPr/>
                </a:tc>
              </a:tr>
              <a:tr h="370840">
                <a:tc vMerge="1">
                  <a:txBody>
                    <a:bodyPr/>
                    <a:lstStyle/>
                    <a:p>
                      <a:endParaRPr lang="pt-BR" sz="1400" dirty="0"/>
                    </a:p>
                  </a:txBody>
                  <a:tcPr/>
                </a:tc>
                <a:tc>
                  <a:txBody>
                    <a:bodyPr/>
                    <a:lstStyle/>
                    <a:p>
                      <a:pPr algn="ctr"/>
                      <a:r>
                        <a:rPr lang="pt-BR" sz="1400" dirty="0" smtClean="0"/>
                        <a:t>4</a:t>
                      </a:r>
                      <a:endParaRPr lang="pt-BR" sz="1400" dirty="0"/>
                    </a:p>
                  </a:txBody>
                  <a:tcPr/>
                </a:tc>
                <a:tc>
                  <a:txBody>
                    <a:bodyPr/>
                    <a:lstStyle/>
                    <a:p>
                      <a:pPr algn="ctr"/>
                      <a:r>
                        <a:rPr lang="pt-BR" sz="1400" dirty="0" smtClean="0"/>
                        <a:t>15</a:t>
                      </a:r>
                      <a:endParaRPr lang="pt-BR" sz="1400" dirty="0"/>
                    </a:p>
                  </a:txBody>
                  <a:tcPr/>
                </a:tc>
                <a:tc>
                  <a:txBody>
                    <a:bodyPr/>
                    <a:lstStyle/>
                    <a:p>
                      <a:pPr algn="ctr"/>
                      <a:r>
                        <a:rPr lang="pt-BR" sz="1400" dirty="0" smtClean="0"/>
                        <a:t>161</a:t>
                      </a:r>
                      <a:endParaRPr lang="pt-BR" sz="1400" dirty="0"/>
                    </a:p>
                  </a:txBody>
                  <a:tcPr/>
                </a:tc>
                <a:tc>
                  <a:txBody>
                    <a:bodyPr/>
                    <a:lstStyle/>
                    <a:p>
                      <a:pPr algn="ctr"/>
                      <a:r>
                        <a:rPr lang="pt-BR" sz="1400" dirty="0" smtClean="0"/>
                        <a:t>98,39%</a:t>
                      </a:r>
                      <a:endParaRPr lang="pt-BR" sz="1400" dirty="0"/>
                    </a:p>
                  </a:txBody>
                  <a:tcPr/>
                </a:tc>
              </a:tr>
              <a:tr h="370840">
                <a:tc vMerge="1">
                  <a:txBody>
                    <a:bodyPr/>
                    <a:lstStyle/>
                    <a:p>
                      <a:endParaRPr lang="pt-BR" sz="1400" dirty="0"/>
                    </a:p>
                  </a:txBody>
                  <a:tcPr/>
                </a:tc>
                <a:tc>
                  <a:txBody>
                    <a:bodyPr/>
                    <a:lstStyle/>
                    <a:p>
                      <a:pPr algn="ctr"/>
                      <a:r>
                        <a:rPr lang="pt-BR" sz="1400" dirty="0" smtClean="0"/>
                        <a:t>8</a:t>
                      </a:r>
                      <a:endParaRPr lang="pt-BR" sz="1400" dirty="0"/>
                    </a:p>
                  </a:txBody>
                  <a:tcPr/>
                </a:tc>
                <a:tc>
                  <a:txBody>
                    <a:bodyPr/>
                    <a:lstStyle/>
                    <a:p>
                      <a:pPr algn="ctr"/>
                      <a:r>
                        <a:rPr lang="pt-BR" sz="1400" dirty="0" smtClean="0"/>
                        <a:t>15</a:t>
                      </a:r>
                      <a:endParaRPr lang="pt-BR" sz="1400" dirty="0"/>
                    </a:p>
                  </a:txBody>
                  <a:tcPr/>
                </a:tc>
                <a:tc>
                  <a:txBody>
                    <a:bodyPr/>
                    <a:lstStyle/>
                    <a:p>
                      <a:pPr algn="ctr"/>
                      <a:r>
                        <a:rPr lang="pt-BR" sz="1400" dirty="0" smtClean="0"/>
                        <a:t>156</a:t>
                      </a:r>
                      <a:endParaRPr lang="pt-BR"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dirty="0" smtClean="0"/>
                        <a:t>98,44%</a:t>
                      </a:r>
                    </a:p>
                  </a:txBody>
                  <a:tcPr/>
                </a:tc>
              </a:tr>
              <a:tr h="370840">
                <a:tc vMerge="1">
                  <a:txBody>
                    <a:bodyPr/>
                    <a:lstStyle/>
                    <a:p>
                      <a:endParaRPr lang="pt-BR" sz="1400" dirty="0"/>
                    </a:p>
                  </a:txBody>
                  <a:tcPr/>
                </a:tc>
                <a:tc>
                  <a:txBody>
                    <a:bodyPr/>
                    <a:lstStyle/>
                    <a:p>
                      <a:pPr algn="ctr"/>
                      <a:r>
                        <a:rPr lang="pt-BR" sz="1400" dirty="0" smtClean="0"/>
                        <a:t>20</a:t>
                      </a:r>
                      <a:endParaRPr lang="pt-BR" sz="1400" dirty="0"/>
                    </a:p>
                  </a:txBody>
                  <a:tcPr/>
                </a:tc>
                <a:tc>
                  <a:txBody>
                    <a:bodyPr/>
                    <a:lstStyle/>
                    <a:p>
                      <a:pPr algn="ctr"/>
                      <a:r>
                        <a:rPr lang="pt-BR" sz="1400" dirty="0" smtClean="0"/>
                        <a:t>15</a:t>
                      </a:r>
                      <a:endParaRPr lang="pt-BR" sz="1400" dirty="0"/>
                    </a:p>
                  </a:txBody>
                  <a:tcPr/>
                </a:tc>
                <a:tc>
                  <a:txBody>
                    <a:bodyPr/>
                    <a:lstStyle/>
                    <a:p>
                      <a:pPr algn="ctr"/>
                      <a:r>
                        <a:rPr lang="pt-BR" sz="1400" dirty="0" smtClean="0"/>
                        <a:t>148</a:t>
                      </a:r>
                      <a:endParaRPr lang="pt-BR" sz="1400" dirty="0"/>
                    </a:p>
                  </a:txBody>
                  <a:tcPr/>
                </a:tc>
                <a:tc>
                  <a:txBody>
                    <a:bodyPr/>
                    <a:lstStyle/>
                    <a:p>
                      <a:pPr algn="ctr"/>
                      <a:r>
                        <a:rPr lang="pt-BR" sz="1400" dirty="0" smtClean="0"/>
                        <a:t>98,52%</a:t>
                      </a:r>
                      <a:endParaRPr lang="pt-BR" sz="1400" dirty="0"/>
                    </a:p>
                  </a:txBody>
                  <a:tcPr/>
                </a:tc>
              </a:tr>
            </a:tbl>
          </a:graphicData>
        </a:graphic>
      </p:graphicFrame>
      <p:sp>
        <p:nvSpPr>
          <p:cNvPr id="6" name="Título 1">
            <a:extLst>
              <a:ext uri="{FF2B5EF4-FFF2-40B4-BE49-F238E27FC236}">
                <a16:creationId xmlns:a16="http://schemas.microsoft.com/office/drawing/2014/main" xmlns="" id="{A979DAB9-0612-F0CD-7BB1-AF52B98B3210}"/>
              </a:ext>
            </a:extLst>
          </p:cNvPr>
          <p:cNvSpPr txBox="1">
            <a:spLocks/>
          </p:cNvSpPr>
          <p:nvPr/>
        </p:nvSpPr>
        <p:spPr>
          <a:xfrm>
            <a:off x="3712121" y="1028646"/>
            <a:ext cx="4767756" cy="5913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000" dirty="0" smtClean="0"/>
              <a:t>RESULTADO DO ARTIGO: ACURÁCIA =  98,6%</a:t>
            </a:r>
            <a:endParaRPr lang="pt-BR" sz="2000" dirty="0"/>
          </a:p>
        </p:txBody>
      </p:sp>
    </p:spTree>
    <p:extLst>
      <p:ext uri="{BB962C8B-B14F-4D97-AF65-F5344CB8AC3E}">
        <p14:creationId xmlns:p14="http://schemas.microsoft.com/office/powerpoint/2010/main" val="3906980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8A9759-CA4F-DA4F-85C2-F6E51DCED2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072F732D-34CE-6153-324F-D7F6821577F0}"/>
              </a:ext>
            </a:extLst>
          </p:cNvPr>
          <p:cNvSpPr>
            <a:spLocks noGrp="1"/>
          </p:cNvSpPr>
          <p:nvPr>
            <p:ph type="title"/>
          </p:nvPr>
        </p:nvSpPr>
        <p:spPr>
          <a:xfrm>
            <a:off x="838200" y="365125"/>
            <a:ext cx="1936531" cy="1325563"/>
          </a:xfrm>
        </p:spPr>
        <p:txBody>
          <a:bodyPr/>
          <a:lstStyle/>
          <a:p>
            <a:r>
              <a:rPr lang="pt-BR" smtClean="0"/>
              <a:t>Análise</a:t>
            </a:r>
            <a:endParaRPr lang="pt-BR" dirty="0"/>
          </a:p>
        </p:txBody>
      </p:sp>
      <p:sp>
        <p:nvSpPr>
          <p:cNvPr id="3" name="Espaço Reservado para Conteúdo 2">
            <a:extLst>
              <a:ext uri="{FF2B5EF4-FFF2-40B4-BE49-F238E27FC236}">
                <a16:creationId xmlns:a16="http://schemas.microsoft.com/office/drawing/2014/main" xmlns="" id="{62A55622-8E11-E5D7-8EAF-7AE2CCAA3321}"/>
              </a:ext>
            </a:extLst>
          </p:cNvPr>
          <p:cNvSpPr>
            <a:spLocks noGrp="1"/>
          </p:cNvSpPr>
          <p:nvPr>
            <p:ph idx="1"/>
          </p:nvPr>
        </p:nvSpPr>
        <p:spPr/>
        <p:txBody>
          <a:bodyPr>
            <a:normAutofit/>
          </a:bodyPr>
          <a:lstStyle/>
          <a:p>
            <a:pPr fontAlgn="base"/>
            <a:r>
              <a:rPr lang="pt-BR" dirty="0"/>
              <a:t>Reduz a alta complexidade computacional e a </a:t>
            </a:r>
            <a:r>
              <a:rPr lang="pt-BR" dirty="0" smtClean="0"/>
              <a:t>exigência </a:t>
            </a:r>
            <a:r>
              <a:rPr lang="pt-BR" dirty="0"/>
              <a:t>de armazenamento dos modelos de aprendizado </a:t>
            </a:r>
            <a:r>
              <a:rPr lang="pt-BR" dirty="0" smtClean="0"/>
              <a:t>profundo e assim permite </a:t>
            </a:r>
            <a:r>
              <a:rPr lang="pt-BR" dirty="0"/>
              <a:t>o treinamento eficaz de um modelo compacto e leve (aluno) a partir do conhecimento de um modelo </a:t>
            </a:r>
            <a:r>
              <a:rPr lang="pt-BR" dirty="0" smtClean="0"/>
              <a:t>complexo (professor), além de ser versátil através do uso </a:t>
            </a:r>
            <a:r>
              <a:rPr lang="pt-BR" dirty="0"/>
              <a:t>de múltiplos professores para fundir diferentes conhecimentos em um único </a:t>
            </a:r>
            <a:r>
              <a:rPr lang="pt-BR" dirty="0" smtClean="0"/>
              <a:t>aluno.</a:t>
            </a:r>
          </a:p>
          <a:p>
            <a:pPr fontAlgn="base"/>
            <a:r>
              <a:rPr lang="pt-BR" dirty="0"/>
              <a:t>Existe uma limitação relacionada à lacuna de capacidade (</a:t>
            </a:r>
            <a:r>
              <a:rPr lang="pt-BR" dirty="0" err="1"/>
              <a:t>capacity</a:t>
            </a:r>
            <a:r>
              <a:rPr lang="pt-BR" dirty="0"/>
              <a:t> gap); se a diferença estrutural entre o professor </a:t>
            </a:r>
            <a:r>
              <a:rPr lang="pt-BR" dirty="0" smtClean="0"/>
              <a:t>e </a:t>
            </a:r>
            <a:r>
              <a:rPr lang="pt-BR" dirty="0"/>
              <a:t>o aluno </a:t>
            </a:r>
            <a:r>
              <a:rPr lang="pt-BR" dirty="0" smtClean="0"/>
              <a:t>for </a:t>
            </a:r>
            <a:r>
              <a:rPr lang="pt-BR" dirty="0"/>
              <a:t>muito grande, a eficiência do aprendizado é </a:t>
            </a:r>
            <a:r>
              <a:rPr lang="pt-BR" dirty="0" smtClean="0"/>
              <a:t>prejudicada</a:t>
            </a:r>
          </a:p>
        </p:txBody>
      </p:sp>
    </p:spTree>
    <p:extLst>
      <p:ext uri="{BB962C8B-B14F-4D97-AF65-F5344CB8AC3E}">
        <p14:creationId xmlns:p14="http://schemas.microsoft.com/office/powerpoint/2010/main" val="1521811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8A9759-CA4F-DA4F-85C2-F6E51DCED2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072F732D-34CE-6153-324F-D7F6821577F0}"/>
              </a:ext>
            </a:extLst>
          </p:cNvPr>
          <p:cNvSpPr>
            <a:spLocks noGrp="1"/>
          </p:cNvSpPr>
          <p:nvPr>
            <p:ph type="title"/>
          </p:nvPr>
        </p:nvSpPr>
        <p:spPr>
          <a:xfrm>
            <a:off x="838200" y="365125"/>
            <a:ext cx="1905000" cy="1169385"/>
          </a:xfrm>
        </p:spPr>
        <p:txBody>
          <a:bodyPr/>
          <a:lstStyle/>
          <a:p>
            <a:r>
              <a:rPr lang="pt-BR" smtClean="0"/>
              <a:t>Análise</a:t>
            </a:r>
            <a:endParaRPr lang="pt-BR" dirty="0"/>
          </a:p>
        </p:txBody>
      </p:sp>
      <p:sp>
        <p:nvSpPr>
          <p:cNvPr id="3" name="Espaço Reservado para Conteúdo 2">
            <a:extLst>
              <a:ext uri="{FF2B5EF4-FFF2-40B4-BE49-F238E27FC236}">
                <a16:creationId xmlns:a16="http://schemas.microsoft.com/office/drawing/2014/main" xmlns="" id="{62A55622-8E11-E5D7-8EAF-7AE2CCAA3321}"/>
              </a:ext>
            </a:extLst>
          </p:cNvPr>
          <p:cNvSpPr>
            <a:spLocks noGrp="1"/>
          </p:cNvSpPr>
          <p:nvPr>
            <p:ph idx="1"/>
          </p:nvPr>
        </p:nvSpPr>
        <p:spPr>
          <a:xfrm>
            <a:off x="838200" y="2792577"/>
            <a:ext cx="10515600" cy="2304941"/>
          </a:xfrm>
        </p:spPr>
        <p:txBody>
          <a:bodyPr>
            <a:normAutofit/>
          </a:bodyPr>
          <a:lstStyle/>
          <a:p>
            <a:pPr fontAlgn="base"/>
            <a:r>
              <a:rPr lang="pt-BR" dirty="0" smtClean="0"/>
              <a:t>Pode </a:t>
            </a:r>
            <a:r>
              <a:rPr lang="pt-BR" dirty="0"/>
              <a:t>ser aplicado em soluções </a:t>
            </a:r>
            <a:r>
              <a:rPr lang="pt-BR" dirty="0" smtClean="0"/>
              <a:t>para dispositivos </a:t>
            </a:r>
            <a:r>
              <a:rPr lang="pt-BR" dirty="0"/>
              <a:t>de </a:t>
            </a:r>
            <a:r>
              <a:rPr lang="pt-BR" dirty="0" smtClean="0"/>
              <a:t>Borda, reconhecimento visual, processamento </a:t>
            </a:r>
            <a:r>
              <a:rPr lang="pt-BR" dirty="0"/>
              <a:t>de </a:t>
            </a:r>
            <a:r>
              <a:rPr lang="pt-BR" dirty="0" smtClean="0"/>
              <a:t>linguagem natural </a:t>
            </a:r>
            <a:r>
              <a:rPr lang="pt-BR" dirty="0"/>
              <a:t>(NLP</a:t>
            </a:r>
            <a:r>
              <a:rPr lang="pt-BR" dirty="0" smtClean="0"/>
              <a:t>), reconhecimento </a:t>
            </a:r>
            <a:r>
              <a:rPr lang="pt-BR" dirty="0"/>
              <a:t>de </a:t>
            </a:r>
            <a:r>
              <a:rPr lang="pt-BR" dirty="0" smtClean="0"/>
              <a:t>voz e segurança </a:t>
            </a:r>
            <a:r>
              <a:rPr lang="pt-BR" dirty="0"/>
              <a:t>e </a:t>
            </a:r>
            <a:r>
              <a:rPr lang="pt-BR" dirty="0" smtClean="0"/>
              <a:t>sistemas com o uso em </a:t>
            </a:r>
            <a:r>
              <a:rPr lang="pt-BR" dirty="0"/>
              <a:t>sistemas de recomendação de alta velocidade, proteção em aprendizado </a:t>
            </a:r>
            <a:r>
              <a:rPr lang="pt-BR" dirty="0" smtClean="0"/>
              <a:t>e </a:t>
            </a:r>
            <a:r>
              <a:rPr lang="pt-BR" dirty="0"/>
              <a:t>defesa contra </a:t>
            </a:r>
            <a:r>
              <a:rPr lang="pt-BR" dirty="0" smtClean="0"/>
              <a:t>perturbações.</a:t>
            </a:r>
          </a:p>
        </p:txBody>
      </p:sp>
    </p:spTree>
    <p:extLst>
      <p:ext uri="{BB962C8B-B14F-4D97-AF65-F5344CB8AC3E}">
        <p14:creationId xmlns:p14="http://schemas.microsoft.com/office/powerpoint/2010/main" val="2005046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9E502FC-4440-F5DA-F299-69CD15E702AE}"/>
              </a:ext>
            </a:extLst>
          </p:cNvPr>
          <p:cNvSpPr>
            <a:spLocks noGrp="1"/>
          </p:cNvSpPr>
          <p:nvPr>
            <p:ph type="title"/>
          </p:nvPr>
        </p:nvSpPr>
        <p:spPr>
          <a:xfrm>
            <a:off x="4801914" y="365125"/>
            <a:ext cx="2588172" cy="1325563"/>
          </a:xfrm>
        </p:spPr>
        <p:txBody>
          <a:bodyPr/>
          <a:lstStyle/>
          <a:p>
            <a:r>
              <a:rPr lang="en-US" dirty="0" err="1"/>
              <a:t>Conclusão</a:t>
            </a:r>
            <a:endParaRPr lang="pt-BR" dirty="0"/>
          </a:p>
        </p:txBody>
      </p:sp>
      <p:sp>
        <p:nvSpPr>
          <p:cNvPr id="3" name="Espaço Reservado para Conteúdo 2">
            <a:extLst>
              <a:ext uri="{FF2B5EF4-FFF2-40B4-BE49-F238E27FC236}">
                <a16:creationId xmlns:a16="http://schemas.microsoft.com/office/drawing/2014/main" xmlns="" id="{69359096-6B47-BEA3-55AD-95F90CDC8489}"/>
              </a:ext>
            </a:extLst>
          </p:cNvPr>
          <p:cNvSpPr>
            <a:spLocks noGrp="1"/>
          </p:cNvSpPr>
          <p:nvPr>
            <p:ph idx="1"/>
          </p:nvPr>
        </p:nvSpPr>
        <p:spPr>
          <a:xfrm>
            <a:off x="838200" y="2508797"/>
            <a:ext cx="10515600" cy="1884527"/>
          </a:xfrm>
        </p:spPr>
        <p:txBody>
          <a:bodyPr/>
          <a:lstStyle/>
          <a:p>
            <a:pPr fontAlgn="base"/>
            <a:r>
              <a:rPr lang="pt-BR" dirty="0" smtClean="0"/>
              <a:t>A utilização deste modelo traz muitos benefícios pela obtenção de bons resultados, mesmo com </a:t>
            </a:r>
            <a:r>
              <a:rPr lang="pt-BR" dirty="0" err="1" smtClean="0"/>
              <a:t>datasets</a:t>
            </a:r>
            <a:r>
              <a:rPr lang="pt-BR" dirty="0" smtClean="0"/>
              <a:t> muito grandes. Essa técnica de aproveitar características generaliza muito bem, mesmo com dados desconhecidos pelos modelo.</a:t>
            </a:r>
            <a:endParaRPr lang="pt-BR" dirty="0"/>
          </a:p>
        </p:txBody>
      </p:sp>
    </p:spTree>
    <p:extLst>
      <p:ext uri="{BB962C8B-B14F-4D97-AF65-F5344CB8AC3E}">
        <p14:creationId xmlns:p14="http://schemas.microsoft.com/office/powerpoint/2010/main" val="1532530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CA32550-8C76-B013-2EC7-989D8C3B19BE}"/>
              </a:ext>
            </a:extLst>
          </p:cNvPr>
          <p:cNvSpPr>
            <a:spLocks noGrp="1"/>
          </p:cNvSpPr>
          <p:nvPr>
            <p:ph type="title"/>
          </p:nvPr>
        </p:nvSpPr>
        <p:spPr/>
        <p:txBody>
          <a:bodyPr/>
          <a:lstStyle/>
          <a:p>
            <a:r>
              <a:rPr lang="pt-BR" dirty="0"/>
              <a:t>Referências</a:t>
            </a:r>
          </a:p>
        </p:txBody>
      </p:sp>
      <p:sp>
        <p:nvSpPr>
          <p:cNvPr id="3" name="Espaço Reservado para Conteúdo 2">
            <a:extLst>
              <a:ext uri="{FF2B5EF4-FFF2-40B4-BE49-F238E27FC236}">
                <a16:creationId xmlns:a16="http://schemas.microsoft.com/office/drawing/2014/main" xmlns="" id="{EF043237-7757-7557-B63E-D4EB5152D44B}"/>
              </a:ext>
            </a:extLst>
          </p:cNvPr>
          <p:cNvSpPr>
            <a:spLocks noGrp="1"/>
          </p:cNvSpPr>
          <p:nvPr>
            <p:ph idx="1"/>
          </p:nvPr>
        </p:nvSpPr>
        <p:spPr/>
        <p:txBody>
          <a:bodyPr>
            <a:normAutofit/>
          </a:bodyPr>
          <a:lstStyle/>
          <a:p>
            <a:pPr marL="0" indent="0">
              <a:buNone/>
            </a:pPr>
            <a:r>
              <a:rPr lang="pt-BR" sz="1800" dirty="0" smtClean="0"/>
              <a:t>[1] G. </a:t>
            </a:r>
            <a:r>
              <a:rPr lang="pt-BR" sz="1800" dirty="0" err="1" smtClean="0"/>
              <a:t>Hinton</a:t>
            </a:r>
            <a:r>
              <a:rPr lang="pt-BR" sz="1800" dirty="0" smtClean="0"/>
              <a:t>, O. </a:t>
            </a:r>
            <a:r>
              <a:rPr lang="pt-BR" sz="1800" dirty="0" err="1" smtClean="0"/>
              <a:t>Vinyals</a:t>
            </a:r>
            <a:r>
              <a:rPr lang="pt-BR" sz="1800" dirty="0" smtClean="0"/>
              <a:t>, </a:t>
            </a:r>
            <a:r>
              <a:rPr lang="pt-BR" sz="1800" dirty="0" err="1"/>
              <a:t>and</a:t>
            </a:r>
            <a:r>
              <a:rPr lang="pt-BR" sz="1800" dirty="0"/>
              <a:t> </a:t>
            </a:r>
            <a:r>
              <a:rPr lang="pt-BR" sz="1800" dirty="0" smtClean="0"/>
              <a:t>J. Dean</a:t>
            </a:r>
            <a:r>
              <a:rPr lang="pt-BR" sz="1800" dirty="0"/>
              <a:t>. </a:t>
            </a:r>
            <a:r>
              <a:rPr lang="pt-BR" sz="1800" dirty="0" err="1"/>
              <a:t>Distilling</a:t>
            </a:r>
            <a:r>
              <a:rPr lang="pt-BR" sz="1800" dirty="0"/>
              <a:t> </a:t>
            </a:r>
            <a:r>
              <a:rPr lang="pt-BR" sz="1800" dirty="0" err="1"/>
              <a:t>the</a:t>
            </a:r>
            <a:r>
              <a:rPr lang="pt-BR" sz="1800" dirty="0"/>
              <a:t> </a:t>
            </a:r>
            <a:r>
              <a:rPr lang="pt-BR" sz="1800" dirty="0" err="1"/>
              <a:t>Knowledge</a:t>
            </a:r>
            <a:r>
              <a:rPr lang="pt-BR" sz="1800" dirty="0"/>
              <a:t> in a Neural Network, </a:t>
            </a:r>
            <a:r>
              <a:rPr lang="pt-BR" sz="1800" dirty="0" err="1" smtClean="0">
                <a:latin typeface="Calibri" charset="0"/>
                <a:ea typeface="Calibri" charset="0"/>
                <a:cs typeface="Calibri" charset="0"/>
              </a:rPr>
              <a:t>eprint</a:t>
            </a:r>
            <a:r>
              <a:rPr lang="pt-BR" sz="1800" dirty="0" smtClean="0">
                <a:latin typeface="Calibri" charset="0"/>
                <a:ea typeface="Calibri" charset="0"/>
                <a:cs typeface="Calibri" charset="0"/>
              </a:rPr>
              <a:t> </a:t>
            </a:r>
            <a:r>
              <a:rPr lang="nb-NO" sz="1800" dirty="0">
                <a:latin typeface="Calibri" charset="0"/>
                <a:ea typeface="Calibri" charset="0"/>
                <a:cs typeface="Calibri" charset="0"/>
              </a:rPr>
              <a:t>1503.02531</a:t>
            </a:r>
            <a:r>
              <a:rPr lang="pt-BR" sz="1800" dirty="0" smtClean="0">
                <a:latin typeface="Calibri" charset="0"/>
                <a:ea typeface="Calibri" charset="0"/>
                <a:cs typeface="Calibri" charset="0"/>
              </a:rPr>
              <a:t>, 2015, </a:t>
            </a:r>
            <a:r>
              <a:rPr lang="mr-IN" sz="1800" u="sng" dirty="0">
                <a:latin typeface="Calibri" charset="0"/>
                <a:ea typeface="Calibri" charset="0"/>
                <a:cs typeface="Calibri" charset="0"/>
                <a:hlinkClick r:id="rId2"/>
              </a:rPr>
              <a:t>https://doi.org/10.48550/arXiv.1503.02531</a:t>
            </a:r>
            <a:r>
              <a:rPr lang="pt-BR" sz="1800" dirty="0" smtClean="0">
                <a:latin typeface="Calibri" charset="0"/>
                <a:ea typeface="Calibri" charset="0"/>
                <a:cs typeface="Calibri" charset="0"/>
              </a:rPr>
              <a:t>.</a:t>
            </a:r>
          </a:p>
          <a:p>
            <a:pPr marL="0" indent="0">
              <a:buNone/>
            </a:pPr>
            <a:r>
              <a:rPr lang="pt-BR" sz="1800" dirty="0" smtClean="0"/>
              <a:t>[2] N. </a:t>
            </a:r>
            <a:r>
              <a:rPr lang="pt-BR" sz="1800" dirty="0" err="1" smtClean="0"/>
              <a:t>Passalis</a:t>
            </a:r>
            <a:r>
              <a:rPr lang="pt-BR" sz="1800" dirty="0" smtClean="0"/>
              <a:t>, M. </a:t>
            </a:r>
            <a:r>
              <a:rPr lang="pt-BR" sz="1800" dirty="0" err="1" smtClean="0"/>
              <a:t>Tzelepi</a:t>
            </a:r>
            <a:r>
              <a:rPr lang="pt-BR" sz="1800" dirty="0" smtClean="0"/>
              <a:t>, </a:t>
            </a:r>
            <a:r>
              <a:rPr lang="pt-BR" sz="1800" dirty="0" err="1"/>
              <a:t>and</a:t>
            </a:r>
            <a:r>
              <a:rPr lang="pt-BR" sz="1800" dirty="0"/>
              <a:t> </a:t>
            </a:r>
            <a:r>
              <a:rPr lang="pt-BR" sz="1800" dirty="0" smtClean="0"/>
              <a:t>A. </a:t>
            </a:r>
            <a:r>
              <a:rPr lang="pt-BR" sz="1800" dirty="0" err="1" smtClean="0"/>
              <a:t>Tefas</a:t>
            </a:r>
            <a:r>
              <a:rPr lang="pt-BR" sz="1800" dirty="0"/>
              <a:t>. </a:t>
            </a:r>
            <a:r>
              <a:rPr lang="pt-BR" sz="1800" dirty="0" err="1"/>
              <a:t>Deep</a:t>
            </a:r>
            <a:r>
              <a:rPr lang="pt-BR" sz="1800" dirty="0"/>
              <a:t> Learning for </a:t>
            </a:r>
            <a:r>
              <a:rPr lang="pt-BR" sz="1800" dirty="0" err="1"/>
              <a:t>Robot</a:t>
            </a:r>
            <a:r>
              <a:rPr lang="pt-BR" sz="1800" dirty="0"/>
              <a:t> </a:t>
            </a:r>
            <a:r>
              <a:rPr lang="pt-BR" sz="1800" dirty="0" err="1"/>
              <a:t>Perception</a:t>
            </a:r>
            <a:r>
              <a:rPr lang="pt-BR" sz="1800" dirty="0"/>
              <a:t> </a:t>
            </a:r>
            <a:r>
              <a:rPr lang="pt-BR" sz="1800" dirty="0" err="1"/>
              <a:t>and</a:t>
            </a:r>
            <a:r>
              <a:rPr lang="pt-BR" sz="1800" dirty="0"/>
              <a:t> </a:t>
            </a:r>
            <a:r>
              <a:rPr lang="pt-BR" sz="1800" dirty="0" err="1" smtClean="0"/>
              <a:t>Cognition</a:t>
            </a:r>
            <a:r>
              <a:rPr lang="pt-BR" sz="1800" dirty="0"/>
              <a:t>, </a:t>
            </a:r>
            <a:r>
              <a:rPr lang="pt-BR" sz="1800" dirty="0" err="1"/>
              <a:t>Chapter</a:t>
            </a:r>
            <a:r>
              <a:rPr lang="pt-BR" sz="1800" dirty="0"/>
              <a:t> 8 - </a:t>
            </a:r>
            <a:r>
              <a:rPr lang="pt-BR" sz="1800" dirty="0" err="1"/>
              <a:t>Knowledge</a:t>
            </a:r>
            <a:r>
              <a:rPr lang="pt-BR" sz="1800" dirty="0"/>
              <a:t> </a:t>
            </a:r>
            <a:r>
              <a:rPr lang="pt-BR" sz="1800" dirty="0" err="1"/>
              <a:t>distillation</a:t>
            </a:r>
            <a:r>
              <a:rPr lang="pt-BR" sz="1800" dirty="0"/>
              <a:t>, </a:t>
            </a:r>
            <a:r>
              <a:rPr lang="pt-BR" sz="1800" dirty="0" err="1" smtClean="0"/>
              <a:t>pages</a:t>
            </a:r>
            <a:r>
              <a:rPr lang="pt-BR" sz="1800" dirty="0" smtClean="0"/>
              <a:t> </a:t>
            </a:r>
            <a:r>
              <a:rPr lang="nb-NO" sz="1800" dirty="0" smtClean="0"/>
              <a:t>165-186</a:t>
            </a:r>
            <a:r>
              <a:rPr lang="pt-BR" sz="1800" dirty="0" smtClean="0"/>
              <a:t>, </a:t>
            </a:r>
            <a:r>
              <a:rPr lang="pt-BR" sz="1800" dirty="0" err="1" smtClean="0"/>
              <a:t>Academic</a:t>
            </a:r>
            <a:r>
              <a:rPr lang="pt-BR" sz="1800" dirty="0" smtClean="0"/>
              <a:t> Press, 2022, </a:t>
            </a:r>
            <a:r>
              <a:rPr lang="mr-IN" sz="1800" u="sng" dirty="0">
                <a:latin typeface="Calibri" charset="0"/>
                <a:ea typeface="Calibri" charset="0"/>
                <a:cs typeface="Calibri" charset="0"/>
                <a:hlinkClick r:id="rId3"/>
              </a:rPr>
              <a:t>https://doi.org/10.1016/B978-0-32-385787-1.00013-0</a:t>
            </a:r>
            <a:r>
              <a:rPr lang="pt-BR" sz="1800" dirty="0" smtClean="0">
                <a:latin typeface="Calibri" charset="0"/>
                <a:ea typeface="Calibri" charset="0"/>
                <a:cs typeface="Calibri" charset="0"/>
                <a:hlinkClick r:id="rId3"/>
              </a:rPr>
              <a:t>.</a:t>
            </a:r>
            <a:endParaRPr lang="pt-BR" sz="1800" dirty="0" smtClean="0">
              <a:latin typeface="Calibri" charset="0"/>
              <a:ea typeface="Calibri" charset="0"/>
              <a:cs typeface="Calibri" charset="0"/>
            </a:endParaRPr>
          </a:p>
          <a:p>
            <a:pPr marL="0" indent="0">
              <a:buNone/>
            </a:pPr>
            <a:r>
              <a:rPr lang="pt-BR" sz="1800" dirty="0" smtClean="0"/>
              <a:t>[3] J. H. Cho </a:t>
            </a:r>
            <a:r>
              <a:rPr lang="pt-BR" sz="1800" dirty="0" err="1" smtClean="0"/>
              <a:t>and</a:t>
            </a:r>
            <a:r>
              <a:rPr lang="pt-BR" sz="1800" dirty="0" smtClean="0"/>
              <a:t> B. </a:t>
            </a:r>
            <a:r>
              <a:rPr lang="pt-BR" sz="1800" dirty="0" err="1" smtClean="0"/>
              <a:t>Hariharan</a:t>
            </a:r>
            <a:r>
              <a:rPr lang="pt-BR" sz="1800" dirty="0" smtClean="0"/>
              <a:t>. </a:t>
            </a:r>
            <a:r>
              <a:rPr lang="pt-BR" sz="1800" dirty="0" err="1"/>
              <a:t>On</a:t>
            </a:r>
            <a:r>
              <a:rPr lang="pt-BR" sz="1800" dirty="0"/>
              <a:t> </a:t>
            </a:r>
            <a:r>
              <a:rPr lang="pt-BR" sz="1800" dirty="0" err="1"/>
              <a:t>the</a:t>
            </a:r>
            <a:r>
              <a:rPr lang="pt-BR" sz="1800" dirty="0"/>
              <a:t> </a:t>
            </a:r>
            <a:r>
              <a:rPr lang="pt-BR" sz="1800" dirty="0" err="1"/>
              <a:t>Efficacy</a:t>
            </a:r>
            <a:r>
              <a:rPr lang="pt-BR" sz="1800" dirty="0"/>
              <a:t> </a:t>
            </a:r>
            <a:r>
              <a:rPr lang="pt-BR" sz="1800" dirty="0" err="1"/>
              <a:t>of</a:t>
            </a:r>
            <a:r>
              <a:rPr lang="pt-BR" sz="1800" dirty="0"/>
              <a:t> </a:t>
            </a:r>
            <a:r>
              <a:rPr lang="pt-BR" sz="1800" dirty="0" err="1"/>
              <a:t>Knowledge</a:t>
            </a:r>
            <a:r>
              <a:rPr lang="pt-BR" sz="1800" dirty="0"/>
              <a:t> </a:t>
            </a:r>
            <a:r>
              <a:rPr lang="pt-BR" sz="1800" dirty="0" err="1"/>
              <a:t>Distillation</a:t>
            </a:r>
            <a:r>
              <a:rPr lang="pt-BR" sz="1800" dirty="0"/>
              <a:t>, </a:t>
            </a:r>
            <a:r>
              <a:rPr lang="pt-BR" sz="1800" dirty="0" err="1">
                <a:latin typeface="Calibri" charset="0"/>
                <a:ea typeface="Calibri" charset="0"/>
                <a:cs typeface="Calibri" charset="0"/>
              </a:rPr>
              <a:t>eprint</a:t>
            </a:r>
            <a:r>
              <a:rPr lang="pt-BR" sz="1800" dirty="0">
                <a:latin typeface="Calibri" charset="0"/>
                <a:ea typeface="Calibri" charset="0"/>
                <a:cs typeface="Calibri" charset="0"/>
              </a:rPr>
              <a:t> </a:t>
            </a:r>
            <a:r>
              <a:rPr lang="nb-NO" sz="1800" dirty="0" smtClean="0">
                <a:latin typeface="Calibri" charset="0"/>
                <a:ea typeface="Calibri" charset="0"/>
                <a:cs typeface="Calibri" charset="0"/>
              </a:rPr>
              <a:t>1910.01348</a:t>
            </a:r>
            <a:r>
              <a:rPr lang="pt-BR" sz="1800" dirty="0" smtClean="0"/>
              <a:t>, 2019, </a:t>
            </a:r>
            <a:r>
              <a:rPr lang="mr-IN" sz="1800" u="sng" dirty="0">
                <a:latin typeface="Calibri" charset="0"/>
                <a:ea typeface="Calibri" charset="0"/>
                <a:cs typeface="Calibri" charset="0"/>
                <a:hlinkClick r:id="rId4"/>
              </a:rPr>
              <a:t>https://doi.org/10.48550/arXiv.1910.01348</a:t>
            </a:r>
            <a:r>
              <a:rPr lang="pt-BR" sz="1800" dirty="0" smtClean="0">
                <a:latin typeface="Calibri" charset="0"/>
                <a:ea typeface="Calibri" charset="0"/>
                <a:cs typeface="Calibri" charset="0"/>
                <a:hlinkClick r:id="rId4"/>
              </a:rPr>
              <a:t>.</a:t>
            </a:r>
            <a:endParaRPr lang="pt-BR" sz="1800" dirty="0">
              <a:latin typeface="Calibri" charset="0"/>
              <a:ea typeface="Calibri" charset="0"/>
              <a:cs typeface="Calibri" charset="0"/>
            </a:endParaRPr>
          </a:p>
          <a:p>
            <a:pPr marL="0" indent="0">
              <a:buNone/>
            </a:pPr>
            <a:r>
              <a:rPr lang="pt-BR" sz="1800" dirty="0" smtClean="0"/>
              <a:t>[4] </a:t>
            </a:r>
            <a:r>
              <a:rPr lang="pt-BR" sz="1800" dirty="0"/>
              <a:t>J. </a:t>
            </a:r>
            <a:r>
              <a:rPr lang="pt-BR" sz="1800" dirty="0" smtClean="0"/>
              <a:t>Tang, R. </a:t>
            </a:r>
            <a:r>
              <a:rPr lang="pt-BR" sz="1800" dirty="0" err="1" smtClean="0"/>
              <a:t>Shivanna</a:t>
            </a:r>
            <a:r>
              <a:rPr lang="pt-BR" sz="1800" dirty="0" smtClean="0"/>
              <a:t>, </a:t>
            </a:r>
            <a:r>
              <a:rPr lang="pt-BR" sz="1800" dirty="0" err="1" smtClean="0"/>
              <a:t>Z</a:t>
            </a:r>
            <a:r>
              <a:rPr lang="pt-BR" sz="1800" dirty="0" smtClean="0"/>
              <a:t>. </a:t>
            </a:r>
            <a:r>
              <a:rPr lang="pt-BR" sz="1800" dirty="0" err="1" smtClean="0"/>
              <a:t>Zhao</a:t>
            </a:r>
            <a:r>
              <a:rPr lang="pt-BR" sz="1800" dirty="0" smtClean="0"/>
              <a:t>, D. </a:t>
            </a:r>
            <a:r>
              <a:rPr lang="pt-BR" sz="1800" dirty="0" err="1" smtClean="0"/>
              <a:t>Lin</a:t>
            </a:r>
            <a:r>
              <a:rPr lang="pt-BR" sz="1800" dirty="0" smtClean="0"/>
              <a:t>, A. Singh, E. H. Chi </a:t>
            </a:r>
            <a:r>
              <a:rPr lang="pt-BR" sz="1800" dirty="0" err="1" smtClean="0"/>
              <a:t>and</a:t>
            </a:r>
            <a:r>
              <a:rPr lang="pt-BR" sz="1800" dirty="0" smtClean="0"/>
              <a:t> S. </a:t>
            </a:r>
            <a:r>
              <a:rPr lang="pt-BR" sz="1800" dirty="0" err="1" smtClean="0"/>
              <a:t>Jain</a:t>
            </a:r>
            <a:r>
              <a:rPr lang="pt-BR" sz="1800" dirty="0" smtClean="0"/>
              <a:t>. </a:t>
            </a:r>
            <a:r>
              <a:rPr lang="pt-BR" sz="1800" dirty="0" err="1"/>
              <a:t>Understanding</a:t>
            </a:r>
            <a:r>
              <a:rPr lang="pt-BR" sz="1800" dirty="0"/>
              <a:t> </a:t>
            </a:r>
            <a:r>
              <a:rPr lang="pt-BR" sz="1800" dirty="0" err="1"/>
              <a:t>and</a:t>
            </a:r>
            <a:r>
              <a:rPr lang="pt-BR" sz="1800" dirty="0"/>
              <a:t> </a:t>
            </a:r>
            <a:r>
              <a:rPr lang="pt-BR" sz="1800" dirty="0" err="1"/>
              <a:t>Improving</a:t>
            </a:r>
            <a:r>
              <a:rPr lang="pt-BR" sz="1800" dirty="0"/>
              <a:t> </a:t>
            </a:r>
            <a:r>
              <a:rPr lang="pt-BR" sz="1800" dirty="0" err="1"/>
              <a:t>Knowledge</a:t>
            </a:r>
            <a:r>
              <a:rPr lang="pt-BR" sz="1800" dirty="0"/>
              <a:t> </a:t>
            </a:r>
            <a:r>
              <a:rPr lang="pt-BR" sz="1800" dirty="0" err="1"/>
              <a:t>Distillation</a:t>
            </a:r>
            <a:r>
              <a:rPr lang="pt-BR" sz="1800" dirty="0"/>
              <a:t>, </a:t>
            </a:r>
            <a:r>
              <a:rPr lang="pt-BR" sz="1800" dirty="0" err="1">
                <a:latin typeface="Calibri" charset="0"/>
                <a:ea typeface="Calibri" charset="0"/>
                <a:cs typeface="Calibri" charset="0"/>
              </a:rPr>
              <a:t>eprint</a:t>
            </a:r>
            <a:r>
              <a:rPr lang="pt-BR" sz="1800" dirty="0">
                <a:latin typeface="Calibri" charset="0"/>
                <a:ea typeface="Calibri" charset="0"/>
                <a:cs typeface="Calibri" charset="0"/>
              </a:rPr>
              <a:t> </a:t>
            </a:r>
            <a:r>
              <a:rPr lang="nb-NO" sz="1800" dirty="0" smtClean="0">
                <a:latin typeface="Calibri" charset="0"/>
                <a:ea typeface="Calibri" charset="0"/>
                <a:cs typeface="Calibri" charset="0"/>
              </a:rPr>
              <a:t>2002.03532</a:t>
            </a:r>
            <a:r>
              <a:rPr lang="pt-BR" sz="1800" dirty="0" smtClean="0"/>
              <a:t>, 2021, </a:t>
            </a:r>
            <a:r>
              <a:rPr lang="mr-IN" sz="1800" u="sng" dirty="0">
                <a:latin typeface="Calibri" charset="0"/>
                <a:ea typeface="Calibri" charset="0"/>
                <a:cs typeface="Calibri" charset="0"/>
                <a:hlinkClick r:id="rId5"/>
              </a:rPr>
              <a:t>https://</a:t>
            </a:r>
            <a:r>
              <a:rPr lang="mr-IN" sz="1800" u="sng" dirty="0" smtClean="0">
                <a:latin typeface="Calibri" charset="0"/>
                <a:ea typeface="Calibri" charset="0"/>
                <a:cs typeface="Calibri" charset="0"/>
                <a:hlinkClick r:id="rId5"/>
              </a:rPr>
              <a:t>doi.org/10.48550/arXiv.2002.03532</a:t>
            </a:r>
            <a:endParaRPr lang="pt-BR" sz="1800" u="sng" dirty="0" smtClean="0">
              <a:latin typeface="Calibri" charset="0"/>
              <a:ea typeface="Calibri" charset="0"/>
              <a:cs typeface="Calibri" charset="0"/>
            </a:endParaRPr>
          </a:p>
          <a:p>
            <a:pPr marL="0" indent="0">
              <a:buNone/>
            </a:pPr>
            <a:r>
              <a:rPr lang="pt-BR" sz="1800" dirty="0" smtClean="0"/>
              <a:t>[5] </a:t>
            </a:r>
            <a:r>
              <a:rPr lang="en-US" sz="1800" dirty="0"/>
              <a:t>Gou, J., Yu, B., Maybank, S.J. et al. Knowledge Distillation: A Survey. </a:t>
            </a:r>
            <a:r>
              <a:rPr lang="en-US" sz="1800" dirty="0" err="1"/>
              <a:t>Int</a:t>
            </a:r>
            <a:r>
              <a:rPr lang="en-US" sz="1800" dirty="0"/>
              <a:t> J </a:t>
            </a:r>
            <a:r>
              <a:rPr lang="en-US" sz="1800" dirty="0" err="1"/>
              <a:t>Comput</a:t>
            </a:r>
            <a:r>
              <a:rPr lang="en-US" sz="1800" dirty="0"/>
              <a:t> Vis 129, </a:t>
            </a:r>
            <a:r>
              <a:rPr lang="en-US" sz="1800" dirty="0" smtClean="0"/>
              <a:t>1789–1819, 2021. </a:t>
            </a:r>
            <a:r>
              <a:rPr lang="en-US" sz="1800" dirty="0">
                <a:hlinkClick r:id="rId6"/>
              </a:rPr>
              <a:t>https://</a:t>
            </a:r>
            <a:r>
              <a:rPr lang="en-US" sz="1800" dirty="0" err="1">
                <a:hlinkClick r:id="rId6"/>
              </a:rPr>
              <a:t>doi.org</a:t>
            </a:r>
            <a:r>
              <a:rPr lang="en-US" sz="1800" dirty="0">
                <a:hlinkClick r:id="rId6"/>
              </a:rPr>
              <a:t>/10.1007/s11263-021-01453-z</a:t>
            </a:r>
            <a:endParaRPr lang="pt-BR" sz="1800" dirty="0">
              <a:latin typeface="Calibri" charset="0"/>
              <a:ea typeface="Calibri" charset="0"/>
              <a:cs typeface="Calibri" charset="0"/>
            </a:endParaRPr>
          </a:p>
        </p:txBody>
      </p:sp>
    </p:spTree>
    <p:extLst>
      <p:ext uri="{BB962C8B-B14F-4D97-AF65-F5344CB8AC3E}">
        <p14:creationId xmlns:p14="http://schemas.microsoft.com/office/powerpoint/2010/main" val="1787264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265570461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9442</TotalTime>
  <Words>1656</Words>
  <Application>Microsoft Macintosh PowerPoint</Application>
  <PresentationFormat>Widescreen</PresentationFormat>
  <Paragraphs>117</Paragraphs>
  <Slides>19</Slides>
  <Notes>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19</vt:i4>
      </vt:variant>
    </vt:vector>
  </HeadingPairs>
  <TitlesOfParts>
    <vt:vector size="24" baseType="lpstr">
      <vt:lpstr>Calibri</vt:lpstr>
      <vt:lpstr>Calibri Light</vt:lpstr>
      <vt:lpstr>Mangal</vt:lpstr>
      <vt:lpstr>Arial</vt:lpstr>
      <vt:lpstr>Tema do Office</vt:lpstr>
      <vt:lpstr>TP558 - Tópicos avançados em Machine Learning: Knowledge Distillation</vt:lpstr>
      <vt:lpstr>Abertura</vt:lpstr>
      <vt:lpstr>Introdução do artigo</vt:lpstr>
      <vt:lpstr>Fundamentação teórica</vt:lpstr>
      <vt:lpstr>Metodologia</vt:lpstr>
      <vt:lpstr>Metodologia</vt:lpstr>
      <vt:lpstr>Metodologia</vt:lpstr>
      <vt:lpstr>Metodologia</vt:lpstr>
      <vt:lpstr>Metodologia</vt:lpstr>
      <vt:lpstr>Metodologia</vt:lpstr>
      <vt:lpstr>Metodologia</vt:lpstr>
      <vt:lpstr>REPRODUÇÃO DO EXPERIMENTO</vt:lpstr>
      <vt:lpstr>Resultados Treinamento MNIST</vt:lpstr>
      <vt:lpstr>Análise</vt:lpstr>
      <vt:lpstr>Análise</vt:lpstr>
      <vt:lpstr>Conclusão</vt:lpstr>
      <vt:lpstr>Apresentação do PowerPoint</vt:lpstr>
      <vt:lpstr>Referências</vt:lpstr>
      <vt:lpstr>Apresentação do PowerPoint</vt:lpstr>
    </vt:vector>
  </TitlesOfParts>
  <LinksUpToDate>false</LinksUpToDate>
  <SharedDoc>false</SharedDoc>
  <HyperlinksChanged>false</HyperlinksChanged>
  <AppVersion>15.0022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Usuário do Microsoft Office</cp:lastModifiedBy>
  <cp:revision>1755</cp:revision>
  <dcterms:created xsi:type="dcterms:W3CDTF">2020-01-20T13:50:05Z</dcterms:created>
  <dcterms:modified xsi:type="dcterms:W3CDTF">2026-08-18T03:20:20Z</dcterms:modified>
</cp:coreProperties>
</file>