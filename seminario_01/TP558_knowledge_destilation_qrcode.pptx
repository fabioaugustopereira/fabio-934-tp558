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307" r:id="rId3"/>
    <p:sldId id="326" r:id="rId4"/>
    <p:sldId id="315" r:id="rId5"/>
    <p:sldId id="328" r:id="rId6"/>
    <p:sldId id="335" r:id="rId7"/>
    <p:sldId id="308" r:id="rId8"/>
    <p:sldId id="309" r:id="rId9"/>
    <p:sldId id="327" r:id="rId10"/>
    <p:sldId id="319" r:id="rId11"/>
    <p:sldId id="331" r:id="rId12"/>
    <p:sldId id="317" r:id="rId13"/>
    <p:sldId id="329" r:id="rId14"/>
    <p:sldId id="330" r:id="rId15"/>
    <p:sldId id="323" r:id="rId16"/>
    <p:sldId id="332" r:id="rId17"/>
    <p:sldId id="333" r:id="rId18"/>
    <p:sldId id="334" r:id="rId19"/>
    <p:sldId id="318" r:id="rId20"/>
    <p:sldId id="320" r:id="rId21"/>
    <p:sldId id="324" r:id="rId22"/>
    <p:sldId id="310" r:id="rId23"/>
    <p:sldId id="311" r:id="rId24"/>
    <p:sldId id="325" r:id="rId25"/>
    <p:sldId id="312" r:id="rId26"/>
    <p:sldId id="293" r:id="rId27"/>
    <p:sldId id="314" r:id="rId28"/>
    <p:sldId id="306" r:id="rId29"/>
    <p:sldId id="336" r:id="rId30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37" autoAdjust="0"/>
    <p:restoredTop sz="79459" autoAdjust="0"/>
  </p:normalViewPr>
  <p:slideViewPr>
    <p:cSldViewPr snapToGrid="0">
      <p:cViewPr varScale="1">
        <p:scale>
          <a:sx n="80" d="100"/>
          <a:sy n="80" d="100"/>
        </p:scale>
        <p:origin x="1392" y="184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handoutMaster" Target="handoutMasters/handoutMaster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microsoft.com/office/2015/10/relationships/revisionInfo" Target="revisionInfo.xml"/><Relationship Id="rId3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20/08/26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‹n.º›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192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857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283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6487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965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5935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B978-0-32-385787-1.00013-0" TargetMode="External"/><Relationship Id="rId4" Type="http://schemas.openxmlformats.org/officeDocument/2006/relationships/hyperlink" Target="https://doi.org/10.48550/arXiv.1910.01348" TargetMode="External"/><Relationship Id="rId5" Type="http://schemas.openxmlformats.org/officeDocument/2006/relationships/hyperlink" Target="https://doi.org/10.48550/arXiv.2002.03532" TargetMode="External"/><Relationship Id="rId6" Type="http://schemas.openxmlformats.org/officeDocument/2006/relationships/hyperlink" Target="https://link.springer.com/article/10.1007/s11263-021-01453-z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i.org/10.48550/arXiv.1503.02531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hyperlink" Target="https://docs.google.com/forms/d/e/1FAIpQLSdy75thx6_oe_FtgGiD68gvmlCmo0wno_9L9VvTWsi9Z1LKjg/viewfor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TP558 - Tópicos avançados em Machine Learning:</a:t>
            </a:r>
            <a:r>
              <a:rPr lang="pt-BR" dirty="0"/>
              <a:t/>
            </a:r>
            <a:br>
              <a:rPr lang="pt-BR" dirty="0"/>
            </a:br>
            <a:r>
              <a:rPr lang="pt-BR" b="1" i="1" dirty="0" err="1"/>
              <a:t>Knowledge</a:t>
            </a:r>
            <a:r>
              <a:rPr lang="pt-BR" b="1" i="1" dirty="0"/>
              <a:t> </a:t>
            </a:r>
            <a:r>
              <a:rPr lang="pt-BR" b="1" i="1" dirty="0" err="1"/>
              <a:t>Distillation</a:t>
            </a:r>
            <a:endParaRPr lang="pt-BR" b="1" i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/>
              <a:t>Fábio Augusto Pereira</a:t>
            </a:r>
            <a:endParaRPr lang="pt-BR" sz="2000" dirty="0"/>
          </a:p>
          <a:p>
            <a:r>
              <a:rPr lang="pt-BR" dirty="0" err="1" smtClean="0"/>
              <a:t>fabio.pereira@mtel.inatel.br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xmlns="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8038" y="365125"/>
            <a:ext cx="2335924" cy="1325563"/>
          </a:xfrm>
        </p:spPr>
        <p:txBody>
          <a:bodyPr/>
          <a:lstStyle/>
          <a:p>
            <a:pPr algn="ctr"/>
            <a:r>
              <a:rPr lang="pt-BR" dirty="0"/>
              <a:t>Abertura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dirty="0" smtClean="0"/>
              <a:t>Uma </a:t>
            </a:r>
            <a:r>
              <a:rPr lang="pt-BR" dirty="0"/>
              <a:t>técnica de compressão de </a:t>
            </a:r>
            <a:r>
              <a:rPr lang="pt-BR" dirty="0" err="1" smtClean="0"/>
              <a:t>Machine</a:t>
            </a:r>
            <a:r>
              <a:rPr lang="pt-BR" dirty="0" smtClean="0"/>
              <a:t> Learning chamada </a:t>
            </a:r>
            <a:r>
              <a:rPr lang="pt-BR" dirty="0"/>
              <a:t>de </a:t>
            </a:r>
            <a:r>
              <a:rPr lang="pt-BR" dirty="0" err="1" smtClean="0"/>
              <a:t>Knowledge</a:t>
            </a:r>
            <a:r>
              <a:rPr lang="pt-BR" dirty="0" smtClean="0"/>
              <a:t> </a:t>
            </a:r>
            <a:r>
              <a:rPr lang="pt-BR" dirty="0" err="1" smtClean="0"/>
              <a:t>Distillation</a:t>
            </a:r>
            <a:r>
              <a:rPr lang="pt-BR" dirty="0"/>
              <a:t> </a:t>
            </a:r>
            <a:r>
              <a:rPr lang="pt-BR" dirty="0" smtClean="0"/>
              <a:t>(destilação de conhecimento)</a:t>
            </a:r>
          </a:p>
          <a:p>
            <a:pPr fontAlgn="base"/>
            <a:r>
              <a:rPr lang="pt-BR" dirty="0" smtClean="0"/>
              <a:t>Propósito </a:t>
            </a:r>
            <a:r>
              <a:rPr lang="pt-BR" dirty="0"/>
              <a:t>do método é pegar o vasto conhecimento de modelos gigantes ou de múltiplos modelos agrupados (ensembles) - que costumam ser lentos e caros para processar na prática - e transferi-lo para um único modelo </a:t>
            </a:r>
            <a:r>
              <a:rPr lang="pt-BR" dirty="0" smtClean="0"/>
              <a:t>menor</a:t>
            </a:r>
          </a:p>
          <a:p>
            <a:pPr fontAlgn="base"/>
            <a:r>
              <a:rPr lang="pt-BR" dirty="0" smtClean="0"/>
              <a:t>um modelo reduzido que atinge </a:t>
            </a:r>
            <a:r>
              <a:rPr lang="pt-BR" dirty="0"/>
              <a:t>um alto desempenho preditivo ao mesmo tempo em que consome muito menos </a:t>
            </a:r>
            <a:r>
              <a:rPr lang="pt-BR" dirty="0" smtClean="0"/>
              <a:t>recursos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836" y="1058370"/>
            <a:ext cx="9402891" cy="4351338"/>
          </a:xfrm>
        </p:spPr>
      </p:pic>
      <p:sp>
        <p:nvSpPr>
          <p:cNvPr id="6" name="Retângulo 5"/>
          <p:cNvSpPr/>
          <p:nvPr/>
        </p:nvSpPr>
        <p:spPr>
          <a:xfrm>
            <a:off x="10044567" y="5409708"/>
            <a:ext cx="73904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dirty="0" smtClean="0"/>
              <a:t>Fonte : [5]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98556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5818"/>
            <a:ext cx="10515600" cy="2830458"/>
          </a:xfrm>
        </p:spPr>
        <p:txBody>
          <a:bodyPr>
            <a:normAutofit lnSpcReduction="10000"/>
          </a:bodyPr>
          <a:lstStyle/>
          <a:p>
            <a:pPr marL="0" indent="0" algn="ctr" fontAlgn="base">
              <a:buNone/>
            </a:pPr>
            <a:r>
              <a:rPr lang="pt-BR" dirty="0" smtClean="0"/>
              <a:t>Também podem ser transferidos</a:t>
            </a:r>
          </a:p>
          <a:p>
            <a:pPr fontAlgn="base"/>
            <a:r>
              <a:rPr lang="pt-BR" dirty="0" smtClean="0"/>
              <a:t>Probabilidades</a:t>
            </a:r>
            <a:endParaRPr lang="pt-BR" b="1" dirty="0"/>
          </a:p>
          <a:p>
            <a:pPr fontAlgn="base"/>
            <a:r>
              <a:rPr lang="pt-BR" dirty="0" smtClean="0"/>
              <a:t>Relações entre as amostras</a:t>
            </a:r>
            <a:endParaRPr lang="pt-BR" b="1" dirty="0"/>
          </a:p>
          <a:p>
            <a:pPr fontAlgn="base"/>
            <a:r>
              <a:rPr lang="pt-BR" dirty="0" smtClean="0"/>
              <a:t>Representações</a:t>
            </a:r>
          </a:p>
          <a:p>
            <a:pPr fontAlgn="base"/>
            <a:r>
              <a:rPr lang="pt-BR" dirty="0" smtClean="0"/>
              <a:t>Geometria do espaço de características</a:t>
            </a:r>
          </a:p>
          <a:p>
            <a:pPr fontAlgn="base"/>
            <a:r>
              <a:rPr lang="pt-BR" dirty="0" smtClean="0"/>
              <a:t>Informações entre as camadas</a:t>
            </a:r>
            <a:endParaRPr lang="pt-BR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xmlns="" id="{A9FDF00C-07E3-57DD-2C43-753297609C4B}"/>
              </a:ext>
            </a:extLst>
          </p:cNvPr>
          <p:cNvSpPr txBox="1">
            <a:spLocks/>
          </p:cNvSpPr>
          <p:nvPr/>
        </p:nvSpPr>
        <p:spPr>
          <a:xfrm>
            <a:off x="838200" y="4547805"/>
            <a:ext cx="10515600" cy="1663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buFont typeface="Arial" panose="020B0604020202020204" pitchFamily="34" charset="0"/>
              <a:buNone/>
            </a:pPr>
            <a:r>
              <a:rPr lang="pt-BR" dirty="0" err="1" smtClean="0"/>
              <a:t>Knowledge</a:t>
            </a:r>
            <a:r>
              <a:rPr lang="pt-BR" dirty="0" smtClean="0"/>
              <a:t> </a:t>
            </a:r>
            <a:r>
              <a:rPr lang="pt-BR" dirty="0" err="1" smtClean="0"/>
              <a:t>Distillation</a:t>
            </a:r>
            <a:r>
              <a:rPr lang="pt-BR" dirty="0" smtClean="0"/>
              <a:t> pode ser entendido como ensinar uma rede neural pequena a não apenas dar a resposta certa, mas reproduzir em partes a forma como uma rede neural grande representa e organiza o conhecimento</a:t>
            </a:r>
          </a:p>
        </p:txBody>
      </p:sp>
    </p:spTree>
    <p:extLst>
      <p:ext uri="{BB962C8B-B14F-4D97-AF65-F5344CB8AC3E}">
        <p14:creationId xmlns:p14="http://schemas.microsoft.com/office/powerpoint/2010/main" val="298283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072" y="365125"/>
            <a:ext cx="4805855" cy="1325563"/>
          </a:xfrm>
        </p:spPr>
        <p:txBody>
          <a:bodyPr/>
          <a:lstStyle/>
          <a:p>
            <a:r>
              <a:rPr lang="pt-BR" dirty="0"/>
              <a:t>Introdução do artigo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pt-BR" dirty="0" smtClean="0"/>
              <a:t>Obter </a:t>
            </a:r>
            <a:r>
              <a:rPr lang="pt-BR" dirty="0"/>
              <a:t>um modelo pequeno e barato para inferência que preserve grande parte do conhecimento aprendido por um modelo grande ou por um ensemble de </a:t>
            </a:r>
            <a:r>
              <a:rPr lang="pt-BR" dirty="0" smtClean="0"/>
              <a:t>modelos</a:t>
            </a:r>
            <a:endParaRPr lang="pt-BR" b="1" dirty="0"/>
          </a:p>
          <a:p>
            <a:pPr fontAlgn="base"/>
            <a:r>
              <a:rPr lang="pt-BR" dirty="0" smtClean="0"/>
              <a:t>Questionam </a:t>
            </a:r>
            <a:r>
              <a:rPr lang="pt-BR" dirty="0"/>
              <a:t>a ideia de que o conhecimento de uma rede está simplesmente armazenado em seus </a:t>
            </a:r>
            <a:r>
              <a:rPr lang="pt-BR" dirty="0" smtClean="0"/>
              <a:t>pesos e propõem que o conhecimento é aprendido </a:t>
            </a:r>
            <a:r>
              <a:rPr lang="pt-BR" dirty="0"/>
              <a:t>entre entrada e </a:t>
            </a:r>
            <a:r>
              <a:rPr lang="pt-BR" dirty="0" smtClean="0"/>
              <a:t>saída</a:t>
            </a:r>
            <a:r>
              <a:rPr lang="pt-BR" dirty="0"/>
              <a:t>	​</a:t>
            </a:r>
            <a:r>
              <a:rPr lang="pt-BR" dirty="0" smtClean="0"/>
              <a:t>, assim pode-se </a:t>
            </a:r>
            <a:r>
              <a:rPr lang="pt-BR" dirty="0"/>
              <a:t>mudar a arquitetura e ainda preservar parte do conhecimento </a:t>
            </a:r>
            <a:r>
              <a:rPr lang="pt-BR" dirty="0" smtClean="0"/>
              <a:t>aprendido</a:t>
            </a:r>
            <a:endParaRPr lang="pt-BR" b="1" dirty="0"/>
          </a:p>
          <a:p>
            <a:pPr fontAlgn="base"/>
            <a:r>
              <a:rPr lang="pt-BR" dirty="0"/>
              <a:t>Contribuições </a:t>
            </a:r>
            <a:r>
              <a:rPr lang="pt-BR" dirty="0" smtClean="0"/>
              <a:t>é o conceito que a </a:t>
            </a:r>
            <a:r>
              <a:rPr lang="pt-BR" dirty="0"/>
              <a:t>estrutura de similaridade aprendida pelo </a:t>
            </a:r>
            <a:r>
              <a:rPr lang="pt-BR" dirty="0" smtClean="0"/>
              <a:t>modelo, ou seja, unir o aprendizado de modelos mais complexos a modelos mais leves e enxutos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91758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972" y="1976101"/>
            <a:ext cx="5851634" cy="403596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522" y="0"/>
            <a:ext cx="5986956" cy="1325563"/>
          </a:xfrm>
        </p:spPr>
        <p:txBody>
          <a:bodyPr/>
          <a:lstStyle/>
          <a:p>
            <a:r>
              <a:rPr lang="pt-BR" smtClean="0"/>
              <a:t>Conceito de Temperatura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1588"/>
            <a:ext cx="10515600" cy="1316968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pt-BR" dirty="0" smtClean="0"/>
              <a:t>Obter resultados não somente </a:t>
            </a:r>
            <a:r>
              <a:rPr lang="pt-BR" dirty="0"/>
              <a:t>com rótulos </a:t>
            </a:r>
            <a:r>
              <a:rPr lang="pt-BR" dirty="0" smtClean="0"/>
              <a:t>(hard </a:t>
            </a:r>
            <a:r>
              <a:rPr lang="pt-BR" dirty="0" err="1" smtClean="0"/>
              <a:t>target</a:t>
            </a:r>
            <a:r>
              <a:rPr lang="pt-BR" dirty="0" smtClean="0"/>
              <a:t>), </a:t>
            </a:r>
            <a:r>
              <a:rPr lang="pt-BR" dirty="0"/>
              <a:t>o método utiliza as distribuições de probabilidade produzidas pelo </a:t>
            </a:r>
            <a:r>
              <a:rPr lang="pt-BR" dirty="0" smtClean="0"/>
              <a:t>professor como </a:t>
            </a:r>
            <a:r>
              <a:rPr lang="pt-BR" dirty="0"/>
              <a:t>soft </a:t>
            </a:r>
            <a:r>
              <a:rPr lang="pt-BR" dirty="0" err="1" smtClean="0"/>
              <a:t>targets</a:t>
            </a:r>
            <a:r>
              <a:rPr lang="pt-BR" dirty="0" smtClean="0"/>
              <a:t>, </a:t>
            </a:r>
            <a:r>
              <a:rPr lang="pt-BR" dirty="0"/>
              <a:t>ou seja, </a:t>
            </a:r>
            <a:r>
              <a:rPr lang="pt-BR" dirty="0" smtClean="0"/>
              <a:t>a </a:t>
            </a:r>
            <a:r>
              <a:rPr lang="pt-BR" dirty="0"/>
              <a:t>temperatura permite controlar a quantidade de informação revelada nas probabilidades.</a:t>
            </a:r>
            <a:endParaRPr lang="pt-BR" b="1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xmlns="" id="{A9FDF00C-07E3-57DD-2C43-753297609C4B}"/>
              </a:ext>
            </a:extLst>
          </p:cNvPr>
          <p:cNvSpPr txBox="1">
            <a:spLocks/>
          </p:cNvSpPr>
          <p:nvPr/>
        </p:nvSpPr>
        <p:spPr>
          <a:xfrm>
            <a:off x="1655378" y="6239173"/>
            <a:ext cx="8326821" cy="42343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dirty="0"/>
              <a:t>A melhor temperatura depende do tamanho e da capacidade </a:t>
            </a:r>
            <a:r>
              <a:rPr lang="pt-BR"/>
              <a:t>do </a:t>
            </a:r>
            <a:r>
              <a:rPr lang="pt-BR" smtClean="0"/>
              <a:t>estudante.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3329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3169" y="365125"/>
            <a:ext cx="5625662" cy="1325563"/>
          </a:xfrm>
        </p:spPr>
        <p:txBody>
          <a:bodyPr/>
          <a:lstStyle/>
          <a:p>
            <a:r>
              <a:rPr lang="pt-BR" dirty="0"/>
              <a:t>Fundamentação teórica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43092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pt-BR" dirty="0" smtClean="0"/>
              <a:t>Transferência conhecimento de um modelo mais complexo(professor) para um modelo menor(aluno)</a:t>
            </a:r>
            <a:endParaRPr lang="pt-BR" b="1" dirty="0"/>
          </a:p>
          <a:p>
            <a:pPr fontAlgn="base"/>
            <a:r>
              <a:rPr lang="pt-BR" dirty="0" smtClean="0"/>
              <a:t>Utiliza temperatura para classificar na camada de função de ativação </a:t>
            </a:r>
            <a:r>
              <a:rPr lang="pt-BR" dirty="0" err="1" smtClean="0"/>
              <a:t>softmax</a:t>
            </a:r>
            <a:r>
              <a:rPr lang="pt-BR" dirty="0" smtClean="0"/>
              <a:t>, valores mais altos probabilidades mais suaves</a:t>
            </a:r>
            <a:endParaRPr lang="pt-BR" b="1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xmlns="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838200" y="4989239"/>
            <a:ext cx="7363810" cy="5650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dirty="0" smtClean="0"/>
              <a:t>Quanto maior </a:t>
            </a:r>
            <a:r>
              <a:rPr lang="pt-BR" dirty="0" err="1" smtClean="0"/>
              <a:t>T</a:t>
            </a:r>
            <a:r>
              <a:rPr lang="pt-BR" dirty="0" smtClean="0"/>
              <a:t>, mais suave será a distribuição</a:t>
            </a:r>
            <a:endParaRPr lang="pt-BR" b="1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410" y="3656177"/>
            <a:ext cx="2463800" cy="96520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520" y="3826670"/>
            <a:ext cx="2197100" cy="736600"/>
          </a:xfrm>
          <a:prstGeom prst="rect">
            <a:avLst/>
          </a:prstGeom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xmlns="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3146534" y="4507077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(1)</a:t>
            </a:r>
            <a:endParaRPr lang="pt-BR" sz="1600" b="1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xmlns="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8202010" y="4507077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(2)</a:t>
            </a:r>
            <a:endParaRPr lang="pt-BR" sz="1600" b="1" dirty="0"/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xmlns="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9595725" y="4342170"/>
            <a:ext cx="1606769" cy="278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200" dirty="0" err="1"/>
              <a:t>z</a:t>
            </a:r>
            <a:r>
              <a:rPr lang="pt-BR" sz="1200" dirty="0" err="1" smtClean="0"/>
              <a:t>i</a:t>
            </a:r>
            <a:r>
              <a:rPr lang="pt-BR" sz="1200" dirty="0" smtClean="0"/>
              <a:t> = modelo destilado</a:t>
            </a:r>
            <a:endParaRPr lang="pt-BR" sz="1200" b="1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xmlns="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9595724" y="4563270"/>
            <a:ext cx="1606769" cy="2789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200" dirty="0"/>
              <a:t>v</a:t>
            </a:r>
            <a:r>
              <a:rPr lang="pt-BR" sz="1200" dirty="0" smtClean="0"/>
              <a:t>i = dados brutos(</a:t>
            </a:r>
            <a:r>
              <a:rPr lang="pt-BR" sz="1200" dirty="0" err="1" smtClean="0"/>
              <a:t>logits</a:t>
            </a:r>
            <a:r>
              <a:rPr lang="pt-BR" sz="1200" dirty="0" smtClean="0"/>
              <a:t>)</a:t>
            </a: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5431" y="365125"/>
            <a:ext cx="3061138" cy="1325563"/>
          </a:xfrm>
        </p:spPr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62664"/>
          </a:xfrm>
        </p:spPr>
        <p:txBody>
          <a:bodyPr>
            <a:normAutofit lnSpcReduction="10000"/>
          </a:bodyPr>
          <a:lstStyle/>
          <a:p>
            <a:pPr fontAlgn="base"/>
            <a:r>
              <a:rPr lang="pt-BR" dirty="0" smtClean="0"/>
              <a:t>modelos </a:t>
            </a:r>
            <a:r>
              <a:rPr lang="pt-BR" dirty="0"/>
              <a:t>robustos aprendem a reconhecer a classe correta, mas também atribuem probabilidades ínfimas às opções incorretas. A proporção entre essas probabilidades incorretas contém dados cruciais sobre como o modelo </a:t>
            </a:r>
            <a:r>
              <a:rPr lang="pt-BR" dirty="0" smtClean="0"/>
              <a:t>generaliza</a:t>
            </a:r>
          </a:p>
          <a:p>
            <a:pPr fontAlgn="base"/>
            <a:r>
              <a:rPr lang="pt-BR" dirty="0" smtClean="0"/>
              <a:t>O </a:t>
            </a:r>
            <a:r>
              <a:rPr lang="pt-BR" dirty="0"/>
              <a:t>algoritmo ajusta um parâmetro matemático chamado "temperatura" </a:t>
            </a:r>
            <a:r>
              <a:rPr lang="pt-BR" dirty="0" smtClean="0"/>
              <a:t>na </a:t>
            </a:r>
            <a:r>
              <a:rPr lang="pt-BR" dirty="0"/>
              <a:t>camada </a:t>
            </a:r>
            <a:r>
              <a:rPr lang="pt-BR" dirty="0" err="1" smtClean="0"/>
              <a:t>softmax</a:t>
            </a:r>
            <a:r>
              <a:rPr lang="pt-BR" dirty="0" smtClean="0"/>
              <a:t>, aumentado </a:t>
            </a:r>
            <a:r>
              <a:rPr lang="pt-BR" dirty="0"/>
              <a:t>a temperatura gera distribuições mais suaves e revela os padrões escondidos sobre os </a:t>
            </a:r>
            <a:r>
              <a:rPr lang="pt-BR" dirty="0" smtClean="0"/>
              <a:t>dados</a:t>
            </a:r>
          </a:p>
          <a:p>
            <a:pPr fontAlgn="base"/>
            <a:r>
              <a:rPr lang="pt-BR" dirty="0"/>
              <a:t>A otimização utiliza uma média ponderada entre duas funções: a primeira tenta replicar os soft </a:t>
            </a:r>
            <a:r>
              <a:rPr lang="pt-BR" dirty="0" err="1"/>
              <a:t>targets</a:t>
            </a:r>
            <a:r>
              <a:rPr lang="pt-BR" dirty="0"/>
              <a:t> (usando alta temperatura) e a segunda foca em acertar os rótulos absolutos originais (usando a temperatura normal de 1)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54725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4940955" y="599090"/>
            <a:ext cx="2669628" cy="546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EXPERIMENTOS</a:t>
            </a:r>
            <a:endParaRPr lang="pt-BR" dirty="0"/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644885"/>
              </p:ext>
            </p:extLst>
          </p:nvPr>
        </p:nvGraphicFramePr>
        <p:xfrm>
          <a:off x="1946601" y="1229321"/>
          <a:ext cx="8658336" cy="22250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138889"/>
                <a:gridCol w="451944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EXPERIMENTO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OBJETIVO</a:t>
                      </a:r>
                      <a:endParaRPr lang="pt-BR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MNIST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Demonstrar</a:t>
                      </a:r>
                      <a:r>
                        <a:rPr lang="pt-BR" baseline="0" dirty="0" smtClean="0"/>
                        <a:t> destilação</a:t>
                      </a:r>
                      <a:endParaRPr lang="pt-BR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MNIST com classes</a:t>
                      </a:r>
                      <a:r>
                        <a:rPr lang="pt-BR" baseline="0" dirty="0" smtClean="0"/>
                        <a:t> ausentes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Demonstrar transferência de estrutura</a:t>
                      </a:r>
                      <a:endParaRPr lang="pt-BR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ASR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Demonstrar compressão de ensemble</a:t>
                      </a:r>
                      <a:endParaRPr lang="pt-BR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JFT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Demonstrar especialistas</a:t>
                      </a:r>
                      <a:r>
                        <a:rPr lang="pt-BR" baseline="0" dirty="0" smtClean="0"/>
                        <a:t> em grande escala</a:t>
                      </a:r>
                      <a:endParaRPr lang="pt-BR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3% do </a:t>
                      </a:r>
                      <a:r>
                        <a:rPr lang="pt-BR" dirty="0" err="1" smtClean="0"/>
                        <a:t>dataset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 smtClean="0"/>
                        <a:t>Demonstrar regularização via soft </a:t>
                      </a:r>
                      <a:r>
                        <a:rPr lang="pt-BR" dirty="0" err="1" smtClean="0"/>
                        <a:t>targets</a:t>
                      </a:r>
                      <a:endParaRPr lang="pt-BR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xmlns="" id="{8C5488AE-34B4-EF1D-F674-507FF2FCD122}"/>
              </a:ext>
            </a:extLst>
          </p:cNvPr>
          <p:cNvSpPr txBox="1">
            <a:spLocks/>
          </p:cNvSpPr>
          <p:nvPr/>
        </p:nvSpPr>
        <p:spPr>
          <a:xfrm>
            <a:off x="1290144" y="3656122"/>
            <a:ext cx="10515600" cy="294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pt-BR" sz="2000" dirty="0" smtClean="0"/>
              <a:t>Classificação = mesmo com dados pouco conhecidos, alta taxa acerto</a:t>
            </a:r>
          </a:p>
          <a:p>
            <a:pPr fontAlgn="base"/>
            <a:r>
              <a:rPr lang="pt-BR" sz="2000" dirty="0"/>
              <a:t>Ensemble = uma única rede pode absorver grande parte do ganho de um ensemble sem precisar executar todos os modelos</a:t>
            </a:r>
            <a:endParaRPr lang="pt-BR" sz="2000" dirty="0" smtClean="0"/>
          </a:p>
          <a:p>
            <a:pPr fontAlgn="base"/>
            <a:r>
              <a:rPr lang="pt-BR" sz="2000" dirty="0" smtClean="0"/>
              <a:t>Especialistas = Várias classes semelhantes e difíceis de se distinguir, enquanto o </a:t>
            </a:r>
            <a:r>
              <a:rPr lang="pt-BR" sz="2000" dirty="0"/>
              <a:t>generalista </a:t>
            </a:r>
            <a:r>
              <a:rPr lang="pt-BR" sz="2000" dirty="0" smtClean="0"/>
              <a:t>confunde, </a:t>
            </a:r>
            <a:r>
              <a:rPr lang="pt-BR" sz="2000" dirty="0"/>
              <a:t>as classes </a:t>
            </a:r>
            <a:r>
              <a:rPr lang="pt-BR" sz="2000" dirty="0" smtClean="0"/>
              <a:t>especialistas </a:t>
            </a:r>
            <a:r>
              <a:rPr lang="pt-BR" sz="2000" dirty="0"/>
              <a:t>refinam a </a:t>
            </a:r>
            <a:r>
              <a:rPr lang="pt-BR" sz="2000" dirty="0" smtClean="0"/>
              <a:t>classificação, pois são treinadas independentemente e paralelizadas.</a:t>
            </a:r>
          </a:p>
          <a:p>
            <a:r>
              <a:rPr lang="pt-BR" sz="2000" dirty="0" smtClean="0"/>
              <a:t>Regularização= </a:t>
            </a:r>
            <a:r>
              <a:rPr lang="pt-BR" sz="2000" dirty="0"/>
              <a:t>O </a:t>
            </a:r>
            <a:r>
              <a:rPr lang="pt-BR" sz="2000" dirty="0" smtClean="0"/>
              <a:t>professor é </a:t>
            </a:r>
            <a:r>
              <a:rPr lang="pt-BR" sz="2000" dirty="0"/>
              <a:t>treinado com todo o conjunto de </a:t>
            </a:r>
            <a:r>
              <a:rPr lang="pt-BR" sz="2000" dirty="0" smtClean="0"/>
              <a:t>dados, assim, suas </a:t>
            </a:r>
            <a:r>
              <a:rPr lang="pt-BR" sz="2000" dirty="0"/>
              <a:t>previsões soft são utilizadas para ensinar outro modelo.</a:t>
            </a:r>
          </a:p>
          <a:p>
            <a:pPr fontAlgn="base"/>
            <a:endParaRPr lang="pt-BR" sz="2000" dirty="0" smtClean="0"/>
          </a:p>
        </p:txBody>
      </p:sp>
    </p:spTree>
    <p:extLst>
      <p:ext uri="{BB962C8B-B14F-4D97-AF65-F5344CB8AC3E}">
        <p14:creationId xmlns:p14="http://schemas.microsoft.com/office/powerpoint/2010/main" val="6932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240" y="2193487"/>
            <a:ext cx="10597055" cy="3429547"/>
          </a:xfrm>
        </p:spPr>
        <p:txBody>
          <a:bodyPr>
            <a:normAutofit fontScale="85000" lnSpcReduction="20000"/>
          </a:bodyPr>
          <a:lstStyle/>
          <a:p>
            <a:pPr fontAlgn="base"/>
            <a:r>
              <a:rPr lang="pt-BR" b="1" smtClean="0"/>
              <a:t>Baseado </a:t>
            </a:r>
            <a:r>
              <a:rPr lang="pt-BR" b="1" dirty="0"/>
              <a:t>em Resposta (Response-</a:t>
            </a:r>
            <a:r>
              <a:rPr lang="pt-BR" b="1" dirty="0" err="1"/>
              <a:t>Based</a:t>
            </a:r>
            <a:r>
              <a:rPr lang="pt-BR" dirty="0"/>
              <a:t>): Utiliza as respostas neurais da última camada de saída do modelo professor. A ideia principal é fazer com que o aluno imite diretamente a previsão final (frequentemente chamada de "soft </a:t>
            </a:r>
            <a:r>
              <a:rPr lang="pt-BR" dirty="0" err="1"/>
              <a:t>targets</a:t>
            </a:r>
            <a:r>
              <a:rPr lang="pt-BR" dirty="0"/>
              <a:t>" ou </a:t>
            </a:r>
            <a:r>
              <a:rPr lang="pt-BR" dirty="0" err="1"/>
              <a:t>logits</a:t>
            </a:r>
            <a:r>
              <a:rPr lang="pt-BR" dirty="0"/>
              <a:t>) do professor.</a:t>
            </a:r>
          </a:p>
          <a:p>
            <a:pPr fontAlgn="base"/>
            <a:r>
              <a:rPr lang="pt-BR" b="1" dirty="0"/>
              <a:t>Baseado em Características (</a:t>
            </a:r>
            <a:r>
              <a:rPr lang="pt-BR" b="1" dirty="0" err="1"/>
              <a:t>Feature-Based</a:t>
            </a:r>
            <a:r>
              <a:rPr lang="pt-BR" b="1" dirty="0"/>
              <a:t>)</a:t>
            </a:r>
            <a:r>
              <a:rPr lang="pt-BR" dirty="0"/>
              <a:t>: Utiliza as saídas de mapas de características (</a:t>
            </a:r>
            <a:r>
              <a:rPr lang="pt-BR" dirty="0" err="1"/>
              <a:t>feature</a:t>
            </a:r>
            <a:r>
              <a:rPr lang="pt-BR" dirty="0"/>
              <a:t> </a:t>
            </a:r>
            <a:r>
              <a:rPr lang="pt-BR" dirty="0" err="1"/>
              <a:t>maps</a:t>
            </a:r>
            <a:r>
              <a:rPr lang="pt-BR" dirty="0"/>
              <a:t>) das camadas intermediárias do professor. Serve para fornecer níveis intermediários de supervisão ou "dicas" (</a:t>
            </a:r>
            <a:r>
              <a:rPr lang="pt-BR" dirty="0" err="1"/>
              <a:t>hints</a:t>
            </a:r>
            <a:r>
              <a:rPr lang="pt-BR" dirty="0"/>
              <a:t>) ao aluno, sendo muito importante para treinar redes mais finas e profundas.</a:t>
            </a:r>
            <a:endParaRPr lang="pt-BR" dirty="0" smtClean="0"/>
          </a:p>
          <a:p>
            <a:pPr fontAlgn="base"/>
            <a:r>
              <a:rPr lang="pt-BR" b="1" dirty="0"/>
              <a:t>Baseado em Relação (</a:t>
            </a:r>
            <a:r>
              <a:rPr lang="pt-BR" b="1" dirty="0" err="1"/>
              <a:t>Relation-Based</a:t>
            </a:r>
            <a:r>
              <a:rPr lang="pt-BR" b="1" dirty="0"/>
              <a:t>): </a:t>
            </a:r>
            <a:r>
              <a:rPr lang="pt-BR" dirty="0"/>
              <a:t>Explora não apenas os mapas de características isolados, mas as relações estruturais entre diferentes camadas ou entre amostras de dados </a:t>
            </a:r>
            <a:r>
              <a:rPr lang="pt-BR" dirty="0" smtClean="0"/>
              <a:t>individuais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xmlns="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5760" y="417677"/>
            <a:ext cx="7126013" cy="1325563"/>
          </a:xfrm>
        </p:spPr>
        <p:txBody>
          <a:bodyPr/>
          <a:lstStyle/>
          <a:p>
            <a:pPr algn="ctr" fontAlgn="base"/>
            <a:r>
              <a:rPr lang="pt-BR"/>
              <a:t>Categorias de Conhecimento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518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ço Reservado para Conteúdo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351" y="595914"/>
            <a:ext cx="8498642" cy="5403110"/>
          </a:xfrm>
        </p:spPr>
      </p:pic>
    </p:spTree>
    <p:extLst>
      <p:ext uri="{BB962C8B-B14F-4D97-AF65-F5344CB8AC3E}">
        <p14:creationId xmlns:p14="http://schemas.microsoft.com/office/powerpoint/2010/main" val="156736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41846"/>
            <a:ext cx="10515600" cy="2168306"/>
          </a:xfrm>
        </p:spPr>
        <p:txBody>
          <a:bodyPr>
            <a:normAutofit/>
          </a:bodyPr>
          <a:lstStyle/>
          <a:p>
            <a:pPr marL="0" indent="0" algn="ctr" fontAlgn="base">
              <a:buNone/>
            </a:pPr>
            <a:r>
              <a:rPr lang="pt-BR" dirty="0"/>
              <a:t>O desempenho do processo de destilação também é afetado pela forma como o modelo professor é preparado e </a:t>
            </a:r>
            <a:r>
              <a:rPr lang="pt-BR" dirty="0" smtClean="0"/>
              <a:t>gerenciado</a:t>
            </a:r>
            <a:endParaRPr lang="pt-BR" dirty="0"/>
          </a:p>
          <a:p>
            <a:pPr fontAlgn="base"/>
            <a:r>
              <a:rPr lang="pt-BR" b="1" dirty="0"/>
              <a:t>Destilação </a:t>
            </a:r>
            <a:r>
              <a:rPr lang="pt-BR" b="1" dirty="0" err="1"/>
              <a:t>Offline</a:t>
            </a:r>
            <a:r>
              <a:rPr lang="pt-BR" b="1" dirty="0"/>
              <a:t>: </a:t>
            </a:r>
            <a:r>
              <a:rPr lang="pt-BR" dirty="0"/>
              <a:t>O modelo professor é totalmente </a:t>
            </a:r>
            <a:r>
              <a:rPr lang="pt-BR" dirty="0" err="1"/>
              <a:t>pré</a:t>
            </a:r>
            <a:r>
              <a:rPr lang="pt-BR" dirty="0"/>
              <a:t>-treinado e seus pesos são fixados antes do início do treinamento do modelo aluno</a:t>
            </a:r>
            <a:r>
              <a:rPr lang="pt-BR" dirty="0" smtClean="0"/>
              <a:t>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xmlns="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902" y="330420"/>
            <a:ext cx="5276193" cy="980199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Esquemas </a:t>
            </a:r>
            <a:r>
              <a:rPr lang="pt-BR" smtClean="0"/>
              <a:t>de Destilação</a:t>
            </a:r>
            <a:endParaRPr lang="pt-BR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059" y="3512645"/>
            <a:ext cx="61595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43699"/>
          </a:xfrm>
        </p:spPr>
        <p:txBody>
          <a:bodyPr>
            <a:normAutofit/>
          </a:bodyPr>
          <a:lstStyle/>
          <a:p>
            <a:pPr fontAlgn="base"/>
            <a:r>
              <a:rPr lang="pt-BR" b="1" dirty="0" smtClean="0"/>
              <a:t>Destilação </a:t>
            </a:r>
            <a:r>
              <a:rPr lang="pt-BR" b="1" dirty="0"/>
              <a:t>Online</a:t>
            </a:r>
            <a:r>
              <a:rPr lang="pt-BR" dirty="0"/>
              <a:t>: O modelo professor e o modelo aluno são treinados de maneira </a:t>
            </a:r>
            <a:r>
              <a:rPr lang="pt-BR"/>
              <a:t>simultânea</a:t>
            </a:r>
            <a:r>
              <a:rPr lang="pt-BR" smtClean="0"/>
              <a:t>.</a:t>
            </a:r>
            <a:endParaRPr lang="pt-BR" dirty="0" smtClean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49" y="3350173"/>
            <a:ext cx="5905500" cy="212090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xmlns="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902" y="330420"/>
            <a:ext cx="5276193" cy="980199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Esquemas </a:t>
            </a:r>
            <a:r>
              <a:rPr lang="pt-BR" smtClean="0"/>
              <a:t>de Destilação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657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10954"/>
          </a:xfrm>
        </p:spPr>
        <p:txBody>
          <a:bodyPr>
            <a:normAutofit/>
          </a:bodyPr>
          <a:lstStyle/>
          <a:p>
            <a:pPr fontAlgn="base"/>
            <a:r>
              <a:rPr lang="pt-BR" b="1" smtClean="0"/>
              <a:t>Auto-destilação</a:t>
            </a:r>
            <a:r>
              <a:rPr lang="pt-BR" b="1" dirty="0" smtClean="0"/>
              <a:t> </a:t>
            </a:r>
            <a:r>
              <a:rPr lang="pt-BR" b="1" dirty="0"/>
              <a:t>(Self-</a:t>
            </a:r>
            <a:r>
              <a:rPr lang="pt-BR" b="1" dirty="0" err="1"/>
              <a:t>distillation</a:t>
            </a:r>
            <a:r>
              <a:rPr lang="pt-BR" b="1" dirty="0"/>
              <a:t>): </a:t>
            </a:r>
            <a:r>
              <a:rPr lang="pt-BR" dirty="0"/>
              <a:t>O próprio modelo aluno atua como seu professor, utilizando versões anteriores (gerações) de si mesmo ou extraindo conhecimento de suas próprias camadas mais profundas para aprimorar as camadas iniciais.</a:t>
            </a:r>
            <a:endParaRPr lang="pt-BR" dirty="0" smtClean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549" y="3771516"/>
            <a:ext cx="5930900" cy="229870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xmlns="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902" y="330420"/>
            <a:ext cx="5276193" cy="980199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Esquemas </a:t>
            </a:r>
            <a:r>
              <a:rPr lang="pt-BR" smtClean="0"/>
              <a:t>de Destilação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926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443091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pt-BR" b="1" dirty="0"/>
              <a:t>Destilação </a:t>
            </a:r>
            <a:r>
              <a:rPr lang="pt-BR" b="1" dirty="0" err="1"/>
              <a:t>Adversarial</a:t>
            </a:r>
            <a:r>
              <a:rPr lang="pt-BR" b="1" dirty="0"/>
              <a:t>: </a:t>
            </a:r>
            <a:r>
              <a:rPr lang="pt-BR" dirty="0"/>
              <a:t>Utiliza métodos inspirados em Redes Adversárias Generativas (</a:t>
            </a:r>
            <a:r>
              <a:rPr lang="pt-BR" dirty="0" err="1"/>
              <a:t>GANs</a:t>
            </a:r>
            <a:r>
              <a:rPr lang="pt-BR" dirty="0"/>
              <a:t>) para produzir dados sintéticos valiosos para o treinamento ou para forçar discriminadores a fazer com que o aluno compreenda melhor a distribuição real de dados em relação ao </a:t>
            </a:r>
            <a:r>
              <a:rPr lang="pt-BR" dirty="0" smtClean="0"/>
              <a:t>professor.</a:t>
            </a:r>
          </a:p>
          <a:p>
            <a:pPr fontAlgn="base"/>
            <a:endParaRPr lang="pt-BR" dirty="0" smtClean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xmlns="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902" y="330420"/>
            <a:ext cx="5276193" cy="980199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Esquemas </a:t>
            </a:r>
            <a:r>
              <a:rPr lang="pt-BR" smtClean="0"/>
              <a:t>de Destilação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498" y="3268717"/>
            <a:ext cx="57150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4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980636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pt-BR" b="1" smtClean="0"/>
              <a:t>Múltiplos </a:t>
            </a:r>
            <a:r>
              <a:rPr lang="pt-BR" b="1" dirty="0"/>
              <a:t>Professores (</a:t>
            </a:r>
            <a:r>
              <a:rPr lang="pt-BR" b="1" dirty="0" err="1"/>
              <a:t>Multi-teacher</a:t>
            </a:r>
            <a:r>
              <a:rPr lang="pt-BR" b="1" dirty="0"/>
              <a:t>):</a:t>
            </a:r>
            <a:r>
              <a:rPr lang="pt-BR" dirty="0"/>
              <a:t> Redes com arquiteturas diferentes fornecem uma fusão de conhecimentos variados para instruir um único modelo aluno, tornando-o altamente </a:t>
            </a:r>
            <a:r>
              <a:rPr lang="pt-BR" dirty="0" smtClean="0"/>
              <a:t>versátil.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xmlns="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902" y="330420"/>
            <a:ext cx="5276193" cy="980199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Esquemas </a:t>
            </a:r>
            <a:r>
              <a:rPr lang="pt-BR" smtClean="0"/>
              <a:t>de Destilação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498" y="3157921"/>
            <a:ext cx="5715000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2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48499"/>
          </a:xfrm>
        </p:spPr>
        <p:txBody>
          <a:bodyPr>
            <a:normAutofit fontScale="92500"/>
          </a:bodyPr>
          <a:lstStyle/>
          <a:p>
            <a:pPr fontAlgn="base"/>
            <a:r>
              <a:rPr lang="pt-BR" b="1" dirty="0" smtClean="0"/>
              <a:t>Multimodal </a:t>
            </a:r>
            <a:r>
              <a:rPr lang="pt-BR" b="1" dirty="0"/>
              <a:t>(Cross-Modal): </a:t>
            </a:r>
            <a:r>
              <a:rPr lang="pt-BR" dirty="0"/>
              <a:t>Transfere conhecimento de uma modalidade rica em dados (como imagens RGB visuais) para treinar um modelo aluno cuja modalidade de entrada possa não ter dados </a:t>
            </a:r>
            <a:r>
              <a:rPr lang="pt-BR" dirty="0" smtClean="0"/>
              <a:t>rotulados.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xmlns="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902" y="330420"/>
            <a:ext cx="5276193" cy="980199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Esquemas </a:t>
            </a:r>
            <a:r>
              <a:rPr lang="pt-BR" smtClean="0"/>
              <a:t>de Destilação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48" y="3689130"/>
            <a:ext cx="58039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1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74623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pt-BR" b="1" smtClean="0"/>
              <a:t>Destilação </a:t>
            </a:r>
            <a:r>
              <a:rPr lang="pt-BR" b="1" dirty="0"/>
              <a:t>Sem Dados (Data-</a:t>
            </a:r>
            <a:r>
              <a:rPr lang="pt-BR" b="1" dirty="0" err="1"/>
              <a:t>Free</a:t>
            </a:r>
            <a:r>
              <a:rPr lang="pt-BR" b="1" dirty="0"/>
              <a:t>)</a:t>
            </a:r>
            <a:r>
              <a:rPr lang="pt-BR" dirty="0"/>
              <a:t>: Desenvolvido para resolver restrições legais e problemas de privacidade, gerando dados de treinamento sintéticos diretamente das ativações do modelo professor, sem acessar os dados originais confidenciais.</a:t>
            </a:r>
            <a:endParaRPr lang="pt-BR" dirty="0" smtClean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xmlns="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902" y="330420"/>
            <a:ext cx="5276193" cy="980199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Esquemas </a:t>
            </a:r>
            <a:r>
              <a:rPr lang="pt-BR" smtClean="0"/>
              <a:t>de Destilação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495" y="3565197"/>
            <a:ext cx="3832774" cy="273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83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ctr" fontAlgn="base">
              <a:buNone/>
            </a:pPr>
            <a:r>
              <a:rPr lang="pt-BR" dirty="0" smtClean="0"/>
              <a:t>A relação </a:t>
            </a:r>
            <a:r>
              <a:rPr lang="pt-BR" dirty="0"/>
              <a:t>entre as arquiteturas dos modelos "professor" (redes maiores e complexas) e "aluno" (redes menores</a:t>
            </a:r>
            <a:r>
              <a:rPr lang="pt-BR" dirty="0" smtClean="0"/>
              <a:t>)</a:t>
            </a:r>
          </a:p>
          <a:p>
            <a:pPr fontAlgn="base"/>
            <a:r>
              <a:rPr lang="pt-BR" b="1" dirty="0"/>
              <a:t>Modelos Maiores não são Melhores Professores: </a:t>
            </a:r>
            <a:r>
              <a:rPr lang="pt-BR" dirty="0"/>
              <a:t>Contrariando a intuição comum, o aumento na capacidade e na precisão do modelo professor não resulta necessariamente em um modelo aluno mais preciso.</a:t>
            </a:r>
            <a:endParaRPr lang="pt-BR" dirty="0" smtClean="0"/>
          </a:p>
          <a:p>
            <a:pPr fontAlgn="base"/>
            <a:r>
              <a:rPr lang="pt-BR" b="1" dirty="0"/>
              <a:t>Incompatibilidade de Capacidade (</a:t>
            </a:r>
            <a:r>
              <a:rPr lang="pt-BR" b="1" dirty="0" err="1"/>
              <a:t>Capacity</a:t>
            </a:r>
            <a:r>
              <a:rPr lang="pt-BR" b="1" dirty="0"/>
              <a:t> </a:t>
            </a:r>
            <a:r>
              <a:rPr lang="pt-BR" b="1" dirty="0" err="1"/>
              <a:t>Mismatch</a:t>
            </a:r>
            <a:r>
              <a:rPr lang="pt-BR" b="1" dirty="0"/>
              <a:t>): </a:t>
            </a:r>
            <a:r>
              <a:rPr lang="pt-BR" dirty="0"/>
              <a:t>O fracasso dos professores maiores ocorre porque os alunos pequenos não possuem capacidade suficiente para imitar ou emular as soluções complexas encontradas pelos professores grandes.</a:t>
            </a:r>
            <a:endParaRPr lang="pt-BR" dirty="0" smtClean="0"/>
          </a:p>
          <a:p>
            <a:pPr fontAlgn="base"/>
            <a:r>
              <a:rPr lang="pt-BR" b="1" dirty="0"/>
              <a:t>A Destilação Pode Prejudicar o Treinamento: </a:t>
            </a:r>
            <a:r>
              <a:rPr lang="pt-BR" dirty="0"/>
              <a:t>Em conjuntos de dados complexos como o </a:t>
            </a:r>
            <a:r>
              <a:rPr lang="pt-BR" dirty="0" err="1"/>
              <a:t>ImageNet</a:t>
            </a:r>
            <a:r>
              <a:rPr lang="pt-BR" dirty="0"/>
              <a:t>, a destilação de conhecimento padrão pode levar o modelo aluno a um desempenho inferior ao que ele teria se fosse treinado do zero. O aluno não consegue minimizar simultaneamente a perda de treinamento (</a:t>
            </a:r>
            <a:r>
              <a:rPr lang="pt-BR" dirty="0" err="1"/>
              <a:t>cross-entropy</a:t>
            </a:r>
            <a:r>
              <a:rPr lang="pt-BR" dirty="0"/>
              <a:t>) e a perda da destilação</a:t>
            </a:r>
            <a:r>
              <a:rPr lang="pt-BR" dirty="0" smtClean="0"/>
              <a:t>.</a:t>
            </a:r>
          </a:p>
          <a:p>
            <a:pPr fontAlgn="base"/>
            <a:r>
              <a:rPr lang="pt-BR" b="1" dirty="0"/>
              <a:t>Ineficácia da Destilação Sequencial: </a:t>
            </a:r>
            <a:r>
              <a:rPr lang="pt-BR" dirty="0" smtClean="0"/>
              <a:t>mesmo com o treinamento passando </a:t>
            </a:r>
            <a:r>
              <a:rPr lang="pt-BR" dirty="0"/>
              <a:t>por modelos </a:t>
            </a:r>
            <a:r>
              <a:rPr lang="pt-BR" dirty="0" smtClean="0"/>
              <a:t>intermediários ainda sim os resultados são ineficazes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xmlns="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389" y="365125"/>
            <a:ext cx="2718239" cy="1325563"/>
          </a:xfrm>
        </p:spPr>
        <p:txBody>
          <a:bodyPr/>
          <a:lstStyle/>
          <a:p>
            <a:r>
              <a:rPr lang="pt-BR" smtClean="0"/>
              <a:t>Limitações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857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0824"/>
            <a:ext cx="10515600" cy="4585685"/>
          </a:xfrm>
        </p:spPr>
        <p:txBody>
          <a:bodyPr>
            <a:normAutofit fontScale="92500" lnSpcReduction="20000"/>
          </a:bodyPr>
          <a:lstStyle/>
          <a:p>
            <a:pPr marL="0" indent="0" algn="ctr" fontAlgn="base">
              <a:buNone/>
            </a:pPr>
            <a:r>
              <a:rPr lang="pt-BR" dirty="0" smtClean="0"/>
              <a:t>Soluções no caso de modelos professor e aluno muito distantes em complexidade  </a:t>
            </a:r>
          </a:p>
          <a:p>
            <a:pPr fontAlgn="base"/>
            <a:r>
              <a:rPr lang="pt-BR" b="1" dirty="0"/>
              <a:t>Interrupção Antecipada da Destilação (</a:t>
            </a:r>
            <a:r>
              <a:rPr lang="pt-BR" b="1" dirty="0" err="1"/>
              <a:t>Early-stopped</a:t>
            </a:r>
            <a:r>
              <a:rPr lang="pt-BR" b="1" dirty="0"/>
              <a:t> KD): </a:t>
            </a:r>
            <a:r>
              <a:rPr lang="pt-BR" dirty="0"/>
              <a:t>Interromper o processo de destilação de conhecimento perto da convergência permite que o modelo aluno foque apenas no aprendizado do conjunto de dados, melhorando a precisão final e superando os modelos treinados do zero.</a:t>
            </a:r>
            <a:endParaRPr lang="pt-BR" dirty="0" smtClean="0"/>
          </a:p>
          <a:p>
            <a:pPr fontAlgn="base"/>
            <a:r>
              <a:rPr lang="pt-BR" b="1" dirty="0" smtClean="0"/>
              <a:t>Interrupção </a:t>
            </a:r>
            <a:r>
              <a:rPr lang="pt-BR" b="1" dirty="0"/>
              <a:t>Antecipada do Professor (</a:t>
            </a:r>
            <a:r>
              <a:rPr lang="pt-BR" b="1" dirty="0" err="1"/>
              <a:t>Early-stopped</a:t>
            </a:r>
            <a:r>
              <a:rPr lang="pt-BR" b="1" dirty="0"/>
              <a:t> </a:t>
            </a:r>
            <a:r>
              <a:rPr lang="pt-BR" b="1" dirty="0" err="1"/>
              <a:t>Teachers</a:t>
            </a:r>
            <a:r>
              <a:rPr lang="pt-BR" b="1" dirty="0"/>
              <a:t>): </a:t>
            </a:r>
            <a:r>
              <a:rPr lang="pt-BR" dirty="0"/>
              <a:t>Regularizar o professor interrompendo seu treinamento prematuramente é uma técnica altamente eficaz. Modelos professores treinados por apenas um terço ou um quarto do tempo total se mostraram professores muito melhores do que suas versões totalmente treinadas</a:t>
            </a:r>
            <a:r>
              <a:rPr lang="pt-BR" dirty="0" smtClean="0"/>
              <a:t>.</a:t>
            </a:r>
          </a:p>
          <a:p>
            <a:pPr fontAlgn="base"/>
            <a:endParaRPr lang="pt-BR" dirty="0" smtClean="0"/>
          </a:p>
          <a:p>
            <a:pPr marL="0" indent="0" algn="ctr" fontAlgn="base">
              <a:buNone/>
            </a:pPr>
            <a:r>
              <a:rPr lang="pt-BR" dirty="0"/>
              <a:t>U</a:t>
            </a:r>
            <a:r>
              <a:rPr lang="pt-BR" dirty="0" smtClean="0"/>
              <a:t>ma </a:t>
            </a:r>
            <a:r>
              <a:rPr lang="pt-BR" dirty="0"/>
              <a:t>lacuna muito grande de capacidade (</a:t>
            </a:r>
            <a:r>
              <a:rPr lang="pt-BR" dirty="0" err="1"/>
              <a:t>capacity</a:t>
            </a:r>
            <a:r>
              <a:rPr lang="pt-BR" dirty="0"/>
              <a:t> gap) entre os modelos pode prejudicar a eficiência do aluno</a:t>
            </a:r>
            <a:endParaRPr lang="pt-BR" dirty="0" smtClean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xmlns="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1308" y="365125"/>
            <a:ext cx="4389383" cy="1325563"/>
          </a:xfrm>
        </p:spPr>
        <p:txBody>
          <a:bodyPr/>
          <a:lstStyle/>
          <a:p>
            <a:r>
              <a:rPr lang="pt-BR" smtClean="0"/>
              <a:t>Possíveis Soluções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124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624" y="365125"/>
            <a:ext cx="7748752" cy="854075"/>
          </a:xfrm>
        </p:spPr>
        <p:txBody>
          <a:bodyPr/>
          <a:lstStyle/>
          <a:p>
            <a:r>
              <a:rPr lang="pt-BR" smtClean="0"/>
              <a:t>REPRODUÇÃO DO EXPERIMENTO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76692"/>
          </a:xfrm>
        </p:spPr>
        <p:txBody>
          <a:bodyPr>
            <a:normAutofit/>
          </a:bodyPr>
          <a:lstStyle/>
          <a:p>
            <a:pPr fontAlgn="base"/>
            <a:r>
              <a:rPr lang="pt-BR" dirty="0" smtClean="0"/>
              <a:t>Experimento </a:t>
            </a:r>
            <a:r>
              <a:rPr lang="pt-BR" dirty="0"/>
              <a:t>de destilação no MNIST </a:t>
            </a:r>
            <a:r>
              <a:rPr lang="pt-BR" dirty="0" smtClean="0"/>
              <a:t>usando </a:t>
            </a:r>
            <a:r>
              <a:rPr lang="pt-BR" dirty="0" err="1"/>
              <a:t>PyTorch</a:t>
            </a:r>
            <a:endParaRPr lang="pt-BR" dirty="0" smtClean="0"/>
          </a:p>
          <a:p>
            <a:pPr fontAlgn="base"/>
            <a:r>
              <a:rPr lang="pt-BR" dirty="0"/>
              <a:t>Professor: </a:t>
            </a:r>
            <a:r>
              <a:rPr lang="pt-BR" dirty="0" smtClean="0"/>
              <a:t>arquitetura grande, com </a:t>
            </a:r>
            <a:r>
              <a:rPr lang="pt-BR" dirty="0" err="1"/>
              <a:t>dropout</a:t>
            </a:r>
            <a:r>
              <a:rPr lang="pt-BR" dirty="0"/>
              <a:t>, treinado com </a:t>
            </a:r>
            <a:r>
              <a:rPr lang="pt-BR" dirty="0" err="1"/>
              <a:t>jitter</a:t>
            </a:r>
            <a:r>
              <a:rPr lang="pt-BR" dirty="0"/>
              <a:t>.</a:t>
            </a:r>
            <a:endParaRPr lang="pt-BR" dirty="0" smtClean="0"/>
          </a:p>
          <a:p>
            <a:pPr fontAlgn="base"/>
            <a:r>
              <a:rPr lang="pt-BR" dirty="0"/>
              <a:t>Aluno </a:t>
            </a:r>
            <a:r>
              <a:rPr lang="pt-BR" dirty="0" err="1"/>
              <a:t>baseline</a:t>
            </a:r>
            <a:r>
              <a:rPr lang="pt-BR" dirty="0"/>
              <a:t>: </a:t>
            </a:r>
            <a:r>
              <a:rPr lang="pt-BR" dirty="0" smtClean="0"/>
              <a:t>arquitetura pequena, sem </a:t>
            </a:r>
            <a:r>
              <a:rPr lang="pt-BR" dirty="0"/>
              <a:t>regularização, treinado só com rótulos </a:t>
            </a:r>
            <a:r>
              <a:rPr lang="pt-BR" dirty="0" smtClean="0"/>
              <a:t>verdadeiros(hard </a:t>
            </a:r>
            <a:r>
              <a:rPr lang="pt-BR" dirty="0" err="1" smtClean="0"/>
              <a:t>targets</a:t>
            </a:r>
            <a:r>
              <a:rPr lang="pt-BR" dirty="0" smtClean="0"/>
              <a:t>).</a:t>
            </a:r>
          </a:p>
          <a:p>
            <a:pPr fontAlgn="base"/>
            <a:r>
              <a:rPr lang="pt-BR" dirty="0"/>
              <a:t>Aluno destilado: mesma arquitetura pequena, treinada com a </a:t>
            </a:r>
            <a:r>
              <a:rPr lang="pt-BR" dirty="0" err="1"/>
              <a:t>loss</a:t>
            </a:r>
            <a:r>
              <a:rPr lang="pt-BR" dirty="0"/>
              <a:t> combinada (soft </a:t>
            </a:r>
            <a:r>
              <a:rPr lang="pt-BR" dirty="0" err="1"/>
              <a:t>targets</a:t>
            </a:r>
            <a:r>
              <a:rPr lang="pt-BR" dirty="0"/>
              <a:t> em temperatura </a:t>
            </a:r>
            <a:r>
              <a:rPr lang="pt-BR" dirty="0" err="1"/>
              <a:t>T</a:t>
            </a:r>
            <a:r>
              <a:rPr lang="pt-BR" dirty="0"/>
              <a:t> + hard </a:t>
            </a:r>
            <a:r>
              <a:rPr lang="pt-BR" dirty="0" err="1"/>
              <a:t>targets</a:t>
            </a:r>
            <a:r>
              <a:rPr lang="pt-BR" dirty="0" smtClean="0"/>
              <a:t>). </a:t>
            </a:r>
            <a:r>
              <a:rPr lang="pt-BR" dirty="0"/>
              <a:t>Testa </a:t>
            </a:r>
            <a:r>
              <a:rPr lang="pt-BR" dirty="0" smtClean="0"/>
              <a:t>nas temperaturas </a:t>
            </a:r>
            <a:r>
              <a:rPr lang="pt-BR" dirty="0"/>
              <a:t>(1, 2.5, 4, 8, 20).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08738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979DAB9-0612-F0CD-7BB1-AF52B98B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3872" y="365126"/>
            <a:ext cx="7244255" cy="959178"/>
          </a:xfrm>
        </p:spPr>
        <p:txBody>
          <a:bodyPr/>
          <a:lstStyle/>
          <a:p>
            <a:r>
              <a:rPr lang="pt-BR" dirty="0" smtClean="0"/>
              <a:t>Resultados Treinamento MNIST</a:t>
            </a:r>
            <a:endParaRPr lang="pt-BR" dirty="0"/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7137756"/>
              </p:ext>
            </p:extLst>
          </p:nvPr>
        </p:nvGraphicFramePr>
        <p:xfrm>
          <a:off x="838200" y="1825625"/>
          <a:ext cx="10515600" cy="37084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796862"/>
                <a:gridCol w="1902372"/>
                <a:gridCol w="1481959"/>
                <a:gridCol w="1219200"/>
                <a:gridCol w="2115207"/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 MODELO TRADICIONAL</a:t>
                      </a:r>
                      <a:endParaRPr lang="pt-B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MODELO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TEMPERATURA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ÉPOCAS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ERROS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ACURÁCIA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PROFESSOR </a:t>
                      </a:r>
                      <a:r>
                        <a:rPr lang="mr-IN" sz="1400" dirty="0" smtClean="0"/>
                        <a:t>–</a:t>
                      </a:r>
                      <a:r>
                        <a:rPr lang="pt-BR" sz="1400" dirty="0" smtClean="0"/>
                        <a:t> REDE GRANDE </a:t>
                      </a:r>
                      <a:r>
                        <a:rPr lang="mr-IN" sz="1400" dirty="0" smtClean="0"/>
                        <a:t>–</a:t>
                      </a:r>
                      <a:r>
                        <a:rPr lang="pt-BR" sz="1400" dirty="0" smtClean="0"/>
                        <a:t> DROPOUT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-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15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139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98,61%</a:t>
                      </a:r>
                      <a:endParaRPr lang="pt-BR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ALUNO</a:t>
                      </a:r>
                      <a:r>
                        <a:rPr lang="mr-IN" sz="1400" dirty="0" smtClean="0"/>
                        <a:t>–</a:t>
                      </a:r>
                      <a:r>
                        <a:rPr lang="pt-BR" sz="1400" dirty="0" smtClean="0"/>
                        <a:t> REDE PEQUENA</a:t>
                      </a:r>
                      <a:r>
                        <a:rPr lang="pt-BR" sz="1400" baseline="0" dirty="0" smtClean="0"/>
                        <a:t> </a:t>
                      </a:r>
                      <a:r>
                        <a:rPr lang="mr-IN" sz="1400" baseline="0" dirty="0" smtClean="0"/>
                        <a:t>–</a:t>
                      </a:r>
                      <a:r>
                        <a:rPr lang="pt-BR" sz="1400" dirty="0" smtClean="0"/>
                        <a:t> SEM REGULARIZAÇÃO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-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smtClean="0"/>
                        <a:t>15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192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98,08%</a:t>
                      </a:r>
                      <a:endParaRPr lang="pt-BR" sz="1400" dirty="0"/>
                    </a:p>
                  </a:txBody>
                  <a:tcPr/>
                </a:tc>
              </a:tr>
              <a:tr h="370840">
                <a:tc gridSpan="5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1" dirty="0" smtClean="0"/>
                        <a:t>MODELO COM DESTILAÇÃO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ALUNO</a:t>
                      </a:r>
                      <a:r>
                        <a:rPr lang="pt-BR" sz="1400" baseline="0" dirty="0" smtClean="0"/>
                        <a:t> </a:t>
                      </a:r>
                      <a:r>
                        <a:rPr lang="mr-IN" sz="1400" baseline="0" dirty="0" smtClean="0"/>
                        <a:t>–</a:t>
                      </a:r>
                      <a:r>
                        <a:rPr lang="pt-BR" sz="1400" baseline="0" dirty="0" smtClean="0"/>
                        <a:t> DESTILAÇÃO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smtClean="0"/>
                        <a:t>15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146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98,54%</a:t>
                      </a:r>
                      <a:endParaRPr lang="pt-BR" sz="1400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2.5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smtClean="0"/>
                        <a:t>15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147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98,53%</a:t>
                      </a:r>
                      <a:endParaRPr lang="pt-BR" sz="1400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4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15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161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98,39%</a:t>
                      </a:r>
                      <a:endParaRPr lang="pt-BR" sz="1400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8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15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156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98,44%</a:t>
                      </a: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20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15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148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98,52%</a:t>
                      </a:r>
                      <a:endParaRPr lang="pt-BR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ítulo 1">
            <a:extLst>
              <a:ext uri="{FF2B5EF4-FFF2-40B4-BE49-F238E27FC236}">
                <a16:creationId xmlns:a16="http://schemas.microsoft.com/office/drawing/2014/main" xmlns="" id="{A979DAB9-0612-F0CD-7BB1-AF52B98B3210}"/>
              </a:ext>
            </a:extLst>
          </p:cNvPr>
          <p:cNvSpPr txBox="1">
            <a:spLocks/>
          </p:cNvSpPr>
          <p:nvPr/>
        </p:nvSpPr>
        <p:spPr>
          <a:xfrm>
            <a:off x="3712121" y="1028646"/>
            <a:ext cx="4767756" cy="591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 smtClean="0"/>
              <a:t>RESULTADO DO ARTIGO: ACURÁCIA =  98,6%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90698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28A9759-CA4F-DA4F-85C2-F6E51DCE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72F732D-34CE-6153-324F-D7F682157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7734" y="365125"/>
            <a:ext cx="1936531" cy="1325563"/>
          </a:xfrm>
        </p:spPr>
        <p:txBody>
          <a:bodyPr/>
          <a:lstStyle/>
          <a:p>
            <a:r>
              <a:rPr lang="pt-BR" smtClean="0"/>
              <a:t>Análise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2A55622-8E11-E5D7-8EAF-7AE2CCAA3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dirty="0"/>
              <a:t>Reduz a alta complexidade computacional e a </a:t>
            </a:r>
            <a:r>
              <a:rPr lang="pt-BR" dirty="0" smtClean="0"/>
              <a:t>exigência </a:t>
            </a:r>
            <a:r>
              <a:rPr lang="pt-BR" dirty="0"/>
              <a:t>de armazenamento dos modelos de aprendizado </a:t>
            </a:r>
            <a:r>
              <a:rPr lang="pt-BR" dirty="0" smtClean="0"/>
              <a:t>profundo e assim permite </a:t>
            </a:r>
            <a:r>
              <a:rPr lang="pt-BR" dirty="0"/>
              <a:t>o treinamento eficaz de um modelo compacto e leve (aluno) a partir do conhecimento de um modelo </a:t>
            </a:r>
            <a:r>
              <a:rPr lang="pt-BR" dirty="0" smtClean="0"/>
              <a:t>complexo (professor), além de ser versátil através do uso </a:t>
            </a:r>
            <a:r>
              <a:rPr lang="pt-BR" dirty="0"/>
              <a:t>de múltiplos professores para fundir diferentes conhecimentos em um único </a:t>
            </a:r>
            <a:r>
              <a:rPr lang="pt-BR" dirty="0" smtClean="0"/>
              <a:t>aluno.</a:t>
            </a:r>
          </a:p>
          <a:p>
            <a:pPr fontAlgn="base"/>
            <a:r>
              <a:rPr lang="pt-BR" dirty="0"/>
              <a:t>Existe uma limitação relacionada à lacuna de capacidade (</a:t>
            </a:r>
            <a:r>
              <a:rPr lang="pt-BR" dirty="0" err="1"/>
              <a:t>capacity</a:t>
            </a:r>
            <a:r>
              <a:rPr lang="pt-BR" dirty="0"/>
              <a:t> gap); se a diferença estrutural entre o professor </a:t>
            </a:r>
            <a:r>
              <a:rPr lang="pt-BR" dirty="0" smtClean="0"/>
              <a:t>e </a:t>
            </a:r>
            <a:r>
              <a:rPr lang="pt-BR" dirty="0"/>
              <a:t>o aluno </a:t>
            </a:r>
            <a:r>
              <a:rPr lang="pt-BR" dirty="0" smtClean="0"/>
              <a:t>for </a:t>
            </a:r>
            <a:r>
              <a:rPr lang="pt-BR" dirty="0"/>
              <a:t>muito grande, a eficiência do aprendizado é </a:t>
            </a:r>
            <a:r>
              <a:rPr lang="pt-BR" dirty="0" smtClean="0"/>
              <a:t>prejudicada</a:t>
            </a:r>
          </a:p>
        </p:txBody>
      </p:sp>
    </p:spTree>
    <p:extLst>
      <p:ext uri="{BB962C8B-B14F-4D97-AF65-F5344CB8AC3E}">
        <p14:creationId xmlns:p14="http://schemas.microsoft.com/office/powerpoint/2010/main" val="152181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28A9759-CA4F-DA4F-85C2-F6E51DCE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72F732D-34CE-6153-324F-D7F682157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370" y="365125"/>
            <a:ext cx="2739259" cy="1169385"/>
          </a:xfrm>
        </p:spPr>
        <p:txBody>
          <a:bodyPr>
            <a:normAutofit/>
          </a:bodyPr>
          <a:lstStyle/>
          <a:p>
            <a:r>
              <a:rPr lang="pt-BR" smtClean="0"/>
              <a:t>Aplicações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2A55622-8E11-E5D7-8EAF-7AE2CCAA3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92577"/>
            <a:ext cx="10515600" cy="2304941"/>
          </a:xfrm>
        </p:spPr>
        <p:txBody>
          <a:bodyPr>
            <a:normAutofit/>
          </a:bodyPr>
          <a:lstStyle/>
          <a:p>
            <a:pPr fontAlgn="base"/>
            <a:r>
              <a:rPr lang="pt-BR" dirty="0" smtClean="0"/>
              <a:t>Pode </a:t>
            </a:r>
            <a:r>
              <a:rPr lang="pt-BR" dirty="0"/>
              <a:t>ser aplicado em soluções </a:t>
            </a:r>
            <a:r>
              <a:rPr lang="pt-BR" dirty="0" smtClean="0"/>
              <a:t>para dispositivos </a:t>
            </a:r>
            <a:r>
              <a:rPr lang="pt-BR" dirty="0"/>
              <a:t>de </a:t>
            </a:r>
            <a:r>
              <a:rPr lang="pt-BR" dirty="0" smtClean="0"/>
              <a:t>Borda, reconhecimento visual, processamento </a:t>
            </a:r>
            <a:r>
              <a:rPr lang="pt-BR" dirty="0"/>
              <a:t>de </a:t>
            </a:r>
            <a:r>
              <a:rPr lang="pt-BR" dirty="0" smtClean="0"/>
              <a:t>linguagem natural </a:t>
            </a:r>
            <a:r>
              <a:rPr lang="pt-BR" dirty="0"/>
              <a:t>(NLP</a:t>
            </a:r>
            <a:r>
              <a:rPr lang="pt-BR" dirty="0" smtClean="0"/>
              <a:t>), reconhecimento </a:t>
            </a:r>
            <a:r>
              <a:rPr lang="pt-BR" dirty="0"/>
              <a:t>de </a:t>
            </a:r>
            <a:r>
              <a:rPr lang="pt-BR" dirty="0" smtClean="0"/>
              <a:t>voz e segurança </a:t>
            </a:r>
            <a:r>
              <a:rPr lang="pt-BR" dirty="0"/>
              <a:t>e </a:t>
            </a:r>
            <a:r>
              <a:rPr lang="pt-BR" dirty="0" smtClean="0"/>
              <a:t>sistemas com o uso em </a:t>
            </a:r>
            <a:r>
              <a:rPr lang="pt-BR" dirty="0"/>
              <a:t>sistemas de recomendação de alta velocidade, proteção em aprendizado </a:t>
            </a:r>
            <a:r>
              <a:rPr lang="pt-BR" dirty="0" smtClean="0"/>
              <a:t>e </a:t>
            </a:r>
            <a:r>
              <a:rPr lang="pt-BR" dirty="0"/>
              <a:t>defesa contra </a:t>
            </a:r>
            <a:r>
              <a:rPr lang="pt-BR" dirty="0" smtClean="0"/>
              <a:t>perturbações.</a:t>
            </a:r>
          </a:p>
        </p:txBody>
      </p:sp>
    </p:spTree>
    <p:extLst>
      <p:ext uri="{BB962C8B-B14F-4D97-AF65-F5344CB8AC3E}">
        <p14:creationId xmlns:p14="http://schemas.microsoft.com/office/powerpoint/2010/main" val="200504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9E502FC-4440-F5DA-F299-69CD15E70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1914" y="365125"/>
            <a:ext cx="2588172" cy="1325563"/>
          </a:xfrm>
        </p:spPr>
        <p:txBody>
          <a:bodyPr/>
          <a:lstStyle/>
          <a:p>
            <a:r>
              <a:rPr lang="en-US" dirty="0" err="1"/>
              <a:t>Conclusão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9359096-6B47-BEA3-55AD-95F90CDC8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8797"/>
            <a:ext cx="10515600" cy="1884527"/>
          </a:xfrm>
        </p:spPr>
        <p:txBody>
          <a:bodyPr/>
          <a:lstStyle/>
          <a:p>
            <a:pPr fontAlgn="base"/>
            <a:r>
              <a:rPr lang="pt-BR" dirty="0" smtClean="0"/>
              <a:t>A utilização deste modelo traz muitos benefícios pela obtenção de bons resultados, mesmo com </a:t>
            </a:r>
            <a:r>
              <a:rPr lang="pt-BR" dirty="0" err="1" smtClean="0"/>
              <a:t>datasets</a:t>
            </a:r>
            <a:r>
              <a:rPr lang="pt-BR" dirty="0" smtClean="0"/>
              <a:t> muito grandes. Essa técnica de aproveitar características generaliza muito bem, mesmo com dados desconhecidos pelos modelo.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253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CA32550-8C76-B013-2EC7-989D8C3B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F043237-7757-7557-B63E-D4EB5152D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 smtClean="0"/>
              <a:t>[1] G. </a:t>
            </a:r>
            <a:r>
              <a:rPr lang="pt-BR" sz="1800" dirty="0" err="1" smtClean="0"/>
              <a:t>Hinton</a:t>
            </a:r>
            <a:r>
              <a:rPr lang="pt-BR" sz="1800" dirty="0" smtClean="0"/>
              <a:t>, O. </a:t>
            </a:r>
            <a:r>
              <a:rPr lang="pt-BR" sz="1800" dirty="0" err="1" smtClean="0"/>
              <a:t>Vinyals</a:t>
            </a:r>
            <a:r>
              <a:rPr lang="pt-BR" sz="1800" dirty="0" smtClean="0"/>
              <a:t>, </a:t>
            </a:r>
            <a:r>
              <a:rPr lang="pt-BR" sz="1800" dirty="0" err="1"/>
              <a:t>and</a:t>
            </a:r>
            <a:r>
              <a:rPr lang="pt-BR" sz="1800" dirty="0"/>
              <a:t> </a:t>
            </a:r>
            <a:r>
              <a:rPr lang="pt-BR" sz="1800" dirty="0" smtClean="0"/>
              <a:t>J. Dean</a:t>
            </a:r>
            <a:r>
              <a:rPr lang="pt-BR" sz="1800" dirty="0"/>
              <a:t>. </a:t>
            </a:r>
            <a:r>
              <a:rPr lang="pt-BR" sz="1800" dirty="0" err="1"/>
              <a:t>Distilling</a:t>
            </a:r>
            <a:r>
              <a:rPr lang="pt-BR" sz="1800" dirty="0"/>
              <a:t> </a:t>
            </a:r>
            <a:r>
              <a:rPr lang="pt-BR" sz="1800" dirty="0" err="1"/>
              <a:t>the</a:t>
            </a:r>
            <a:r>
              <a:rPr lang="pt-BR" sz="1800" dirty="0"/>
              <a:t> </a:t>
            </a:r>
            <a:r>
              <a:rPr lang="pt-BR" sz="1800" dirty="0" err="1"/>
              <a:t>Knowledge</a:t>
            </a:r>
            <a:r>
              <a:rPr lang="pt-BR" sz="1800" dirty="0"/>
              <a:t> in a Neural Network, </a:t>
            </a:r>
            <a:r>
              <a:rPr lang="pt-BR" sz="1800" dirty="0" err="1" smtClean="0">
                <a:latin typeface="Calibri" charset="0"/>
                <a:ea typeface="Calibri" charset="0"/>
                <a:cs typeface="Calibri" charset="0"/>
              </a:rPr>
              <a:t>eprint</a:t>
            </a:r>
            <a:r>
              <a:rPr lang="pt-BR" sz="1800" dirty="0" smtClean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nb-NO" sz="1800" dirty="0">
                <a:latin typeface="Calibri" charset="0"/>
                <a:ea typeface="Calibri" charset="0"/>
                <a:cs typeface="Calibri" charset="0"/>
              </a:rPr>
              <a:t>1503.02531</a:t>
            </a:r>
            <a:r>
              <a:rPr lang="pt-BR" sz="1800" dirty="0" smtClean="0">
                <a:latin typeface="Calibri" charset="0"/>
                <a:ea typeface="Calibri" charset="0"/>
                <a:cs typeface="Calibri" charset="0"/>
              </a:rPr>
              <a:t>, 2015, </a:t>
            </a:r>
            <a:r>
              <a:rPr lang="mr-IN" sz="1800" u="sng" dirty="0">
                <a:latin typeface="Calibri" charset="0"/>
                <a:ea typeface="Calibri" charset="0"/>
                <a:cs typeface="Calibri" charset="0"/>
                <a:hlinkClick r:id="rId2"/>
              </a:rPr>
              <a:t>https://doi.org/10.48550/arXiv.1503.02531</a:t>
            </a:r>
            <a:r>
              <a:rPr lang="pt-BR" sz="1800" dirty="0" smtClean="0"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pPr marL="0" indent="0">
              <a:buNone/>
            </a:pPr>
            <a:r>
              <a:rPr lang="pt-BR" sz="1800" dirty="0" smtClean="0"/>
              <a:t>[2] N. </a:t>
            </a:r>
            <a:r>
              <a:rPr lang="pt-BR" sz="1800" dirty="0" err="1" smtClean="0"/>
              <a:t>Passalis</a:t>
            </a:r>
            <a:r>
              <a:rPr lang="pt-BR" sz="1800" dirty="0" smtClean="0"/>
              <a:t>, M. </a:t>
            </a:r>
            <a:r>
              <a:rPr lang="pt-BR" sz="1800" dirty="0" err="1" smtClean="0"/>
              <a:t>Tzelepi</a:t>
            </a:r>
            <a:r>
              <a:rPr lang="pt-BR" sz="1800" dirty="0" smtClean="0"/>
              <a:t>, </a:t>
            </a:r>
            <a:r>
              <a:rPr lang="pt-BR" sz="1800" dirty="0" err="1"/>
              <a:t>and</a:t>
            </a:r>
            <a:r>
              <a:rPr lang="pt-BR" sz="1800" dirty="0"/>
              <a:t> </a:t>
            </a:r>
            <a:r>
              <a:rPr lang="pt-BR" sz="1800" dirty="0" smtClean="0"/>
              <a:t>A. </a:t>
            </a:r>
            <a:r>
              <a:rPr lang="pt-BR" sz="1800" dirty="0" err="1" smtClean="0"/>
              <a:t>Tefas</a:t>
            </a:r>
            <a:r>
              <a:rPr lang="pt-BR" sz="1800" dirty="0"/>
              <a:t>. </a:t>
            </a:r>
            <a:r>
              <a:rPr lang="pt-BR" sz="1800" dirty="0" err="1"/>
              <a:t>Deep</a:t>
            </a:r>
            <a:r>
              <a:rPr lang="pt-BR" sz="1800" dirty="0"/>
              <a:t> Learning for </a:t>
            </a:r>
            <a:r>
              <a:rPr lang="pt-BR" sz="1800" dirty="0" err="1"/>
              <a:t>Robot</a:t>
            </a:r>
            <a:r>
              <a:rPr lang="pt-BR" sz="1800" dirty="0"/>
              <a:t> </a:t>
            </a:r>
            <a:r>
              <a:rPr lang="pt-BR" sz="1800" dirty="0" err="1"/>
              <a:t>Perception</a:t>
            </a:r>
            <a:r>
              <a:rPr lang="pt-BR" sz="1800" dirty="0"/>
              <a:t> </a:t>
            </a:r>
            <a:r>
              <a:rPr lang="pt-BR" sz="1800" dirty="0" err="1"/>
              <a:t>and</a:t>
            </a:r>
            <a:r>
              <a:rPr lang="pt-BR" sz="1800" dirty="0"/>
              <a:t> </a:t>
            </a:r>
            <a:r>
              <a:rPr lang="pt-BR" sz="1800" dirty="0" err="1" smtClean="0"/>
              <a:t>Cognition</a:t>
            </a:r>
            <a:r>
              <a:rPr lang="pt-BR" sz="1800" dirty="0"/>
              <a:t>, </a:t>
            </a:r>
            <a:r>
              <a:rPr lang="pt-BR" sz="1800" dirty="0" err="1"/>
              <a:t>Chapter</a:t>
            </a:r>
            <a:r>
              <a:rPr lang="pt-BR" sz="1800" dirty="0"/>
              <a:t> 8 - </a:t>
            </a:r>
            <a:r>
              <a:rPr lang="pt-BR" sz="1800" dirty="0" err="1"/>
              <a:t>Knowledge</a:t>
            </a:r>
            <a:r>
              <a:rPr lang="pt-BR" sz="1800" dirty="0"/>
              <a:t> </a:t>
            </a:r>
            <a:r>
              <a:rPr lang="pt-BR" sz="1800" dirty="0" err="1"/>
              <a:t>distillation</a:t>
            </a:r>
            <a:r>
              <a:rPr lang="pt-BR" sz="1800" dirty="0"/>
              <a:t>, </a:t>
            </a:r>
            <a:r>
              <a:rPr lang="pt-BR" sz="1800" dirty="0" err="1" smtClean="0"/>
              <a:t>pages</a:t>
            </a:r>
            <a:r>
              <a:rPr lang="pt-BR" sz="1800" dirty="0" smtClean="0"/>
              <a:t> </a:t>
            </a:r>
            <a:r>
              <a:rPr lang="nb-NO" sz="1800" dirty="0" smtClean="0"/>
              <a:t>165-186</a:t>
            </a:r>
            <a:r>
              <a:rPr lang="pt-BR" sz="1800" dirty="0" smtClean="0"/>
              <a:t>, </a:t>
            </a:r>
            <a:r>
              <a:rPr lang="pt-BR" sz="1800" dirty="0" err="1" smtClean="0"/>
              <a:t>Academic</a:t>
            </a:r>
            <a:r>
              <a:rPr lang="pt-BR" sz="1800" dirty="0" smtClean="0"/>
              <a:t> Press, 2022, </a:t>
            </a:r>
            <a:r>
              <a:rPr lang="mr-IN" sz="1800" u="sng" dirty="0">
                <a:latin typeface="Calibri" charset="0"/>
                <a:ea typeface="Calibri" charset="0"/>
                <a:cs typeface="Calibri" charset="0"/>
                <a:hlinkClick r:id="rId3"/>
              </a:rPr>
              <a:t>https://doi.org/10.1016/B978-0-32-385787-1.00013-0</a:t>
            </a:r>
            <a:r>
              <a:rPr lang="pt-BR" sz="1800" dirty="0" smtClean="0">
                <a:latin typeface="Calibri" charset="0"/>
                <a:ea typeface="Calibri" charset="0"/>
                <a:cs typeface="Calibri" charset="0"/>
                <a:hlinkClick r:id="rId3"/>
              </a:rPr>
              <a:t>.</a:t>
            </a:r>
            <a:endParaRPr lang="pt-BR" sz="1800" dirty="0" smtClean="0">
              <a:latin typeface="Calibri" charset="0"/>
              <a:ea typeface="Calibri" charset="0"/>
              <a:cs typeface="Calibri" charset="0"/>
            </a:endParaRPr>
          </a:p>
          <a:p>
            <a:pPr marL="0" indent="0">
              <a:buNone/>
            </a:pPr>
            <a:r>
              <a:rPr lang="pt-BR" sz="1800" dirty="0" smtClean="0"/>
              <a:t>[3] J. H. Cho </a:t>
            </a:r>
            <a:r>
              <a:rPr lang="pt-BR" sz="1800" dirty="0" err="1" smtClean="0"/>
              <a:t>and</a:t>
            </a:r>
            <a:r>
              <a:rPr lang="pt-BR" sz="1800" dirty="0" smtClean="0"/>
              <a:t> B. </a:t>
            </a:r>
            <a:r>
              <a:rPr lang="pt-BR" sz="1800" dirty="0" err="1" smtClean="0"/>
              <a:t>Hariharan</a:t>
            </a:r>
            <a:r>
              <a:rPr lang="pt-BR" sz="1800" dirty="0" smtClean="0"/>
              <a:t>. </a:t>
            </a:r>
            <a:r>
              <a:rPr lang="pt-BR" sz="1800" dirty="0" err="1"/>
              <a:t>On</a:t>
            </a:r>
            <a:r>
              <a:rPr lang="pt-BR" sz="1800" dirty="0"/>
              <a:t> </a:t>
            </a:r>
            <a:r>
              <a:rPr lang="pt-BR" sz="1800" dirty="0" err="1"/>
              <a:t>the</a:t>
            </a:r>
            <a:r>
              <a:rPr lang="pt-BR" sz="1800" dirty="0"/>
              <a:t> </a:t>
            </a:r>
            <a:r>
              <a:rPr lang="pt-BR" sz="1800" dirty="0" err="1"/>
              <a:t>Efficacy</a:t>
            </a:r>
            <a:r>
              <a:rPr lang="pt-BR" sz="1800" dirty="0"/>
              <a:t> </a:t>
            </a:r>
            <a:r>
              <a:rPr lang="pt-BR" sz="1800" dirty="0" err="1"/>
              <a:t>of</a:t>
            </a:r>
            <a:r>
              <a:rPr lang="pt-BR" sz="1800" dirty="0"/>
              <a:t> </a:t>
            </a:r>
            <a:r>
              <a:rPr lang="pt-BR" sz="1800" dirty="0" err="1"/>
              <a:t>Knowledge</a:t>
            </a:r>
            <a:r>
              <a:rPr lang="pt-BR" sz="1800" dirty="0"/>
              <a:t> </a:t>
            </a:r>
            <a:r>
              <a:rPr lang="pt-BR" sz="1800" dirty="0" err="1"/>
              <a:t>Distillation</a:t>
            </a:r>
            <a:r>
              <a:rPr lang="pt-BR" sz="1800" dirty="0"/>
              <a:t>, </a:t>
            </a:r>
            <a:r>
              <a:rPr lang="pt-BR" sz="1800" dirty="0" err="1">
                <a:latin typeface="Calibri" charset="0"/>
                <a:ea typeface="Calibri" charset="0"/>
                <a:cs typeface="Calibri" charset="0"/>
              </a:rPr>
              <a:t>eprint</a:t>
            </a:r>
            <a:r>
              <a:rPr lang="pt-BR" sz="18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nb-NO" sz="1800" dirty="0" smtClean="0">
                <a:latin typeface="Calibri" charset="0"/>
                <a:ea typeface="Calibri" charset="0"/>
                <a:cs typeface="Calibri" charset="0"/>
              </a:rPr>
              <a:t>1910.01348</a:t>
            </a:r>
            <a:r>
              <a:rPr lang="pt-BR" sz="1800" dirty="0" smtClean="0"/>
              <a:t>, 2019, </a:t>
            </a:r>
            <a:r>
              <a:rPr lang="mr-IN" sz="1800" u="sng" dirty="0">
                <a:latin typeface="Calibri" charset="0"/>
                <a:ea typeface="Calibri" charset="0"/>
                <a:cs typeface="Calibri" charset="0"/>
                <a:hlinkClick r:id="rId4"/>
              </a:rPr>
              <a:t>https://doi.org/10.48550/arXiv.1910.01348</a:t>
            </a:r>
            <a:r>
              <a:rPr lang="pt-BR" sz="1800" dirty="0" smtClean="0">
                <a:latin typeface="Calibri" charset="0"/>
                <a:ea typeface="Calibri" charset="0"/>
                <a:cs typeface="Calibri" charset="0"/>
                <a:hlinkClick r:id="rId4"/>
              </a:rPr>
              <a:t>.</a:t>
            </a:r>
            <a:endParaRPr lang="pt-BR" sz="1800" dirty="0">
              <a:latin typeface="Calibri" charset="0"/>
              <a:ea typeface="Calibri" charset="0"/>
              <a:cs typeface="Calibri" charset="0"/>
            </a:endParaRPr>
          </a:p>
          <a:p>
            <a:pPr marL="0" indent="0">
              <a:buNone/>
            </a:pPr>
            <a:r>
              <a:rPr lang="pt-BR" sz="1800" dirty="0" smtClean="0"/>
              <a:t>[4] </a:t>
            </a:r>
            <a:r>
              <a:rPr lang="pt-BR" sz="1800" dirty="0"/>
              <a:t>J. </a:t>
            </a:r>
            <a:r>
              <a:rPr lang="pt-BR" sz="1800" dirty="0" smtClean="0"/>
              <a:t>Tang, R. </a:t>
            </a:r>
            <a:r>
              <a:rPr lang="pt-BR" sz="1800" dirty="0" err="1" smtClean="0"/>
              <a:t>Shivanna</a:t>
            </a:r>
            <a:r>
              <a:rPr lang="pt-BR" sz="1800" dirty="0" smtClean="0"/>
              <a:t>, </a:t>
            </a:r>
            <a:r>
              <a:rPr lang="pt-BR" sz="1800" dirty="0" err="1" smtClean="0"/>
              <a:t>Z</a:t>
            </a:r>
            <a:r>
              <a:rPr lang="pt-BR" sz="1800" dirty="0" smtClean="0"/>
              <a:t>. </a:t>
            </a:r>
            <a:r>
              <a:rPr lang="pt-BR" sz="1800" dirty="0" err="1" smtClean="0"/>
              <a:t>Zhao</a:t>
            </a:r>
            <a:r>
              <a:rPr lang="pt-BR" sz="1800" dirty="0" smtClean="0"/>
              <a:t>, D. </a:t>
            </a:r>
            <a:r>
              <a:rPr lang="pt-BR" sz="1800" dirty="0" err="1" smtClean="0"/>
              <a:t>Lin</a:t>
            </a:r>
            <a:r>
              <a:rPr lang="pt-BR" sz="1800" dirty="0" smtClean="0"/>
              <a:t>, A. Singh, E. H. Chi </a:t>
            </a:r>
            <a:r>
              <a:rPr lang="pt-BR" sz="1800" dirty="0" err="1" smtClean="0"/>
              <a:t>and</a:t>
            </a:r>
            <a:r>
              <a:rPr lang="pt-BR" sz="1800" dirty="0" smtClean="0"/>
              <a:t> S. </a:t>
            </a:r>
            <a:r>
              <a:rPr lang="pt-BR" sz="1800" dirty="0" err="1" smtClean="0"/>
              <a:t>Jain</a:t>
            </a:r>
            <a:r>
              <a:rPr lang="pt-BR" sz="1800" dirty="0" smtClean="0"/>
              <a:t>. </a:t>
            </a:r>
            <a:r>
              <a:rPr lang="pt-BR" sz="1800" dirty="0" err="1"/>
              <a:t>Understanding</a:t>
            </a:r>
            <a:r>
              <a:rPr lang="pt-BR" sz="1800" dirty="0"/>
              <a:t> </a:t>
            </a:r>
            <a:r>
              <a:rPr lang="pt-BR" sz="1800" dirty="0" err="1"/>
              <a:t>and</a:t>
            </a:r>
            <a:r>
              <a:rPr lang="pt-BR" sz="1800" dirty="0"/>
              <a:t> </a:t>
            </a:r>
            <a:r>
              <a:rPr lang="pt-BR" sz="1800" dirty="0" err="1"/>
              <a:t>Improving</a:t>
            </a:r>
            <a:r>
              <a:rPr lang="pt-BR" sz="1800" dirty="0"/>
              <a:t> </a:t>
            </a:r>
            <a:r>
              <a:rPr lang="pt-BR" sz="1800" dirty="0" err="1"/>
              <a:t>Knowledge</a:t>
            </a:r>
            <a:r>
              <a:rPr lang="pt-BR" sz="1800" dirty="0"/>
              <a:t> </a:t>
            </a:r>
            <a:r>
              <a:rPr lang="pt-BR" sz="1800" dirty="0" err="1"/>
              <a:t>Distillation</a:t>
            </a:r>
            <a:r>
              <a:rPr lang="pt-BR" sz="1800" dirty="0"/>
              <a:t>, </a:t>
            </a:r>
            <a:r>
              <a:rPr lang="pt-BR" sz="1800" dirty="0" err="1">
                <a:latin typeface="Calibri" charset="0"/>
                <a:ea typeface="Calibri" charset="0"/>
                <a:cs typeface="Calibri" charset="0"/>
              </a:rPr>
              <a:t>eprint</a:t>
            </a:r>
            <a:r>
              <a:rPr lang="pt-BR" sz="18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nb-NO" sz="1800" dirty="0" smtClean="0">
                <a:latin typeface="Calibri" charset="0"/>
                <a:ea typeface="Calibri" charset="0"/>
                <a:cs typeface="Calibri" charset="0"/>
              </a:rPr>
              <a:t>2002.03532</a:t>
            </a:r>
            <a:r>
              <a:rPr lang="pt-BR" sz="1800" dirty="0" smtClean="0"/>
              <a:t>, 2021, </a:t>
            </a:r>
            <a:r>
              <a:rPr lang="mr-IN" sz="1800" u="sng" dirty="0">
                <a:latin typeface="Calibri" charset="0"/>
                <a:ea typeface="Calibri" charset="0"/>
                <a:cs typeface="Calibri" charset="0"/>
                <a:hlinkClick r:id="rId5"/>
              </a:rPr>
              <a:t>https://</a:t>
            </a:r>
            <a:r>
              <a:rPr lang="mr-IN" sz="1800" u="sng" dirty="0" smtClean="0">
                <a:latin typeface="Calibri" charset="0"/>
                <a:ea typeface="Calibri" charset="0"/>
                <a:cs typeface="Calibri" charset="0"/>
                <a:hlinkClick r:id="rId5"/>
              </a:rPr>
              <a:t>doi.org/10.48550/arXiv.2002.03532</a:t>
            </a:r>
            <a:endParaRPr lang="pt-BR" sz="1800" u="sng" dirty="0" smtClean="0">
              <a:latin typeface="Calibri" charset="0"/>
              <a:ea typeface="Calibri" charset="0"/>
              <a:cs typeface="Calibri" charset="0"/>
            </a:endParaRPr>
          </a:p>
          <a:p>
            <a:pPr marL="0" indent="0">
              <a:buNone/>
            </a:pPr>
            <a:r>
              <a:rPr lang="pt-BR" sz="1800" dirty="0" smtClean="0"/>
              <a:t>[5] </a:t>
            </a:r>
            <a:r>
              <a:rPr lang="en-US" sz="1800" dirty="0"/>
              <a:t>Gou, J., Yu, B., Maybank, S.J. et al. Knowledge Distillation: A Survey. </a:t>
            </a:r>
            <a:r>
              <a:rPr lang="en-US" sz="1800" dirty="0" err="1"/>
              <a:t>Int</a:t>
            </a:r>
            <a:r>
              <a:rPr lang="en-US" sz="1800" dirty="0"/>
              <a:t> J </a:t>
            </a:r>
            <a:r>
              <a:rPr lang="en-US" sz="1800" dirty="0" err="1"/>
              <a:t>Comput</a:t>
            </a:r>
            <a:r>
              <a:rPr lang="en-US" sz="1800" dirty="0"/>
              <a:t> Vis 129, </a:t>
            </a:r>
            <a:r>
              <a:rPr lang="en-US" sz="1800" dirty="0" smtClean="0"/>
              <a:t>1789–1819, 2021. </a:t>
            </a:r>
            <a:r>
              <a:rPr lang="en-US" sz="1800" dirty="0">
                <a:hlinkClick r:id="rId6"/>
              </a:rPr>
              <a:t>https://</a:t>
            </a:r>
            <a:r>
              <a:rPr lang="en-US" sz="1800" dirty="0" err="1">
                <a:hlinkClick r:id="rId6"/>
              </a:rPr>
              <a:t>doi.org</a:t>
            </a:r>
            <a:r>
              <a:rPr lang="en-US" sz="1800" dirty="0">
                <a:hlinkClick r:id="rId6"/>
              </a:rPr>
              <a:t>/10.1007/s11263-021-01453-z</a:t>
            </a:r>
            <a:endParaRPr lang="pt-BR" sz="18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264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72952" y="365125"/>
            <a:ext cx="3846095" cy="1325563"/>
          </a:xfrm>
        </p:spPr>
        <p:txBody>
          <a:bodyPr/>
          <a:lstStyle/>
          <a:p>
            <a:r>
              <a:rPr lang="pt-BR" dirty="0" smtClean="0"/>
              <a:t>QUESTIONÁRIO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457" y="1840215"/>
            <a:ext cx="3122153" cy="3122153"/>
          </a:xfrm>
        </p:spPr>
      </p:pic>
      <p:sp>
        <p:nvSpPr>
          <p:cNvPr id="5" name="Título 1">
            <a:hlinkClick r:id="rId3"/>
          </p:cNvPr>
          <p:cNvSpPr txBox="1">
            <a:spLocks/>
          </p:cNvSpPr>
          <p:nvPr/>
        </p:nvSpPr>
        <p:spPr>
          <a:xfrm>
            <a:off x="105274" y="4675505"/>
            <a:ext cx="11981449" cy="1085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000" dirty="0">
                <a:hlinkClick r:id="rId3"/>
              </a:rPr>
              <a:t>https://</a:t>
            </a:r>
            <a:r>
              <a:rPr lang="pt-BR" sz="2000" dirty="0" smtClean="0">
                <a:hlinkClick r:id="rId3"/>
              </a:rPr>
              <a:t>docs.google.com/forms/d/e/1FAIpQLSdy75thx6_oe_FtgGiD68gvmlCmo0wno_9L9VvTWsi9Z1LKjg/viewform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3569895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11455</TotalTime>
  <Words>1732</Words>
  <Application>Microsoft Macintosh PowerPoint</Application>
  <PresentationFormat>Widescreen</PresentationFormat>
  <Paragraphs>151</Paragraphs>
  <Slides>29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4" baseType="lpstr">
      <vt:lpstr>Calibri</vt:lpstr>
      <vt:lpstr>Calibri Light</vt:lpstr>
      <vt:lpstr>Mangal</vt:lpstr>
      <vt:lpstr>Arial</vt:lpstr>
      <vt:lpstr>Tema do Office</vt:lpstr>
      <vt:lpstr>TP558 - Tópicos avançados em Machine Learning: Knowledge Distillation</vt:lpstr>
      <vt:lpstr>Abertura</vt:lpstr>
      <vt:lpstr>Apresentação do PowerPoint</vt:lpstr>
      <vt:lpstr>Apresentação do PowerPoint</vt:lpstr>
      <vt:lpstr>Introdução do artigo</vt:lpstr>
      <vt:lpstr>Conceito de Temperatura</vt:lpstr>
      <vt:lpstr>Fundamentação teórica</vt:lpstr>
      <vt:lpstr>Metodologia</vt:lpstr>
      <vt:lpstr>Apresentação do PowerPoint</vt:lpstr>
      <vt:lpstr>Categorias de Conhecimento</vt:lpstr>
      <vt:lpstr>Apresentação do PowerPoint</vt:lpstr>
      <vt:lpstr>Esquemas de Destilação</vt:lpstr>
      <vt:lpstr>Esquemas de Destilação</vt:lpstr>
      <vt:lpstr>Esquemas de Destilação</vt:lpstr>
      <vt:lpstr>Esquemas de Destilação</vt:lpstr>
      <vt:lpstr>Esquemas de Destilação</vt:lpstr>
      <vt:lpstr>Esquemas de Destilação</vt:lpstr>
      <vt:lpstr>Esquemas de Destilação</vt:lpstr>
      <vt:lpstr>Limitações</vt:lpstr>
      <vt:lpstr>Possíveis Soluções</vt:lpstr>
      <vt:lpstr>REPRODUÇÃO DO EXPERIMENTO</vt:lpstr>
      <vt:lpstr>Resultados Treinamento MNIST</vt:lpstr>
      <vt:lpstr>Análise</vt:lpstr>
      <vt:lpstr>Aplicações</vt:lpstr>
      <vt:lpstr>Conclusão</vt:lpstr>
      <vt:lpstr>Apresentação do PowerPoint</vt:lpstr>
      <vt:lpstr>Referências</vt:lpstr>
      <vt:lpstr>Apresentação do PowerPoint</vt:lpstr>
      <vt:lpstr>QUESTIONÁRIO</vt:lpstr>
    </vt:vector>
  </TitlesOfParts>
  <LinksUpToDate>false</LinksUpToDate>
  <SharedDoc>false</SharedDoc>
  <HyperlinksChanged>false</HyperlinksChanged>
  <AppVersion>15.0022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Usuário do Microsoft Office</cp:lastModifiedBy>
  <cp:revision>1782</cp:revision>
  <cp:lastPrinted>2026-08-20T18:44:31Z</cp:lastPrinted>
  <dcterms:created xsi:type="dcterms:W3CDTF">2020-01-20T13:50:05Z</dcterms:created>
  <dcterms:modified xsi:type="dcterms:W3CDTF">2026-08-20T18:45:09Z</dcterms:modified>
</cp:coreProperties>
</file>